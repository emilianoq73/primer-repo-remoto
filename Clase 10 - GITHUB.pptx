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5143500" cx="9144000"/>
  <p:notesSz cx="6858000" cy="9144000"/>
  <p:embeddedFontLst>
    <p:embeddedFont>
      <p:font typeface="Anton"/>
      <p:regular r:id="rId43"/>
    </p:embeddedFont>
    <p:embeddedFont>
      <p:font typeface="Lato"/>
      <p:regular r:id="rId44"/>
      <p:bold r:id="rId45"/>
      <p:italic r:id="rId46"/>
      <p:boldItalic r:id="rId47"/>
    </p:embeddedFont>
    <p:embeddedFont>
      <p:font typeface="Didact Gothic"/>
      <p:regular r:id="rId48"/>
    </p:embeddedFont>
    <p:embeddedFont>
      <p:font typeface="Helvetica Neue"/>
      <p:regular r:id="rId49"/>
      <p:bold r:id="rId50"/>
      <p:italic r:id="rId51"/>
      <p:boldItalic r:id="rId52"/>
    </p:embeddedFont>
    <p:embeddedFont>
      <p:font typeface="Helvetica Neue Light"/>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110794-E18D-4F66-86E7-9A5FDD242C30}">
  <a:tblStyle styleId="{D0110794-E18D-4F66-86E7-9A5FDD242C30}" styleName="Table_0">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AD082025-4441-454E-ACCF-624210E57E0B}"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font" Target="fonts/Lato-regular.fntdata"/><Relationship Id="rId43" Type="http://schemas.openxmlformats.org/officeDocument/2006/relationships/font" Target="fonts/Anton-regular.fntdata"/><Relationship Id="rId46" Type="http://schemas.openxmlformats.org/officeDocument/2006/relationships/font" Target="fonts/Lato-italic.fntdata"/><Relationship Id="rId45" Type="http://schemas.openxmlformats.org/officeDocument/2006/relationships/font" Target="fonts/La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DidactGothic-regular.fntdata"/><Relationship Id="rId47" Type="http://schemas.openxmlformats.org/officeDocument/2006/relationships/font" Target="fonts/Lato-boldItalic.fntdata"/><Relationship Id="rId49" Type="http://schemas.openxmlformats.org/officeDocument/2006/relationships/font" Target="fonts/HelveticaNeue-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HelveticaNeue-italic.fntdata"/><Relationship Id="rId50" Type="http://schemas.openxmlformats.org/officeDocument/2006/relationships/font" Target="fonts/HelveticaNeue-bold.fntdata"/><Relationship Id="rId53" Type="http://schemas.openxmlformats.org/officeDocument/2006/relationships/font" Target="fonts/HelveticaNeueLight-regular.fntdata"/><Relationship Id="rId52" Type="http://schemas.openxmlformats.org/officeDocument/2006/relationships/font" Target="fonts/HelveticaNeue-boldItalic.fntdata"/><Relationship Id="rId11" Type="http://schemas.openxmlformats.org/officeDocument/2006/relationships/slide" Target="slides/slide5.xml"/><Relationship Id="rId55" Type="http://schemas.openxmlformats.org/officeDocument/2006/relationships/font" Target="fonts/HelveticaNeueLight-italic.fntdata"/><Relationship Id="rId10" Type="http://schemas.openxmlformats.org/officeDocument/2006/relationships/slide" Target="slides/slide4.xml"/><Relationship Id="rId54" Type="http://schemas.openxmlformats.org/officeDocument/2006/relationships/font" Target="fonts/HelveticaNeueLight-bold.fntdata"/><Relationship Id="rId13" Type="http://schemas.openxmlformats.org/officeDocument/2006/relationships/slide" Target="slides/slide7.xml"/><Relationship Id="rId12" Type="http://schemas.openxmlformats.org/officeDocument/2006/relationships/slide" Target="slides/slide6.xml"/><Relationship Id="rId56" Type="http://schemas.openxmlformats.org/officeDocument/2006/relationships/font" Target="fonts/HelveticaNeueLight-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mailto:contenidos@coderhouse.com"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f4d51016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gf4d51016b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Colocar todas las clases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f4d51016b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gf4d51016ba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solidFill>
                  <a:schemeClr val="dk1"/>
                </a:solidFill>
              </a:rPr>
              <a:t>Obligatoria siempre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f4d51016b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gf4d51016ba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Obligatoria siempre. Es lo que queremos alcanzar una vez finalizada la clase. Recordá que se enuncian en principio con el verbo delante (por ejemplo: “Comprender…”, “Analizar…”, “conocer…”, etc).</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f4d51016b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f4d51016ba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f4d51016b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gf4d51016ba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f4d51016ba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gf4d51016ba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f4d51016ba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gf4d51016ba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f4d51016ba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f4d51016ba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
              <a:t>Recurso: Cronograma del curso</a:t>
            </a:r>
            <a:br>
              <a:rPr lang="es"/>
            </a:br>
            <a:r>
              <a:rPr lang="es"/>
              <a:t>- Se muestra al</a:t>
            </a:r>
            <a:r>
              <a:rPr b="1" lang="es"/>
              <a:t> inicio</a:t>
            </a:r>
            <a:r>
              <a:rPr lang="es"/>
              <a:t> de cada clase </a:t>
            </a:r>
            <a:endParaRPr/>
          </a:p>
          <a:p>
            <a:pPr indent="0" lvl="0" marL="0" rtl="0" algn="l">
              <a:lnSpc>
                <a:spcPct val="100000"/>
              </a:lnSpc>
              <a:spcBef>
                <a:spcPts val="0"/>
              </a:spcBef>
              <a:spcAft>
                <a:spcPts val="0"/>
              </a:spcAft>
              <a:buSzPts val="1100"/>
              <a:buNone/>
            </a:pPr>
            <a:r>
              <a:rPr lang="es"/>
              <a:t>- Tiene un aspecto similar a un </a:t>
            </a:r>
            <a:r>
              <a:rPr b="1" lang="es"/>
              <a:t>calendario.</a:t>
            </a:r>
            <a:br>
              <a:rPr lang="es"/>
            </a:br>
            <a:r>
              <a:rPr lang="es"/>
              <a:t>- Resume rápidamente: título de la clase, número y contenidos que abarca</a:t>
            </a:r>
            <a:endParaRPr/>
          </a:p>
          <a:p>
            <a:pPr indent="0" lvl="0" marL="0" rtl="0" algn="l">
              <a:lnSpc>
                <a:spcPct val="100000"/>
              </a:lnSpc>
              <a:spcBef>
                <a:spcPts val="0"/>
              </a:spcBef>
              <a:spcAft>
                <a:spcPts val="0"/>
              </a:spcAft>
              <a:buSzPts val="1100"/>
              <a:buNone/>
            </a:pPr>
            <a:r>
              <a:rPr lang="es"/>
              <a:t>- Guía rápida tanto para docentes, como para estudiantes.</a:t>
            </a:r>
            <a:br>
              <a:rPr lang="es"/>
            </a:br>
            <a:r>
              <a:rPr lang="es"/>
              <a:t>- Para mayor ubicación en el curso, también muestra en un tamaño más pequeño lo sucedido la clase anterior y la siguiente.</a:t>
            </a:r>
            <a:endParaRPr/>
          </a:p>
          <a:p>
            <a:pPr indent="0" lvl="0" marL="0" rtl="0" algn="l">
              <a:lnSpc>
                <a:spcPct val="100000"/>
              </a:lnSpc>
              <a:spcBef>
                <a:spcPts val="0"/>
              </a:spcBef>
              <a:spcAft>
                <a:spcPts val="0"/>
              </a:spcAft>
              <a:buClr>
                <a:schemeClr val="dk1"/>
              </a:buClr>
              <a:buSzPts val="1100"/>
              <a:buFont typeface="Arial"/>
              <a:buNone/>
            </a:pPr>
            <a:r>
              <a:rPr lang="es">
                <a:solidFill>
                  <a:schemeClr val="dk1"/>
                </a:solidFill>
              </a:rPr>
              <a:t>-Ubicar en el interior de cada clase aquellas cuestiones destacadas con las cuales se encontrará el alumno y con su respectivo nombre:</a:t>
            </a:r>
            <a:r>
              <a:rPr b="1" lang="es">
                <a:solidFill>
                  <a:schemeClr val="dk1"/>
                </a:solidFill>
              </a:rPr>
              <a:t> desafíos, entregables de proyecto, actividades colaborativas o  ejemplos en vivo.</a:t>
            </a:r>
            <a:endParaRPr b="1"/>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f4d51016ba_0_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gf4d51016ba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sz="14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f4d51016ba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f4d51016ba_0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solidFill>
                  <a:schemeClr val="dk1"/>
                </a:solidFill>
              </a:rPr>
              <a:t>Usar para los módulos más importantes de la clase, donde se introducen conceptos que se ven en varios slides. No hay que usarla para todos los módulos.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f4d51016ba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f4d51016ba_0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s" sz="1200">
                <a:solidFill>
                  <a:schemeClr val="dk1"/>
                </a:solidFill>
                <a:latin typeface="Didact Gothic"/>
                <a:ea typeface="Didact Gothic"/>
                <a:cs typeface="Didact Gothic"/>
                <a:sym typeface="Didact Gothic"/>
              </a:rPr>
              <a:t>Por ahora, todo lo que venía ocurriendo en Git era de manera local, no necesitábamos nada de internet para guardar nuestros commits y nuestro repositorio.  Ahora </a:t>
            </a:r>
            <a:r>
              <a:rPr b="1" lang="es" sz="1200">
                <a:solidFill>
                  <a:schemeClr val="dk1"/>
                </a:solidFill>
                <a:latin typeface="Didact Gothic"/>
                <a:ea typeface="Didact Gothic"/>
                <a:cs typeface="Didact Gothic"/>
                <a:sym typeface="Didact Gothic"/>
              </a:rPr>
              <a:t>queremos compartir nuestro trabajo con otros</a:t>
            </a:r>
            <a:r>
              <a:rPr lang="es" sz="1200">
                <a:solidFill>
                  <a:schemeClr val="dk1"/>
                </a:solidFill>
                <a:latin typeface="Didact Gothic"/>
                <a:ea typeface="Didact Gothic"/>
                <a:cs typeface="Didact Gothic"/>
                <a:sym typeface="Didact Gothic"/>
              </a:rPr>
              <a:t> (compañeros de proyecto, clientes, etc). Para eso utilizamos Github!</a:t>
            </a:r>
            <a:br>
              <a:rPr lang="es" sz="1200">
                <a:solidFill>
                  <a:schemeClr val="dk1"/>
                </a:solidFill>
                <a:latin typeface="Didact Gothic"/>
                <a:ea typeface="Didact Gothic"/>
                <a:cs typeface="Didact Gothic"/>
                <a:sym typeface="Didact Gothic"/>
              </a:rPr>
            </a:br>
            <a:endParaRPr sz="1200">
              <a:solidFill>
                <a:schemeClr val="dk1"/>
              </a:solidFill>
              <a:latin typeface="Didact Gothic"/>
              <a:ea typeface="Didact Gothic"/>
              <a:cs typeface="Didact Gothic"/>
              <a:sym typeface="Didact Gothic"/>
            </a:endParaRPr>
          </a:p>
          <a:p>
            <a:pPr indent="0" lvl="0" marL="0" rtl="0" algn="just">
              <a:lnSpc>
                <a:spcPct val="115000"/>
              </a:lnSpc>
              <a:spcBef>
                <a:spcPts val="0"/>
              </a:spcBef>
              <a:spcAft>
                <a:spcPts val="0"/>
              </a:spcAft>
              <a:buClr>
                <a:schemeClr val="dk1"/>
              </a:buClr>
              <a:buSzPts val="1100"/>
              <a:buFont typeface="Arial"/>
              <a:buNone/>
            </a:pPr>
            <a:r>
              <a:rPr lang="es" sz="1200" u="sng">
                <a:solidFill>
                  <a:srgbClr val="1155CC"/>
                </a:solidFill>
                <a:latin typeface="Didact Gothic"/>
                <a:ea typeface="Didact Gothic"/>
                <a:cs typeface="Didact Gothic"/>
                <a:sym typeface="Didact Gothic"/>
                <a:hlinkClick r:id="rId2">
                  <a:extLst>
                    <a:ext uri="{A12FA001-AC4F-418D-AE19-62706E023703}">
                      <ahyp:hlinkClr val="tx"/>
                    </a:ext>
                  </a:extLst>
                </a:hlinkClick>
              </a:rPr>
              <a:t>https://github.com/</a:t>
            </a:r>
            <a:endParaRPr sz="1200">
              <a:solidFill>
                <a:schemeClr val="dk1"/>
              </a:solidFill>
              <a:latin typeface="Didact Gothic"/>
              <a:ea typeface="Didact Gothic"/>
              <a:cs typeface="Didact Gothic"/>
              <a:sym typeface="Didact Gothic"/>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Didact Gothic"/>
              <a:ea typeface="Didact Gothic"/>
              <a:cs typeface="Didact Gothic"/>
              <a:sym typeface="Didact Gothic"/>
            </a:endParaRPr>
          </a:p>
          <a:p>
            <a:pPr indent="0" lvl="0" marL="0" rtl="0" algn="just">
              <a:lnSpc>
                <a:spcPct val="115000"/>
              </a:lnSpc>
              <a:spcBef>
                <a:spcPts val="0"/>
              </a:spcBef>
              <a:spcAft>
                <a:spcPts val="0"/>
              </a:spcAft>
              <a:buClr>
                <a:schemeClr val="dk1"/>
              </a:buClr>
              <a:buSzPts val="1100"/>
              <a:buFont typeface="Arial"/>
              <a:buNone/>
            </a:pPr>
            <a:r>
              <a:rPr i="1" lang="es" sz="1200">
                <a:solidFill>
                  <a:schemeClr val="dk1"/>
                </a:solidFill>
                <a:latin typeface="Didact Gothic"/>
                <a:ea typeface="Didact Gothic"/>
                <a:cs typeface="Didact Gothic"/>
                <a:sym typeface="Didact Gothic"/>
              </a:rPr>
              <a:t>“GitHub is a development platform inspired by the way you work. From open source to business, you can host and review code, manage projects, and build software alongside millions of other developers.”</a:t>
            </a:r>
            <a:endParaRPr i="1" sz="1200">
              <a:solidFill>
                <a:schemeClr val="dk1"/>
              </a:solidFill>
              <a:latin typeface="Didact Gothic"/>
              <a:ea typeface="Didact Gothic"/>
              <a:cs typeface="Didact Gothic"/>
              <a:sym typeface="Didact Gothic"/>
            </a:endParaRPr>
          </a:p>
          <a:p>
            <a:pPr indent="0" lvl="0" marL="0" rtl="0" algn="just">
              <a:lnSpc>
                <a:spcPct val="115000"/>
              </a:lnSpc>
              <a:spcBef>
                <a:spcPts val="0"/>
              </a:spcBef>
              <a:spcAft>
                <a:spcPts val="0"/>
              </a:spcAft>
              <a:buClr>
                <a:schemeClr val="dk1"/>
              </a:buClr>
              <a:buSzPts val="1100"/>
              <a:buFont typeface="Arial"/>
              <a:buNone/>
            </a:pPr>
            <a:r>
              <a:t/>
            </a:r>
            <a:endParaRPr i="1" sz="1200">
              <a:solidFill>
                <a:schemeClr val="dk1"/>
              </a:solidFill>
              <a:latin typeface="Didact Gothic"/>
              <a:ea typeface="Didact Gothic"/>
              <a:cs typeface="Didact Gothic"/>
              <a:sym typeface="Didact Gothic"/>
            </a:endParaRPr>
          </a:p>
          <a:p>
            <a:pPr indent="0" lvl="0" marL="0" rtl="0" algn="just">
              <a:lnSpc>
                <a:spcPct val="115000"/>
              </a:lnSpc>
              <a:spcBef>
                <a:spcPts val="0"/>
              </a:spcBef>
              <a:spcAft>
                <a:spcPts val="0"/>
              </a:spcAft>
              <a:buClr>
                <a:schemeClr val="dk1"/>
              </a:buClr>
              <a:buSzPts val="1100"/>
              <a:buFont typeface="Arial"/>
              <a:buNone/>
            </a:pPr>
            <a:r>
              <a:rPr b="1" lang="es" sz="1200">
                <a:solidFill>
                  <a:schemeClr val="dk1"/>
                </a:solidFill>
                <a:latin typeface="Didact Gothic"/>
                <a:ea typeface="Didact Gothic"/>
                <a:cs typeface="Didact Gothic"/>
                <a:sym typeface="Didact Gothic"/>
              </a:rPr>
              <a:t>GitHub es una forja (plataforma de desarrollo colaborativo) para alojar proyectos utilizando el sistema de control de versiones Git</a:t>
            </a:r>
            <a:r>
              <a:rPr lang="es" sz="1200">
                <a:solidFill>
                  <a:schemeClr val="dk1"/>
                </a:solidFill>
                <a:latin typeface="Didact Gothic"/>
                <a:ea typeface="Didact Gothic"/>
                <a:cs typeface="Didact Gothic"/>
                <a:sym typeface="Didact Gothic"/>
              </a:rPr>
              <a:t>. Utiliza el framework Ruby on Rails por GitHub, Inc. (anteriormente conocida como Logical Awesome). Desde enero de 2010, GitHub opera bajo el nombre de GitHub, Inc. El código de los proyectos alojados en GitHub se almacena típicamente de forma pública, aunque utilizando una cuenta de pago, también permite hospedar repositorios privados.</a:t>
            </a:r>
            <a:endParaRPr sz="1200">
              <a:solidFill>
                <a:schemeClr val="dk1"/>
              </a:solidFill>
              <a:latin typeface="Didact Gothic"/>
              <a:ea typeface="Didact Gothic"/>
              <a:cs typeface="Didact Gothic"/>
              <a:sym typeface="Didact Gothic"/>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Didact Gothic"/>
              <a:ea typeface="Didact Gothic"/>
              <a:cs typeface="Didact Gothic"/>
              <a:sym typeface="Didact Gothic"/>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Didact Gothic"/>
              <a:ea typeface="Didact Gothic"/>
              <a:cs typeface="Didact Gothic"/>
              <a:sym typeface="Didact Gothic"/>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Didact Gothic"/>
              <a:ea typeface="Didact Gothic"/>
              <a:cs typeface="Didact Gothic"/>
              <a:sym typeface="Didact Gothic"/>
            </a:endParaRPr>
          </a:p>
          <a:p>
            <a:pPr indent="0" lvl="0" marL="0" rtl="0" algn="just">
              <a:lnSpc>
                <a:spcPct val="115000"/>
              </a:lnSpc>
              <a:spcBef>
                <a:spcPts val="0"/>
              </a:spcBef>
              <a:spcAft>
                <a:spcPts val="0"/>
              </a:spcAft>
              <a:buSzPts val="1100"/>
              <a:buNone/>
            </a:pPr>
            <a:r>
              <a:t/>
            </a: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f4d51016ba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f4d51016ba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100"/>
              <a:buNone/>
            </a:pPr>
            <a:r>
              <a:t/>
            </a: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f4d51016ba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f4d51016ba_0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100"/>
              <a:buNone/>
            </a:pPr>
            <a:r>
              <a:t/>
            </a: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f4d51016ba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gf4d51016ba_0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100"/>
              <a:buNone/>
            </a:pPr>
            <a:r>
              <a:t/>
            </a: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f4d51016ba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gf4d51016ba_0_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100"/>
              <a:buNone/>
            </a:pPr>
            <a:r>
              <a:t/>
            </a: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f4d51016ba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gf4d51016ba_0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100"/>
              <a:buNone/>
            </a:pPr>
            <a:r>
              <a:t/>
            </a: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f4d51016ba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gf4d51016ba_0_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100"/>
              <a:buNone/>
            </a:pPr>
            <a:r>
              <a:t/>
            </a: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f4d51016ba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gf4d51016ba_0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100"/>
              <a:buNone/>
            </a:pPr>
            <a:r>
              <a:t/>
            </a: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f4d51016ba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gf4d51016ba_0_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100"/>
              <a:buNone/>
            </a:pPr>
            <a:r>
              <a:t/>
            </a: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f4d51016ba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gf4d51016ba_0_1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100"/>
              <a:buNone/>
            </a:pPr>
            <a:r>
              <a:t/>
            </a: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f4d51016ba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gf4d51016ba_0_1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100"/>
              <a:buNone/>
            </a:pPr>
            <a:r>
              <a:t/>
            </a: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f4d51016ba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f4d51016ba_0_1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200">
              <a:solidFill>
                <a:srgbClr val="24292E"/>
              </a:solidFill>
              <a:latin typeface="Didact Gothic"/>
              <a:ea typeface="Didact Gothic"/>
              <a:cs typeface="Didact Gothic"/>
              <a:sym typeface="Didact Gothic"/>
            </a:endParaRPr>
          </a:p>
          <a:p>
            <a:pPr indent="0" lvl="0" marL="0" rtl="0" algn="l">
              <a:spcBef>
                <a:spcPts val="0"/>
              </a:spcBef>
              <a:spcAft>
                <a:spcPts val="0"/>
              </a:spcAft>
              <a:buClr>
                <a:schemeClr val="dk1"/>
              </a:buClr>
              <a:buSzPts val="1100"/>
              <a:buFont typeface="Arial"/>
              <a:buNone/>
            </a:pPr>
            <a:r>
              <a:rPr lang="es">
                <a:solidFill>
                  <a:schemeClr val="dk1"/>
                </a:solidFill>
              </a:rPr>
              <a:t>De ser necesario, sugerimos mostrarlo directamente en el editor de texto así los/as estudiantes ven cómo se va escribiendo el código.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rgbClr val="24292E"/>
              </a:solidFill>
              <a:latin typeface="Didact Gothic"/>
              <a:ea typeface="Didact Gothic"/>
              <a:cs typeface="Didact Gothic"/>
              <a:sym typeface="Didact Gothic"/>
            </a:endParaRPr>
          </a:p>
          <a:p>
            <a:pPr indent="0" lvl="0" marL="0" rtl="0" algn="just">
              <a:lnSpc>
                <a:spcPct val="115000"/>
              </a:lnSpc>
              <a:spcBef>
                <a:spcPts val="0"/>
              </a:spcBef>
              <a:spcAft>
                <a:spcPts val="0"/>
              </a:spcAft>
              <a:buSzPts val="1100"/>
              <a:buNone/>
            </a:pPr>
            <a:r>
              <a:t/>
            </a: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f4d51016ba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gf4d51016ba_0_1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100"/>
              <a:buNone/>
            </a:pPr>
            <a:r>
              <a:t/>
            </a: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f4d51016ba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gf4d51016ba_0_2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100"/>
              <a:buNone/>
            </a:pPr>
            <a:r>
              <a:t/>
            </a: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f4d51016ba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f4d51016ba_0_2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100"/>
              <a:buNone/>
            </a:pPr>
            <a:r>
              <a:t/>
            </a: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f4d51016ba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gf4d51016ba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100"/>
              <a:buNone/>
            </a:pPr>
            <a:r>
              <a:t/>
            </a: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f4d51016ba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gf4d51016ba_0_2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100"/>
              <a:buNone/>
            </a:pPr>
            <a:r>
              <a:t/>
            </a: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f4d51016ba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gf4d51016ba_0_2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100"/>
              <a:buNone/>
            </a:pPr>
            <a:r>
              <a:t/>
            </a:r>
            <a:endParaRPr sz="1200">
              <a:solidFill>
                <a:schemeClr val="dk1"/>
              </a:solidFill>
              <a:latin typeface="Didact Gothic"/>
              <a:ea typeface="Didact Gothic"/>
              <a:cs typeface="Didact Gothic"/>
              <a:sym typeface="Didact Gothic"/>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f4d51016ba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gf4d51016ba_0_2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rPr>
              <a:t>Momento de consolidación de aprendizajes: GitHub</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f4d51016ba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gf4d51016ba_0_2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solidFill>
                  <a:schemeClr val="dk1"/>
                </a:solidFill>
              </a:rPr>
              <a:t>Usar para desafíos entregables. Editar el número con el número de desafío correspondiente..</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f4d51016ba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gf4d51016ba_0_2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sz="1200">
                <a:solidFill>
                  <a:schemeClr val="dk1"/>
                </a:solidFill>
                <a:highlight>
                  <a:schemeClr val="lt1"/>
                </a:highlight>
                <a:latin typeface="Helvetica Neue Light"/>
                <a:ea typeface="Helvetica Neue Light"/>
                <a:cs typeface="Helvetica Neue Light"/>
                <a:sym typeface="Helvetica Neue Light"/>
              </a:rPr>
              <a:t>Desarrollo de un desafío entregable </a:t>
            </a:r>
            <a:endParaRPr sz="1200">
              <a:solidFill>
                <a:schemeClr val="dk1"/>
              </a:solidFill>
              <a:highlight>
                <a:schemeClr val="lt1"/>
              </a:highlight>
              <a:latin typeface="Helvetica Neue Light"/>
              <a:ea typeface="Helvetica Neue Light"/>
              <a:cs typeface="Helvetica Neue Light"/>
              <a:sym typeface="Helvetica Neue Light"/>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f4d51016ba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gf4d51016ba_0_2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solidFill>
                  <a:schemeClr val="dk1"/>
                </a:solidFill>
              </a:rPr>
              <a:t>Portada de Material Ampliado</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f4d51016ba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gf4d51016ba_0_2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solidFill>
                  <a:schemeClr val="dk1"/>
                </a:solidFill>
              </a:rPr>
              <a:t>Usar para que los estudiantes puedan explorar en sus casas los recursos vistos en clase: libros, artículos, herramientas, websites, videos (ajenos a Coder)</a:t>
            </a:r>
            <a:endParaRPr>
              <a:solidFill>
                <a:schemeClr val="dk1"/>
              </a:solidFill>
            </a:endParaRPr>
          </a:p>
          <a:p>
            <a:pPr indent="0" lvl="0" marL="0" rtl="0" algn="l">
              <a:lnSpc>
                <a:spcPct val="100000"/>
              </a:lnSpc>
              <a:spcBef>
                <a:spcPts val="0"/>
              </a:spcBef>
              <a:spcAft>
                <a:spcPts val="0"/>
              </a:spcAft>
              <a:buSzPts val="1100"/>
              <a:buNone/>
            </a:pPr>
            <a:r>
              <a:rPr lang="es">
                <a:solidFill>
                  <a:schemeClr val="dk1"/>
                </a:solidFill>
              </a:rPr>
              <a:t>Enviar el contenido a integrar a </a:t>
            </a:r>
            <a:r>
              <a:rPr lang="es" u="sng">
                <a:solidFill>
                  <a:schemeClr val="hlink"/>
                </a:solidFill>
                <a:hlinkClick r:id="rId2"/>
              </a:rPr>
              <a:t>contenidos@coderhouse.com</a:t>
            </a:r>
            <a:r>
              <a:rPr lang="es">
                <a:solidFill>
                  <a:schemeClr val="dk1"/>
                </a:solidFill>
              </a:rPr>
              <a:t> para que lo podamos incluir en el Repositorio.</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f4d51016ba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gf4d51016ba_0_2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rPr>
              <a:t>Obligatoria. Se sugiere ubicar al finalizar la explicación de algún tema, para abrir formalmente el espacio de preguntas y ordenar la interacción.</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f4d51016ba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gf4d51016ba_0_2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rPr>
              <a:t>Obligatoria siempre. En caso de cerrar con el “mapa de conceptos” se puede dejar solo “muchas gracias”. Completar el resumen con palabras claves de lo visto.</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f4d51016ba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1" name="Google Shape;381;gf4d51016ba_0_2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a:solidFill>
                  <a:schemeClr val="dk1"/>
                </a:solidFill>
              </a:rPr>
              <a:t>Obligatoria siempre.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docs.google.com/document/d/1e0sVLDwvd6uY1xTuQbdl7D1LAOI2PqZKSy-DKv-mCPM/edit?usp=sharing" TargetMode="External"/><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9.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jp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hyperlink" Target="https://github.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21.png"/><Relationship Id="rId5" Type="http://schemas.openxmlformats.org/officeDocument/2006/relationships/hyperlink" Target="https://github.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3.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8.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3.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3.png"/><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8.pn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3.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5.png"/><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5.png"/><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github.com/camilasperanza88/mi_repositorio" TargetMode="External"/><Relationship Id="rId4" Type="http://schemas.openxmlformats.org/officeDocument/2006/relationships/image" Target="../media/image5.png"/><Relationship Id="rId5"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7.png"/><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teloexplicocongatitos.com/poster?id=tlecg04" TargetMode="External"/><Relationship Id="rId4" Type="http://schemas.openxmlformats.org/officeDocument/2006/relationships/hyperlink" Target="https://pages.github.com" TargetMode="External"/><Relationship Id="rId5" Type="http://schemas.openxmlformats.org/officeDocument/2006/relationships/image" Target="../media/image37.png"/><Relationship Id="rId6" Type="http://schemas.openxmlformats.org/officeDocument/2006/relationships/image" Target="../media/image33.png"/><Relationship Id="rId7"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9.png"/><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9.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F89D2"/>
            </a:gs>
            <a:gs pos="100000">
              <a:srgbClr val="E0FF00"/>
            </a:gs>
          </a:gsLst>
          <a:lin ang="10800025" scaled="0"/>
        </a:gradFill>
      </p:bgPr>
    </p:bg>
    <p:spTree>
      <p:nvGrpSpPr>
        <p:cNvPr id="53" name="Shape 53"/>
        <p:cNvGrpSpPr/>
        <p:nvPr/>
      </p:nvGrpSpPr>
      <p:grpSpPr>
        <a:xfrm>
          <a:off x="0" y="0"/>
          <a:ext cx="0" cy="0"/>
          <a:chOff x="0" y="0"/>
          <a:chExt cx="0" cy="0"/>
        </a:xfrm>
      </p:grpSpPr>
      <p:sp>
        <p:nvSpPr>
          <p:cNvPr id="54" name="Google Shape;54;p13"/>
          <p:cNvSpPr txBox="1"/>
          <p:nvPr/>
        </p:nvSpPr>
        <p:spPr>
          <a:xfrm>
            <a:off x="1398000" y="2077200"/>
            <a:ext cx="6348000" cy="989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0" i="1" lang="es" sz="3600" u="none" cap="none" strike="noStrike">
                <a:solidFill>
                  <a:srgbClr val="121212"/>
                </a:solidFill>
                <a:latin typeface="Anton"/>
                <a:ea typeface="Anton"/>
                <a:cs typeface="Anton"/>
                <a:sym typeface="Anton"/>
              </a:rPr>
              <a:t>RECUERDA PONER A GRABAR LA CLASE</a:t>
            </a:r>
            <a:endParaRPr b="0" i="1" sz="3600" u="none" cap="none" strike="noStrike">
              <a:solidFill>
                <a:srgbClr val="121212"/>
              </a:solidFill>
              <a:latin typeface="Anton"/>
              <a:ea typeface="Anton"/>
              <a:cs typeface="Anton"/>
              <a:sym typeface="Anton"/>
            </a:endParaRPr>
          </a:p>
        </p:txBody>
      </p:sp>
      <p:pic>
        <p:nvPicPr>
          <p:cNvPr id="55" name="Google Shape;55;p13"/>
          <p:cNvPicPr preferRelativeResize="0"/>
          <p:nvPr/>
        </p:nvPicPr>
        <p:blipFill rotWithShape="1">
          <a:blip r:embed="rId3">
            <a:alphaModFix/>
          </a:blip>
          <a:srcRect b="0" l="0" r="0" t="0"/>
          <a:stretch/>
        </p:blipFill>
        <p:spPr>
          <a:xfrm>
            <a:off x="4125950" y="3210488"/>
            <a:ext cx="892100" cy="743425"/>
          </a:xfrm>
          <a:prstGeom prst="rect">
            <a:avLst/>
          </a:prstGeom>
          <a:noFill/>
          <a:ln>
            <a:noFill/>
          </a:ln>
        </p:spPr>
      </p:pic>
      <p:pic>
        <p:nvPicPr>
          <p:cNvPr id="56" name="Google Shape;56;p13"/>
          <p:cNvPicPr preferRelativeResize="0"/>
          <p:nvPr/>
        </p:nvPicPr>
        <p:blipFill rotWithShape="1">
          <a:blip r:embed="rId4">
            <a:alphaModFix/>
          </a:blip>
          <a:srcRect b="0" l="0" r="0" t="0"/>
          <a:stretch/>
        </p:blipFill>
        <p:spPr>
          <a:xfrm>
            <a:off x="7567925" y="4659625"/>
            <a:ext cx="1186526" cy="330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 name="Shape 60"/>
        <p:cNvGrpSpPr/>
        <p:nvPr/>
      </p:nvGrpSpPr>
      <p:grpSpPr>
        <a:xfrm>
          <a:off x="0" y="0"/>
          <a:ext cx="0" cy="0"/>
          <a:chOff x="0" y="0"/>
          <a:chExt cx="0" cy="0"/>
        </a:xfrm>
      </p:grpSpPr>
      <p:sp>
        <p:nvSpPr>
          <p:cNvPr id="61" name="Google Shape;61;p14"/>
          <p:cNvSpPr txBox="1"/>
          <p:nvPr/>
        </p:nvSpPr>
        <p:spPr>
          <a:xfrm>
            <a:off x="2022750" y="2009038"/>
            <a:ext cx="5035500" cy="63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0" i="1" lang="es" sz="3600" u="none" cap="none" strike="noStrike">
                <a:solidFill>
                  <a:srgbClr val="121212"/>
                </a:solidFill>
                <a:latin typeface="Anton"/>
                <a:ea typeface="Anton"/>
                <a:cs typeface="Anton"/>
                <a:sym typeface="Anton"/>
              </a:rPr>
              <a:t>GITHUB</a:t>
            </a:r>
            <a:endParaRPr b="0" i="1" sz="3600" u="none" cap="none" strike="noStrike">
              <a:solidFill>
                <a:srgbClr val="121212"/>
              </a:solidFill>
              <a:latin typeface="Anton"/>
              <a:ea typeface="Anton"/>
              <a:cs typeface="Anton"/>
              <a:sym typeface="Anton"/>
            </a:endParaRPr>
          </a:p>
        </p:txBody>
      </p:sp>
      <p:sp>
        <p:nvSpPr>
          <p:cNvPr id="62" name="Google Shape;62;p14"/>
          <p:cNvSpPr txBox="1"/>
          <p:nvPr/>
        </p:nvSpPr>
        <p:spPr>
          <a:xfrm>
            <a:off x="1839150" y="1682100"/>
            <a:ext cx="5465700" cy="475800"/>
          </a:xfrm>
          <a:prstGeom prst="rect">
            <a:avLst/>
          </a:prstGeom>
          <a:no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2000"/>
              <a:buFont typeface="Arial"/>
              <a:buNone/>
            </a:pPr>
            <a:r>
              <a:rPr b="1" i="0" lang="es" sz="2000" u="none" cap="none" strike="noStrike">
                <a:solidFill>
                  <a:srgbClr val="121212"/>
                </a:solidFill>
                <a:latin typeface="Helvetica Neue"/>
                <a:ea typeface="Helvetica Neue"/>
                <a:cs typeface="Helvetica Neue"/>
                <a:sym typeface="Helvetica Neue"/>
              </a:rPr>
              <a:t>     Clase 1</a:t>
            </a:r>
            <a:r>
              <a:rPr b="1" lang="es" sz="2000">
                <a:solidFill>
                  <a:srgbClr val="121212"/>
                </a:solidFill>
                <a:latin typeface="Helvetica Neue"/>
                <a:ea typeface="Helvetica Neue"/>
                <a:cs typeface="Helvetica Neue"/>
                <a:sym typeface="Helvetica Neue"/>
              </a:rPr>
              <a:t>0</a:t>
            </a:r>
            <a:r>
              <a:rPr b="1" i="0" lang="es" sz="2000" u="none" cap="none" strike="noStrike">
                <a:solidFill>
                  <a:srgbClr val="121212"/>
                </a:solidFill>
                <a:latin typeface="Helvetica Neue"/>
                <a:ea typeface="Helvetica Neue"/>
                <a:cs typeface="Helvetica Neue"/>
                <a:sym typeface="Helvetica Neue"/>
              </a:rPr>
              <a:t>. </a:t>
            </a:r>
            <a:r>
              <a:rPr b="0" i="0" lang="es" sz="2000" u="none" cap="none" strike="noStrike">
                <a:solidFill>
                  <a:srgbClr val="121212"/>
                </a:solidFill>
                <a:latin typeface="Helvetica Neue Light"/>
                <a:ea typeface="Helvetica Neue Light"/>
                <a:cs typeface="Helvetica Neue Light"/>
                <a:sym typeface="Helvetica Neue Light"/>
              </a:rPr>
              <a:t> DESARROLLO WEB</a:t>
            </a:r>
            <a:endParaRPr b="0" i="0" sz="1400" u="none" cap="none" strike="noStrike">
              <a:solidFill>
                <a:srgbClr val="121212"/>
              </a:solidFill>
              <a:latin typeface="Helvetica Neue Light"/>
              <a:ea typeface="Helvetica Neue Light"/>
              <a:cs typeface="Helvetica Neue Light"/>
              <a:sym typeface="Helvetica Neue Light"/>
            </a:endParaRPr>
          </a:p>
        </p:txBody>
      </p:sp>
      <p:sp>
        <p:nvSpPr>
          <p:cNvPr id="63" name="Google Shape;63;p14"/>
          <p:cNvSpPr txBox="1"/>
          <p:nvPr/>
        </p:nvSpPr>
        <p:spPr>
          <a:xfrm>
            <a:off x="707225" y="4382850"/>
            <a:ext cx="1731000" cy="475800"/>
          </a:xfrm>
          <a:prstGeom prst="rect">
            <a:avLst/>
          </a:prstGeom>
          <a:no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800"/>
              <a:buFont typeface="Arial"/>
              <a:buNone/>
            </a:pPr>
            <a:r>
              <a:t/>
            </a:r>
            <a:endParaRPr b="1" i="0" sz="1800" u="none" cap="none" strike="noStrike">
              <a:solidFill>
                <a:srgbClr val="000000"/>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CEFAB"/>
        </a:solidFill>
      </p:bgPr>
    </p:bg>
    <p:spTree>
      <p:nvGrpSpPr>
        <p:cNvPr id="67" name="Shape 67"/>
        <p:cNvGrpSpPr/>
        <p:nvPr/>
      </p:nvGrpSpPr>
      <p:grpSpPr>
        <a:xfrm>
          <a:off x="0" y="0"/>
          <a:ext cx="0" cy="0"/>
          <a:chOff x="0" y="0"/>
          <a:chExt cx="0" cy="0"/>
        </a:xfrm>
      </p:grpSpPr>
      <p:sp>
        <p:nvSpPr>
          <p:cNvPr id="68" name="Google Shape;68;p15"/>
          <p:cNvSpPr txBox="1"/>
          <p:nvPr/>
        </p:nvSpPr>
        <p:spPr>
          <a:xfrm>
            <a:off x="3979775" y="1134750"/>
            <a:ext cx="4624800" cy="2874000"/>
          </a:xfrm>
          <a:prstGeom prst="rect">
            <a:avLst/>
          </a:prstGeom>
          <a:noFill/>
          <a:ln>
            <a:noFill/>
          </a:ln>
        </p:spPr>
        <p:txBody>
          <a:bodyPr anchorCtr="0" anchor="ctr" bIns="91425" lIns="91425" spcFirstLastPara="1" rIns="91425" wrap="square" tIns="91425">
            <a:noAutofit/>
          </a:bodyPr>
          <a:lstStyle/>
          <a:p>
            <a:pPr indent="-342900" lvl="0" marL="457200" marR="0" rtl="0" algn="l">
              <a:lnSpc>
                <a:spcPct val="115000"/>
              </a:lnSpc>
              <a:spcBef>
                <a:spcPts val="1000"/>
              </a:spcBef>
              <a:spcAft>
                <a:spcPts val="0"/>
              </a:spcAft>
              <a:buClr>
                <a:srgbClr val="000000"/>
              </a:buClr>
              <a:buSzPts val="1800"/>
              <a:buFont typeface="Arial"/>
              <a:buChar char="●"/>
            </a:pPr>
            <a:r>
              <a:rPr b="0" i="0" lang="es" sz="1800" u="none" cap="none" strike="noStrike">
                <a:solidFill>
                  <a:srgbClr val="000000"/>
                </a:solidFill>
                <a:latin typeface="Helvetica Neue Light"/>
                <a:ea typeface="Helvetica Neue Light"/>
                <a:cs typeface="Helvetica Neue Light"/>
                <a:sym typeface="Helvetica Neue Light"/>
              </a:rPr>
              <a:t>Aprender qué es un repositorio en Github.</a:t>
            </a:r>
            <a:endParaRPr b="0" i="0" sz="1800" u="none" cap="none" strike="noStrike">
              <a:solidFill>
                <a:srgbClr val="000000"/>
              </a:solidFill>
              <a:latin typeface="Helvetica Neue Light"/>
              <a:ea typeface="Helvetica Neue Light"/>
              <a:cs typeface="Helvetica Neue Light"/>
              <a:sym typeface="Helvetica Neue Light"/>
            </a:endParaRPr>
          </a:p>
          <a:p>
            <a:pPr indent="-342900" lvl="0" marL="457200" marR="0" rtl="0" algn="l">
              <a:lnSpc>
                <a:spcPct val="115000"/>
              </a:lnSpc>
              <a:spcBef>
                <a:spcPts val="1000"/>
              </a:spcBef>
              <a:spcAft>
                <a:spcPts val="0"/>
              </a:spcAft>
              <a:buClr>
                <a:srgbClr val="000000"/>
              </a:buClr>
              <a:buSzPts val="1800"/>
              <a:buFont typeface="Arial"/>
              <a:buChar char="●"/>
            </a:pPr>
            <a:r>
              <a:rPr b="0" i="0" lang="es" sz="1800" u="none" cap="none" strike="noStrike">
                <a:solidFill>
                  <a:srgbClr val="000000"/>
                </a:solidFill>
                <a:latin typeface="Helvetica Neue Light"/>
                <a:ea typeface="Helvetica Neue Light"/>
                <a:cs typeface="Helvetica Neue Light"/>
                <a:sym typeface="Helvetica Neue Light"/>
              </a:rPr>
              <a:t>Crear un repositorio para nuestro proyecto.</a:t>
            </a:r>
            <a:endParaRPr b="0" i="0" sz="1800" u="none" cap="none" strike="noStrike">
              <a:solidFill>
                <a:srgbClr val="000000"/>
              </a:solidFill>
              <a:latin typeface="Helvetica Neue Light"/>
              <a:ea typeface="Helvetica Neue Light"/>
              <a:cs typeface="Helvetica Neue Light"/>
              <a:sym typeface="Helvetica Neue Light"/>
            </a:endParaRPr>
          </a:p>
          <a:p>
            <a:pPr indent="-342900" lvl="0" marL="457200" marR="0" rtl="0" algn="l">
              <a:lnSpc>
                <a:spcPct val="115000"/>
              </a:lnSpc>
              <a:spcBef>
                <a:spcPts val="1000"/>
              </a:spcBef>
              <a:spcAft>
                <a:spcPts val="0"/>
              </a:spcAft>
              <a:buClr>
                <a:srgbClr val="000000"/>
              </a:buClr>
              <a:buSzPts val="1800"/>
              <a:buFont typeface="Arial"/>
              <a:buChar char="●"/>
            </a:pPr>
            <a:r>
              <a:rPr b="0" i="0" lang="es" sz="1800" u="none" cap="none" strike="noStrike">
                <a:solidFill>
                  <a:srgbClr val="000000"/>
                </a:solidFill>
                <a:latin typeface="Helvetica Neue Light"/>
                <a:ea typeface="Helvetica Neue Light"/>
                <a:cs typeface="Helvetica Neue Light"/>
                <a:sym typeface="Helvetica Neue Light"/>
              </a:rPr>
              <a:t>Subir el proyecto al repositorio usando los comandos de Git.</a:t>
            </a:r>
            <a:endParaRPr b="0" i="0" sz="1800" u="none" cap="none" strike="noStrike">
              <a:solidFill>
                <a:srgbClr val="000000"/>
              </a:solidFill>
              <a:latin typeface="Helvetica Neue Light"/>
              <a:ea typeface="Helvetica Neue Light"/>
              <a:cs typeface="Helvetica Neue Light"/>
              <a:sym typeface="Helvetica Neue Light"/>
            </a:endParaRPr>
          </a:p>
        </p:txBody>
      </p:sp>
      <p:pic>
        <p:nvPicPr>
          <p:cNvPr id="69" name="Google Shape;69;p15"/>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sp>
        <p:nvSpPr>
          <p:cNvPr id="70" name="Google Shape;70;p15"/>
          <p:cNvSpPr txBox="1"/>
          <p:nvPr/>
        </p:nvSpPr>
        <p:spPr>
          <a:xfrm>
            <a:off x="373850" y="2656900"/>
            <a:ext cx="3632700" cy="989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3000"/>
              <a:buFont typeface="Arial"/>
              <a:buNone/>
            </a:pPr>
            <a:r>
              <a:rPr b="0" i="1" lang="es" sz="3000" u="none" cap="none" strike="noStrike">
                <a:solidFill>
                  <a:srgbClr val="000000"/>
                </a:solidFill>
                <a:latin typeface="Anton"/>
                <a:ea typeface="Anton"/>
                <a:cs typeface="Anton"/>
                <a:sym typeface="Anton"/>
              </a:rPr>
              <a:t>OBJETIVOS DE LA CLASE</a:t>
            </a:r>
            <a:endParaRPr b="0" i="1" sz="3000" u="none" cap="none" strike="noStrike">
              <a:solidFill>
                <a:srgbClr val="000000"/>
              </a:solidFill>
              <a:latin typeface="Anton"/>
              <a:ea typeface="Anton"/>
              <a:cs typeface="Anton"/>
              <a:sym typeface="Anton"/>
            </a:endParaRPr>
          </a:p>
        </p:txBody>
      </p:sp>
      <p:pic>
        <p:nvPicPr>
          <p:cNvPr id="71" name="Google Shape;71;p15"/>
          <p:cNvPicPr preferRelativeResize="0"/>
          <p:nvPr/>
        </p:nvPicPr>
        <p:blipFill rotWithShape="1">
          <a:blip r:embed="rId4">
            <a:alphaModFix/>
          </a:blip>
          <a:srcRect b="0" l="0" r="0" t="0"/>
          <a:stretch/>
        </p:blipFill>
        <p:spPr>
          <a:xfrm>
            <a:off x="1611688" y="1439550"/>
            <a:ext cx="1186525" cy="1186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nvSpPr>
        <p:spPr>
          <a:xfrm>
            <a:off x="483500" y="1390175"/>
            <a:ext cx="3924900" cy="3600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2000"/>
              <a:buFont typeface="Arial"/>
              <a:buNone/>
            </a:pPr>
            <a:r>
              <a:rPr b="1" i="0" lang="es" sz="1400" u="none" cap="none" strike="noStrike">
                <a:solidFill>
                  <a:schemeClr val="dk1"/>
                </a:solidFill>
                <a:highlight>
                  <a:srgbClr val="A6FFCA"/>
                </a:highlight>
                <a:latin typeface="Helvetica Neue"/>
                <a:ea typeface="Helvetica Neue"/>
                <a:cs typeface="Helvetica Neue"/>
                <a:sym typeface="Helvetica Neue"/>
              </a:rPr>
              <a:t>Git:</a:t>
            </a:r>
            <a:r>
              <a:rPr b="0" i="0" lang="es" sz="1400" u="none" cap="none" strike="noStrike">
                <a:solidFill>
                  <a:schemeClr val="dk1"/>
                </a:solidFill>
                <a:highlight>
                  <a:srgbClr val="A6FFCA"/>
                </a:highlight>
                <a:latin typeface="Helvetica Neue Light"/>
                <a:ea typeface="Helvetica Neue Light"/>
                <a:cs typeface="Helvetica Neue Light"/>
                <a:sym typeface="Helvetica Neue Light"/>
              </a:rPr>
              <a:t> </a:t>
            </a:r>
            <a:r>
              <a:rPr b="0" i="0" lang="es" sz="1400" u="none" cap="none" strike="noStrike">
                <a:solidFill>
                  <a:schemeClr val="dk1"/>
                </a:solidFill>
                <a:latin typeface="Helvetica Neue Light"/>
                <a:ea typeface="Helvetica Neue Light"/>
                <a:cs typeface="Helvetica Neue Light"/>
                <a:sym typeface="Helvetica Neue Light"/>
              </a:rPr>
              <a:t>es un sistema de control de versiones gratuito y de código abierto, diseñado para manejar desde pequeños a grandes proyectos de manera rápida y eficaz. Se entiende como control de versiones a todas las herramientas que nos permiten hacer modificaciones en nuestro proyecto. Este sistema registra los cambios realizados sobre un archivo o conjunto de archivos a lo largo del tiempo.</a:t>
            </a:r>
            <a:endParaRPr b="0" i="0" sz="1400" u="none" cap="none" strike="noStrike">
              <a:solidFill>
                <a:schemeClr val="dk1"/>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chemeClr val="dk1"/>
              </a:buClr>
              <a:buSzPts val="2000"/>
              <a:buFont typeface="Arial"/>
              <a:buNone/>
            </a:pPr>
            <a:r>
              <a:t/>
            </a:r>
            <a:endParaRPr b="0" i="0" sz="1400" u="none" cap="none" strike="noStrike">
              <a:solidFill>
                <a:schemeClr val="dk1"/>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chemeClr val="dk1"/>
              </a:buClr>
              <a:buSzPts val="2000"/>
              <a:buFont typeface="Arial"/>
              <a:buNone/>
            </a:pPr>
            <a:r>
              <a:t/>
            </a:r>
            <a:endParaRPr b="0" i="0" sz="1400" u="none" cap="none" strike="noStrike">
              <a:solidFill>
                <a:schemeClr val="dk1"/>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chemeClr val="dk1"/>
              </a:buClr>
              <a:buSzPts val="2000"/>
              <a:buFont typeface="Arial"/>
              <a:buNone/>
            </a:pPr>
            <a:r>
              <a:t/>
            </a:r>
            <a:endParaRPr b="0" i="0" sz="1400" u="none" cap="none" strike="noStrike">
              <a:solidFill>
                <a:schemeClr val="dk1"/>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chemeClr val="dk1"/>
              </a:buClr>
              <a:buSzPts val="2000"/>
              <a:buFont typeface="Arial"/>
              <a:buNone/>
            </a:pPr>
            <a:r>
              <a:t/>
            </a:r>
            <a:endParaRPr b="0" i="0" sz="1400" u="none" cap="none" strike="noStrike">
              <a:solidFill>
                <a:schemeClr val="dk1"/>
              </a:solidFill>
              <a:latin typeface="Helvetica Neue Light"/>
              <a:ea typeface="Helvetica Neue Light"/>
              <a:cs typeface="Helvetica Neue Light"/>
              <a:sym typeface="Helvetica Neue Light"/>
            </a:endParaRPr>
          </a:p>
        </p:txBody>
      </p:sp>
      <p:sp>
        <p:nvSpPr>
          <p:cNvPr id="77" name="Google Shape;77;p16"/>
          <p:cNvSpPr txBox="1"/>
          <p:nvPr/>
        </p:nvSpPr>
        <p:spPr>
          <a:xfrm>
            <a:off x="196487" y="129075"/>
            <a:ext cx="8423100" cy="98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0"/>
              <a:buFont typeface="Arial"/>
              <a:buNone/>
            </a:pPr>
            <a:r>
              <a:rPr b="0" i="1" lang="es" sz="4500" u="none" cap="none" strike="noStrike">
                <a:solidFill>
                  <a:srgbClr val="000000"/>
                </a:solidFill>
                <a:latin typeface="Anton"/>
                <a:ea typeface="Anton"/>
                <a:cs typeface="Anton"/>
                <a:sym typeface="Anton"/>
              </a:rPr>
              <a:t>GLOSARIO:</a:t>
            </a:r>
            <a:endParaRPr b="0" i="1" sz="4500" u="none" cap="none" strike="noStrike">
              <a:solidFill>
                <a:srgbClr val="000000"/>
              </a:solidFill>
              <a:latin typeface="Anton"/>
              <a:ea typeface="Anton"/>
              <a:cs typeface="Anton"/>
              <a:sym typeface="Anton"/>
            </a:endParaRPr>
          </a:p>
          <a:p>
            <a:pPr indent="0" lvl="0" marL="0" marR="0" rtl="0" algn="l">
              <a:lnSpc>
                <a:spcPct val="100000"/>
              </a:lnSpc>
              <a:spcBef>
                <a:spcPts val="0"/>
              </a:spcBef>
              <a:spcAft>
                <a:spcPts val="0"/>
              </a:spcAft>
              <a:buClr>
                <a:srgbClr val="000000"/>
              </a:buClr>
              <a:buSzPts val="4500"/>
              <a:buFont typeface="Arial"/>
              <a:buNone/>
            </a:pPr>
            <a:r>
              <a:rPr b="0" i="1" lang="es" sz="2000" u="none" cap="none" strike="noStrike">
                <a:solidFill>
                  <a:srgbClr val="000000"/>
                </a:solidFill>
                <a:latin typeface="Anton"/>
                <a:ea typeface="Anton"/>
                <a:cs typeface="Anton"/>
                <a:sym typeface="Anton"/>
              </a:rPr>
              <a:t>Clase </a:t>
            </a:r>
            <a:r>
              <a:rPr i="1" lang="es" sz="2000">
                <a:latin typeface="Anton"/>
                <a:ea typeface="Anton"/>
                <a:cs typeface="Anton"/>
                <a:sym typeface="Anton"/>
              </a:rPr>
              <a:t>9</a:t>
            </a:r>
            <a:endParaRPr b="0" i="1" sz="2000" u="none" cap="none" strike="noStrike">
              <a:solidFill>
                <a:srgbClr val="000000"/>
              </a:solidFill>
              <a:latin typeface="Anton"/>
              <a:ea typeface="Anton"/>
              <a:cs typeface="Anton"/>
              <a:sym typeface="Anton"/>
            </a:endParaRPr>
          </a:p>
        </p:txBody>
      </p:sp>
      <p:pic>
        <p:nvPicPr>
          <p:cNvPr id="78" name="Google Shape;78;p16"/>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sp>
        <p:nvSpPr>
          <p:cNvPr id="79" name="Google Shape;79;p16"/>
          <p:cNvSpPr txBox="1"/>
          <p:nvPr/>
        </p:nvSpPr>
        <p:spPr>
          <a:xfrm>
            <a:off x="4633450" y="1328950"/>
            <a:ext cx="3924900" cy="3600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2000"/>
              <a:buFont typeface="Arial"/>
              <a:buNone/>
            </a:pPr>
            <a:r>
              <a:rPr b="1" i="0" lang="es" sz="1400" u="none" cap="none" strike="noStrike">
                <a:solidFill>
                  <a:schemeClr val="dk1"/>
                </a:solidFill>
                <a:highlight>
                  <a:srgbClr val="A6FFCA"/>
                </a:highlight>
                <a:latin typeface="Helvetica Neue"/>
                <a:ea typeface="Helvetica Neue"/>
                <a:cs typeface="Helvetica Neue"/>
                <a:sym typeface="Helvetica Neue"/>
              </a:rPr>
              <a:t>Comandos básicos de la terminal:</a:t>
            </a:r>
            <a:endParaRPr b="0" i="0" sz="1400" u="none" cap="none" strike="noStrike">
              <a:solidFill>
                <a:schemeClr val="dk1"/>
              </a:solidFill>
              <a:highlight>
                <a:srgbClr val="A6FFCA"/>
              </a:highlight>
              <a:latin typeface="Helvetica Neue Light"/>
              <a:ea typeface="Helvetica Neue Light"/>
              <a:cs typeface="Helvetica Neue Light"/>
              <a:sym typeface="Helvetica Neue Light"/>
            </a:endParaRPr>
          </a:p>
          <a:p>
            <a:pPr indent="-317500" lvl="0" marL="457200" marR="0" rtl="0" algn="l">
              <a:lnSpc>
                <a:spcPct val="115000"/>
              </a:lnSpc>
              <a:spcBef>
                <a:spcPts val="0"/>
              </a:spcBef>
              <a:spcAft>
                <a:spcPts val="0"/>
              </a:spcAft>
              <a:buClr>
                <a:srgbClr val="A6FFCA"/>
              </a:buClr>
              <a:buSzPts val="1400"/>
              <a:buFont typeface="Helvetica Neue Light"/>
              <a:buChar char="●"/>
            </a:pPr>
            <a:r>
              <a:rPr b="1" i="0" lang="es" sz="1400" u="none" cap="none" strike="noStrike">
                <a:solidFill>
                  <a:schemeClr val="dk1"/>
                </a:solidFill>
                <a:highlight>
                  <a:srgbClr val="A6FFCA"/>
                </a:highlight>
                <a:latin typeface="Helvetica Neue"/>
                <a:ea typeface="Helvetica Neue"/>
                <a:cs typeface="Helvetica Neue"/>
                <a:sym typeface="Helvetica Neue"/>
              </a:rPr>
              <a:t>/?:</a:t>
            </a:r>
            <a:r>
              <a:rPr b="0" i="0" lang="es" sz="1400" u="none" cap="none" strike="noStrike">
                <a:solidFill>
                  <a:schemeClr val="dk1"/>
                </a:solidFill>
                <a:latin typeface="Helvetica Neue Light"/>
                <a:ea typeface="Helvetica Neue Light"/>
                <a:cs typeface="Helvetica Neue Light"/>
                <a:sym typeface="Helvetica Neue Light"/>
              </a:rPr>
              <a:t> si quieres saber más de un comando, añade /? para ver la ayuda relacionada. Te será muy útil para ver las muchas opciones de cada comando.</a:t>
            </a:r>
            <a:endParaRPr b="0" i="0" sz="1400" u="none" cap="none" strike="noStrike">
              <a:solidFill>
                <a:schemeClr val="dk1"/>
              </a:solidFill>
              <a:latin typeface="Helvetica Neue Light"/>
              <a:ea typeface="Helvetica Neue Light"/>
              <a:cs typeface="Helvetica Neue Light"/>
              <a:sym typeface="Helvetica Neue Light"/>
            </a:endParaRPr>
          </a:p>
          <a:p>
            <a:pPr indent="-317500" lvl="0" marL="457200" marR="0" rtl="0" algn="l">
              <a:lnSpc>
                <a:spcPct val="115000"/>
              </a:lnSpc>
              <a:spcBef>
                <a:spcPts val="0"/>
              </a:spcBef>
              <a:spcAft>
                <a:spcPts val="0"/>
              </a:spcAft>
              <a:buClr>
                <a:srgbClr val="A6FFCA"/>
              </a:buClr>
              <a:buSzPts val="1400"/>
              <a:buFont typeface="Helvetica Neue Light"/>
              <a:buChar char="●"/>
            </a:pPr>
            <a:r>
              <a:rPr b="1" i="0" lang="es" sz="1400" u="none" cap="none" strike="noStrike">
                <a:solidFill>
                  <a:schemeClr val="dk1"/>
                </a:solidFill>
                <a:highlight>
                  <a:srgbClr val="A6FFCA"/>
                </a:highlight>
                <a:latin typeface="Helvetica Neue"/>
                <a:ea typeface="Helvetica Neue"/>
                <a:cs typeface="Helvetica Neue"/>
                <a:sym typeface="Helvetica Neue"/>
              </a:rPr>
              <a:t>HELP:</a:t>
            </a:r>
            <a:r>
              <a:rPr b="0" i="0" lang="es" sz="1400" u="none" cap="none" strike="noStrike">
                <a:solidFill>
                  <a:schemeClr val="dk1"/>
                </a:solidFill>
                <a:highlight>
                  <a:srgbClr val="A6FFCA"/>
                </a:highlight>
                <a:latin typeface="Helvetica Neue Light"/>
                <a:ea typeface="Helvetica Neue Light"/>
                <a:cs typeface="Helvetica Neue Light"/>
                <a:sym typeface="Helvetica Neue Light"/>
              </a:rPr>
              <a:t> </a:t>
            </a:r>
            <a:r>
              <a:rPr b="0" i="0" lang="es" sz="1400" u="none" cap="none" strike="noStrike">
                <a:solidFill>
                  <a:schemeClr val="dk1"/>
                </a:solidFill>
                <a:latin typeface="Helvetica Neue Light"/>
                <a:ea typeface="Helvetica Neue Light"/>
                <a:cs typeface="Helvetica Neue Light"/>
                <a:sym typeface="Helvetica Neue Light"/>
              </a:rPr>
              <a:t>te mostrará una lista de comandos disponibles.</a:t>
            </a:r>
            <a:endParaRPr b="0" i="0" sz="1400" u="none" cap="none" strike="noStrike">
              <a:solidFill>
                <a:schemeClr val="dk1"/>
              </a:solidFill>
              <a:latin typeface="Helvetica Neue Light"/>
              <a:ea typeface="Helvetica Neue Light"/>
              <a:cs typeface="Helvetica Neue Light"/>
              <a:sym typeface="Helvetica Neue Light"/>
            </a:endParaRPr>
          </a:p>
          <a:p>
            <a:pPr indent="-317500" lvl="0" marL="457200" marR="0" rtl="0" algn="l">
              <a:lnSpc>
                <a:spcPct val="115000"/>
              </a:lnSpc>
              <a:spcBef>
                <a:spcPts val="0"/>
              </a:spcBef>
              <a:spcAft>
                <a:spcPts val="0"/>
              </a:spcAft>
              <a:buClr>
                <a:srgbClr val="A6FFCA"/>
              </a:buClr>
              <a:buSzPts val="1400"/>
              <a:buFont typeface="Helvetica Neue Light"/>
              <a:buChar char="●"/>
            </a:pPr>
            <a:r>
              <a:rPr b="1" i="0" lang="es" sz="1400" u="none" cap="none" strike="noStrike">
                <a:solidFill>
                  <a:schemeClr val="dk1"/>
                </a:solidFill>
                <a:highlight>
                  <a:srgbClr val="A6FFCA"/>
                </a:highlight>
                <a:latin typeface="Helvetica Neue"/>
                <a:ea typeface="Helvetica Neue"/>
                <a:cs typeface="Helvetica Neue"/>
                <a:sym typeface="Helvetica Neue"/>
              </a:rPr>
              <a:t>DIR:</a:t>
            </a:r>
            <a:r>
              <a:rPr b="0" i="0" lang="es" sz="1400" u="none" cap="none" strike="noStrike">
                <a:solidFill>
                  <a:schemeClr val="dk1"/>
                </a:solidFill>
                <a:highlight>
                  <a:srgbClr val="A6FFCA"/>
                </a:highlight>
                <a:latin typeface="Helvetica Neue Light"/>
                <a:ea typeface="Helvetica Neue Light"/>
                <a:cs typeface="Helvetica Neue Light"/>
                <a:sym typeface="Helvetica Neue Light"/>
              </a:rPr>
              <a:t> </a:t>
            </a:r>
            <a:r>
              <a:rPr b="0" i="0" lang="es" sz="1400" u="none" cap="none" strike="noStrike">
                <a:solidFill>
                  <a:schemeClr val="dk1"/>
                </a:solidFill>
                <a:latin typeface="Helvetica Neue Light"/>
                <a:ea typeface="Helvetica Neue Light"/>
                <a:cs typeface="Helvetica Neue Light"/>
                <a:sym typeface="Helvetica Neue Light"/>
              </a:rPr>
              <a:t>es el comando más conocido de DOS y sirve para ver el contenido de una carpeta (en MAC-OS usar LS).</a:t>
            </a:r>
            <a:endParaRPr b="0" i="0" sz="1400" u="none" cap="none" strike="noStrike">
              <a:solidFill>
                <a:schemeClr val="dk1"/>
              </a:solidFill>
              <a:latin typeface="Helvetica Neue Light"/>
              <a:ea typeface="Helvetica Neue Light"/>
              <a:cs typeface="Helvetica Neue Light"/>
              <a:sym typeface="Helvetica Neue Light"/>
            </a:endParaRPr>
          </a:p>
          <a:p>
            <a:pPr indent="-317500" lvl="0" marL="457200" marR="0" rtl="0" algn="l">
              <a:lnSpc>
                <a:spcPct val="115000"/>
              </a:lnSpc>
              <a:spcBef>
                <a:spcPts val="0"/>
              </a:spcBef>
              <a:spcAft>
                <a:spcPts val="0"/>
              </a:spcAft>
              <a:buClr>
                <a:srgbClr val="A6FFCA"/>
              </a:buClr>
              <a:buSzPts val="1400"/>
              <a:buFont typeface="Helvetica Neue Light"/>
              <a:buChar char="●"/>
            </a:pPr>
            <a:r>
              <a:rPr b="1" i="0" lang="es" sz="1400" u="none" cap="none" strike="noStrike">
                <a:solidFill>
                  <a:schemeClr val="dk1"/>
                </a:solidFill>
                <a:highlight>
                  <a:srgbClr val="A6FFCA"/>
                </a:highlight>
                <a:latin typeface="Helvetica Neue"/>
                <a:ea typeface="Helvetica Neue"/>
                <a:cs typeface="Helvetica Neue"/>
                <a:sym typeface="Helvetica Neue"/>
              </a:rPr>
              <a:t>CD:</a:t>
            </a:r>
            <a:r>
              <a:rPr b="0" i="0" lang="es" sz="1400" u="none" cap="none" strike="noStrike">
                <a:solidFill>
                  <a:schemeClr val="dk1"/>
                </a:solidFill>
                <a:highlight>
                  <a:srgbClr val="A6FFCA"/>
                </a:highlight>
                <a:latin typeface="Helvetica Neue Light"/>
                <a:ea typeface="Helvetica Neue Light"/>
                <a:cs typeface="Helvetica Neue Light"/>
                <a:sym typeface="Helvetica Neue Light"/>
              </a:rPr>
              <a:t> </a:t>
            </a:r>
            <a:r>
              <a:rPr b="0" i="0" lang="es" sz="1400" u="none" cap="none" strike="noStrike">
                <a:solidFill>
                  <a:schemeClr val="dk1"/>
                </a:solidFill>
                <a:latin typeface="Helvetica Neue Light"/>
                <a:ea typeface="Helvetica Neue Light"/>
                <a:cs typeface="Helvetica Neue Light"/>
                <a:sym typeface="Helvetica Neue Light"/>
              </a:rPr>
              <a:t>sirve para entrar en una carpeta o salir de ella (CD…).</a:t>
            </a:r>
            <a:endParaRPr b="0" i="0" sz="1400" u="none" cap="none" strike="noStrike">
              <a:solidFill>
                <a:schemeClr val="dk1"/>
              </a:solidFill>
              <a:latin typeface="Helvetica Neue Light"/>
              <a:ea typeface="Helvetica Neue Light"/>
              <a:cs typeface="Helvetica Neue Light"/>
              <a:sym typeface="Helvetica Neue Light"/>
            </a:endParaRPr>
          </a:p>
          <a:p>
            <a:pPr indent="-317500" lvl="0" marL="457200" marR="0" rtl="0" algn="l">
              <a:lnSpc>
                <a:spcPct val="115000"/>
              </a:lnSpc>
              <a:spcBef>
                <a:spcPts val="0"/>
              </a:spcBef>
              <a:spcAft>
                <a:spcPts val="0"/>
              </a:spcAft>
              <a:buClr>
                <a:srgbClr val="A6FFCA"/>
              </a:buClr>
              <a:buSzPts val="1400"/>
              <a:buFont typeface="Helvetica Neue Light"/>
              <a:buChar char="●"/>
            </a:pPr>
            <a:r>
              <a:rPr b="1" i="0" lang="es" sz="1400" u="none" cap="none" strike="noStrike">
                <a:solidFill>
                  <a:schemeClr val="dk1"/>
                </a:solidFill>
                <a:highlight>
                  <a:srgbClr val="A6FFCA"/>
                </a:highlight>
                <a:latin typeface="Helvetica Neue"/>
                <a:ea typeface="Helvetica Neue"/>
                <a:cs typeface="Helvetica Neue"/>
                <a:sym typeface="Helvetica Neue"/>
              </a:rPr>
              <a:t>CLEAR</a:t>
            </a:r>
            <a:r>
              <a:rPr b="1" i="0" lang="es" sz="1400" u="none" cap="none" strike="noStrike">
                <a:solidFill>
                  <a:schemeClr val="dk1"/>
                </a:solidFill>
                <a:latin typeface="Helvetica Neue"/>
                <a:ea typeface="Helvetica Neue"/>
                <a:cs typeface="Helvetica Neue"/>
                <a:sym typeface="Helvetica Neue"/>
              </a:rPr>
              <a:t>:</a:t>
            </a:r>
            <a:r>
              <a:rPr b="0" i="0" lang="es" sz="1400" u="none" cap="none" strike="noStrike">
                <a:solidFill>
                  <a:schemeClr val="dk1"/>
                </a:solidFill>
                <a:latin typeface="Helvetica Neue Light"/>
                <a:ea typeface="Helvetica Neue Light"/>
                <a:cs typeface="Helvetica Neue Light"/>
                <a:sym typeface="Helvetica Neue Light"/>
              </a:rPr>
              <a:t> limpia la consola.</a:t>
            </a:r>
            <a:endParaRPr b="0" i="0" sz="1400" u="none" cap="none" strike="noStrike">
              <a:solidFill>
                <a:schemeClr val="dk1"/>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chemeClr val="dk1"/>
              </a:buClr>
              <a:buSzPts val="2000"/>
              <a:buFont typeface="Arial"/>
              <a:buNone/>
            </a:pPr>
            <a:r>
              <a:t/>
            </a:r>
            <a:endParaRPr b="0" i="0" sz="14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nvSpPr>
        <p:spPr>
          <a:xfrm>
            <a:off x="196487" y="129075"/>
            <a:ext cx="8423100" cy="98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500"/>
              <a:buFont typeface="Arial"/>
              <a:buNone/>
            </a:pPr>
            <a:r>
              <a:rPr b="0" i="1" lang="es" sz="4500" u="none" cap="none" strike="noStrike">
                <a:solidFill>
                  <a:srgbClr val="000000"/>
                </a:solidFill>
                <a:latin typeface="Anton"/>
                <a:ea typeface="Anton"/>
                <a:cs typeface="Anton"/>
                <a:sym typeface="Anton"/>
              </a:rPr>
              <a:t>GLOSARIO:</a:t>
            </a:r>
            <a:endParaRPr b="0" i="1" sz="4500" u="none" cap="none" strike="noStrike">
              <a:solidFill>
                <a:srgbClr val="000000"/>
              </a:solidFill>
              <a:latin typeface="Anton"/>
              <a:ea typeface="Anton"/>
              <a:cs typeface="Anton"/>
              <a:sym typeface="Anton"/>
            </a:endParaRPr>
          </a:p>
          <a:p>
            <a:pPr indent="0" lvl="0" marL="0" marR="0" rtl="0" algn="l">
              <a:lnSpc>
                <a:spcPct val="100000"/>
              </a:lnSpc>
              <a:spcBef>
                <a:spcPts val="0"/>
              </a:spcBef>
              <a:spcAft>
                <a:spcPts val="0"/>
              </a:spcAft>
              <a:buClr>
                <a:srgbClr val="000000"/>
              </a:buClr>
              <a:buSzPts val="4500"/>
              <a:buFont typeface="Arial"/>
              <a:buNone/>
            </a:pPr>
            <a:r>
              <a:rPr b="0" i="1" lang="es" sz="2000" u="none" cap="none" strike="noStrike">
                <a:solidFill>
                  <a:srgbClr val="000000"/>
                </a:solidFill>
                <a:latin typeface="Anton"/>
                <a:ea typeface="Anton"/>
                <a:cs typeface="Anton"/>
                <a:sym typeface="Anton"/>
              </a:rPr>
              <a:t>Clase </a:t>
            </a:r>
            <a:r>
              <a:rPr i="1" lang="es" sz="2000">
                <a:latin typeface="Anton"/>
                <a:ea typeface="Anton"/>
                <a:cs typeface="Anton"/>
                <a:sym typeface="Anton"/>
              </a:rPr>
              <a:t>9</a:t>
            </a:r>
            <a:endParaRPr b="0" i="1" sz="2000" u="none" cap="none" strike="noStrike">
              <a:solidFill>
                <a:srgbClr val="000000"/>
              </a:solidFill>
              <a:latin typeface="Anton"/>
              <a:ea typeface="Anton"/>
              <a:cs typeface="Anton"/>
              <a:sym typeface="Anton"/>
            </a:endParaRPr>
          </a:p>
        </p:txBody>
      </p:sp>
      <p:pic>
        <p:nvPicPr>
          <p:cNvPr id="85" name="Google Shape;85;p17"/>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sp>
        <p:nvSpPr>
          <p:cNvPr id="86" name="Google Shape;86;p17"/>
          <p:cNvSpPr txBox="1"/>
          <p:nvPr/>
        </p:nvSpPr>
        <p:spPr>
          <a:xfrm>
            <a:off x="483500" y="1390175"/>
            <a:ext cx="3924900" cy="3600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2000"/>
              <a:buFont typeface="Arial"/>
              <a:buNone/>
            </a:pPr>
            <a:r>
              <a:rPr b="1" i="0" lang="es" sz="1400" u="none" cap="none" strike="noStrike">
                <a:solidFill>
                  <a:schemeClr val="dk1"/>
                </a:solidFill>
                <a:highlight>
                  <a:srgbClr val="A6FFCA"/>
                </a:highlight>
                <a:latin typeface="Helvetica Neue"/>
                <a:ea typeface="Helvetica Neue"/>
                <a:cs typeface="Helvetica Neue"/>
                <a:sym typeface="Helvetica Neue"/>
              </a:rPr>
              <a:t>Comandos básicos de la terminal:</a:t>
            </a:r>
            <a:endParaRPr b="0" i="0" sz="1400" u="none" cap="none" strike="noStrike">
              <a:solidFill>
                <a:schemeClr val="dk1"/>
              </a:solidFill>
              <a:highlight>
                <a:srgbClr val="A6FFCA"/>
              </a:highlight>
              <a:latin typeface="Helvetica Neue Light"/>
              <a:ea typeface="Helvetica Neue Light"/>
              <a:cs typeface="Helvetica Neue Light"/>
              <a:sym typeface="Helvetica Neue Light"/>
            </a:endParaRPr>
          </a:p>
          <a:p>
            <a:pPr indent="-317500" lvl="0" marL="457200" marR="0" rtl="0" algn="l">
              <a:lnSpc>
                <a:spcPct val="115000"/>
              </a:lnSpc>
              <a:spcBef>
                <a:spcPts val="0"/>
              </a:spcBef>
              <a:spcAft>
                <a:spcPts val="0"/>
              </a:spcAft>
              <a:buClr>
                <a:schemeClr val="dk1"/>
              </a:buClr>
              <a:buSzPts val="1400"/>
              <a:buFont typeface="Helvetica Neue Light"/>
              <a:buChar char="●"/>
            </a:pPr>
            <a:r>
              <a:rPr b="1" i="0" lang="es" sz="1400" u="none" cap="none" strike="noStrike">
                <a:solidFill>
                  <a:schemeClr val="dk1"/>
                </a:solidFill>
                <a:highlight>
                  <a:srgbClr val="A6FFCA"/>
                </a:highlight>
                <a:latin typeface="Helvetica Neue"/>
                <a:ea typeface="Helvetica Neue"/>
                <a:cs typeface="Helvetica Neue"/>
                <a:sym typeface="Helvetica Neue"/>
              </a:rPr>
              <a:t>MKDIR: </a:t>
            </a:r>
            <a:r>
              <a:rPr b="0" i="0" lang="es" sz="1400" u="none" cap="none" strike="noStrike">
                <a:solidFill>
                  <a:schemeClr val="dk1"/>
                </a:solidFill>
                <a:latin typeface="Helvetica Neue Light"/>
                <a:ea typeface="Helvetica Neue Light"/>
                <a:cs typeface="Helvetica Neue Light"/>
                <a:sym typeface="Helvetica Neue Light"/>
              </a:rPr>
              <a:t>con este comando crearás una carpeta nueva. Con RMDIR podrás eliminarla.</a:t>
            </a:r>
            <a:endParaRPr b="0" i="0" sz="1400" u="none" cap="none" strike="noStrike">
              <a:solidFill>
                <a:schemeClr val="dk1"/>
              </a:solidFill>
              <a:latin typeface="Helvetica Neue Light"/>
              <a:ea typeface="Helvetica Neue Light"/>
              <a:cs typeface="Helvetica Neue Light"/>
              <a:sym typeface="Helvetica Neue Light"/>
            </a:endParaRPr>
          </a:p>
          <a:p>
            <a:pPr indent="-317500" lvl="0" marL="457200" marR="0" rtl="0" algn="l">
              <a:lnSpc>
                <a:spcPct val="115000"/>
              </a:lnSpc>
              <a:spcBef>
                <a:spcPts val="0"/>
              </a:spcBef>
              <a:spcAft>
                <a:spcPts val="0"/>
              </a:spcAft>
              <a:buClr>
                <a:schemeClr val="dk1"/>
              </a:buClr>
              <a:buSzPts val="1400"/>
              <a:buFont typeface="Helvetica Neue Light"/>
              <a:buChar char="●"/>
            </a:pPr>
            <a:r>
              <a:rPr b="1" i="0" lang="es" sz="1400" u="none" cap="none" strike="noStrike">
                <a:solidFill>
                  <a:schemeClr val="dk1"/>
                </a:solidFill>
                <a:highlight>
                  <a:srgbClr val="A6FFCA"/>
                </a:highlight>
                <a:latin typeface="Helvetica Neue"/>
                <a:ea typeface="Helvetica Neue"/>
                <a:cs typeface="Helvetica Neue"/>
                <a:sym typeface="Helvetica Neue"/>
              </a:rPr>
              <a:t>MOVE y COPY: </a:t>
            </a:r>
            <a:r>
              <a:rPr b="0" i="0" lang="es" sz="1400" u="none" cap="none" strike="noStrike">
                <a:solidFill>
                  <a:schemeClr val="dk1"/>
                </a:solidFill>
                <a:latin typeface="Helvetica Neue Light"/>
                <a:ea typeface="Helvetica Neue Light"/>
                <a:cs typeface="Helvetica Neue Light"/>
                <a:sym typeface="Helvetica Neue Light"/>
              </a:rPr>
              <a:t>son los comandos para mover y copiar archivos respectivamente. Deberás indicar el nombre del archivo con su ruta (si está en otra carpeta en la que te encuentras) y la ruta de destino.</a:t>
            </a:r>
            <a:endParaRPr b="0" i="0" sz="1400" u="none" cap="none" strike="noStrike">
              <a:solidFill>
                <a:schemeClr val="dk1"/>
              </a:solidFill>
              <a:latin typeface="Helvetica Neue Light"/>
              <a:ea typeface="Helvetica Neue Light"/>
              <a:cs typeface="Helvetica Neue Light"/>
              <a:sym typeface="Helvetica Neue Light"/>
            </a:endParaRPr>
          </a:p>
          <a:p>
            <a:pPr indent="-317500" lvl="0" marL="457200" marR="0" rtl="0" algn="l">
              <a:lnSpc>
                <a:spcPct val="115000"/>
              </a:lnSpc>
              <a:spcBef>
                <a:spcPts val="0"/>
              </a:spcBef>
              <a:spcAft>
                <a:spcPts val="0"/>
              </a:spcAft>
              <a:buClr>
                <a:schemeClr val="dk1"/>
              </a:buClr>
              <a:buSzPts val="1400"/>
              <a:buFont typeface="Helvetica Neue Light"/>
              <a:buChar char="●"/>
            </a:pPr>
            <a:r>
              <a:rPr b="1" i="0" lang="es" sz="1400" u="none" cap="none" strike="noStrike">
                <a:solidFill>
                  <a:schemeClr val="dk1"/>
                </a:solidFill>
                <a:highlight>
                  <a:srgbClr val="A6FFCA"/>
                </a:highlight>
                <a:latin typeface="Helvetica Neue"/>
                <a:ea typeface="Helvetica Neue"/>
                <a:cs typeface="Helvetica Neue"/>
                <a:sym typeface="Helvetica Neue"/>
              </a:rPr>
              <a:t>RENAME: </a:t>
            </a:r>
            <a:r>
              <a:rPr b="0" i="0" lang="es" sz="1400" u="none" cap="none" strike="noStrike">
                <a:solidFill>
                  <a:schemeClr val="dk1"/>
                </a:solidFill>
                <a:latin typeface="Helvetica Neue Light"/>
                <a:ea typeface="Helvetica Neue Light"/>
                <a:cs typeface="Helvetica Neue Light"/>
                <a:sym typeface="Helvetica Neue Light"/>
              </a:rPr>
              <a:t>sirve para renombrar un archivo o carpeta. Hay que indicar el nombre original y el definitivo.</a:t>
            </a:r>
            <a:endParaRPr b="0" i="0" sz="1400" u="none" cap="none" strike="noStrike">
              <a:solidFill>
                <a:schemeClr val="dk1"/>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chemeClr val="dk1"/>
              </a:buClr>
              <a:buSzPts val="2000"/>
              <a:buFont typeface="Arial"/>
              <a:buNone/>
            </a:pPr>
            <a:r>
              <a:t/>
            </a:r>
            <a:endParaRPr b="0" i="0" sz="1400" u="none" cap="none" strike="noStrike">
              <a:solidFill>
                <a:schemeClr val="dk1"/>
              </a:solidFill>
              <a:latin typeface="Helvetica Neue Light"/>
              <a:ea typeface="Helvetica Neue Light"/>
              <a:cs typeface="Helvetica Neue Light"/>
              <a:sym typeface="Helvetica Neue Light"/>
            </a:endParaRPr>
          </a:p>
        </p:txBody>
      </p:sp>
      <p:sp>
        <p:nvSpPr>
          <p:cNvPr id="87" name="Google Shape;87;p17"/>
          <p:cNvSpPr txBox="1"/>
          <p:nvPr/>
        </p:nvSpPr>
        <p:spPr>
          <a:xfrm>
            <a:off x="4572000" y="1349350"/>
            <a:ext cx="3924900" cy="3600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2000"/>
              <a:buFont typeface="Arial"/>
              <a:buNone/>
            </a:pPr>
            <a:r>
              <a:rPr b="1" i="0" lang="es" sz="1400" u="none" cap="none" strike="noStrike">
                <a:solidFill>
                  <a:schemeClr val="dk1"/>
                </a:solidFill>
                <a:highlight>
                  <a:srgbClr val="A6FFCA"/>
                </a:highlight>
                <a:latin typeface="Helvetica Neue"/>
                <a:ea typeface="Helvetica Neue"/>
                <a:cs typeface="Helvetica Neue"/>
                <a:sym typeface="Helvetica Neue"/>
              </a:rPr>
              <a:t>Repositorio: </a:t>
            </a:r>
            <a:r>
              <a:rPr b="0" i="0" lang="es" sz="1400" u="none" cap="none" strike="noStrike">
                <a:solidFill>
                  <a:schemeClr val="dk1"/>
                </a:solidFill>
                <a:latin typeface="Helvetica Neue Light"/>
                <a:ea typeface="Helvetica Neue Light"/>
                <a:cs typeface="Helvetica Neue Light"/>
                <a:sym typeface="Helvetica Neue Light"/>
              </a:rPr>
              <a:t>es un espacio centralizado donde se almacena, organiza, mantiene y difunde información. </a:t>
            </a:r>
            <a:endParaRPr b="0" i="0" sz="1400" u="none" cap="none" strike="noStrike">
              <a:solidFill>
                <a:schemeClr val="dk1"/>
              </a:solidFill>
              <a:latin typeface="Helvetica Neue Light"/>
              <a:ea typeface="Helvetica Neue Light"/>
              <a:cs typeface="Helvetica Neue Light"/>
              <a:sym typeface="Helvetica Neue Light"/>
            </a:endParaRPr>
          </a:p>
          <a:p>
            <a:pPr indent="-317500" lvl="0" marL="457200" marR="0" rtl="0" algn="l">
              <a:lnSpc>
                <a:spcPct val="115000"/>
              </a:lnSpc>
              <a:spcBef>
                <a:spcPts val="0"/>
              </a:spcBef>
              <a:spcAft>
                <a:spcPts val="0"/>
              </a:spcAft>
              <a:buClr>
                <a:srgbClr val="A6FFCA"/>
              </a:buClr>
              <a:buSzPts val="1400"/>
              <a:buFont typeface="Helvetica Neue Light"/>
              <a:buChar char="●"/>
            </a:pPr>
            <a:r>
              <a:rPr b="1" i="0" lang="es" sz="1400" u="none" cap="none" strike="noStrike">
                <a:solidFill>
                  <a:schemeClr val="dk1"/>
                </a:solidFill>
                <a:highlight>
                  <a:srgbClr val="A6FFCA"/>
                </a:highlight>
                <a:latin typeface="Helvetica Neue"/>
                <a:ea typeface="Helvetica Neue"/>
                <a:cs typeface="Helvetica Neue"/>
                <a:sym typeface="Helvetica Neue"/>
              </a:rPr>
              <a:t>Git Init: </a:t>
            </a:r>
            <a:r>
              <a:rPr b="0" i="0" lang="es" sz="1400" u="none" cap="none" strike="noStrike">
                <a:solidFill>
                  <a:schemeClr val="dk1"/>
                </a:solidFill>
                <a:latin typeface="Helvetica Neue Light"/>
                <a:ea typeface="Helvetica Neue Light"/>
                <a:cs typeface="Helvetica Neue Light"/>
                <a:sym typeface="Helvetica Neue Light"/>
              </a:rPr>
              <a:t>este comando se usa para crear un nuevo repositorio en Git.</a:t>
            </a:r>
            <a:endParaRPr b="0" i="0" sz="1400" u="none" cap="none" strike="noStrike">
              <a:solidFill>
                <a:schemeClr val="dk1"/>
              </a:solidFill>
              <a:latin typeface="Helvetica Neue Light"/>
              <a:ea typeface="Helvetica Neue Light"/>
              <a:cs typeface="Helvetica Neue Light"/>
              <a:sym typeface="Helvetica Neue Light"/>
            </a:endParaRPr>
          </a:p>
          <a:p>
            <a:pPr indent="-317500" lvl="0" marL="457200" marR="0" rtl="0" algn="l">
              <a:lnSpc>
                <a:spcPct val="115000"/>
              </a:lnSpc>
              <a:spcBef>
                <a:spcPts val="0"/>
              </a:spcBef>
              <a:spcAft>
                <a:spcPts val="0"/>
              </a:spcAft>
              <a:buClr>
                <a:srgbClr val="A6FFCA"/>
              </a:buClr>
              <a:buSzPts val="1400"/>
              <a:buFont typeface="Helvetica Neue Light"/>
              <a:buChar char="●"/>
            </a:pPr>
            <a:r>
              <a:rPr b="1" i="0" lang="es" sz="1400" u="none" cap="none" strike="noStrike">
                <a:solidFill>
                  <a:schemeClr val="dk1"/>
                </a:solidFill>
                <a:highlight>
                  <a:srgbClr val="A6FFCA"/>
                </a:highlight>
                <a:latin typeface="Helvetica Neue"/>
                <a:ea typeface="Helvetica Neue"/>
                <a:cs typeface="Helvetica Neue"/>
                <a:sym typeface="Helvetica Neue"/>
              </a:rPr>
              <a:t>Git Add: </a:t>
            </a:r>
            <a:r>
              <a:rPr b="0" i="0" lang="es" sz="1400" u="none" cap="none" strike="noStrike">
                <a:solidFill>
                  <a:schemeClr val="dk1"/>
                </a:solidFill>
                <a:latin typeface="Helvetica Neue Light"/>
                <a:ea typeface="Helvetica Neue Light"/>
                <a:cs typeface="Helvetica Neue Light"/>
                <a:sym typeface="Helvetica Neue Light"/>
              </a:rPr>
              <a:t>se utiliza para agregar el o los archivos al Staging Area.</a:t>
            </a:r>
            <a:endParaRPr b="0" i="0" sz="1400" u="none" cap="none" strike="noStrike">
              <a:solidFill>
                <a:schemeClr val="dk1"/>
              </a:solidFill>
              <a:latin typeface="Helvetica Neue Light"/>
              <a:ea typeface="Helvetica Neue Light"/>
              <a:cs typeface="Helvetica Neue Light"/>
              <a:sym typeface="Helvetica Neue Light"/>
            </a:endParaRPr>
          </a:p>
          <a:p>
            <a:pPr indent="-317500" lvl="0" marL="457200" marR="0" rtl="0" algn="l">
              <a:lnSpc>
                <a:spcPct val="115000"/>
              </a:lnSpc>
              <a:spcBef>
                <a:spcPts val="0"/>
              </a:spcBef>
              <a:spcAft>
                <a:spcPts val="0"/>
              </a:spcAft>
              <a:buClr>
                <a:srgbClr val="A6FFCA"/>
              </a:buClr>
              <a:buSzPts val="1400"/>
              <a:buFont typeface="Helvetica Neue Light"/>
              <a:buChar char="●"/>
            </a:pPr>
            <a:r>
              <a:rPr b="1" i="0" lang="es" sz="1400" u="none" cap="none" strike="noStrike">
                <a:solidFill>
                  <a:schemeClr val="dk1"/>
                </a:solidFill>
                <a:highlight>
                  <a:srgbClr val="A6FFCA"/>
                </a:highlight>
                <a:latin typeface="Helvetica Neue"/>
                <a:ea typeface="Helvetica Neue"/>
                <a:cs typeface="Helvetica Neue"/>
                <a:sym typeface="Helvetica Neue"/>
              </a:rPr>
              <a:t>Git Commit: </a:t>
            </a:r>
            <a:r>
              <a:rPr b="0" i="0" lang="es" sz="1400" u="none" cap="none" strike="noStrike">
                <a:solidFill>
                  <a:schemeClr val="dk1"/>
                </a:solidFill>
                <a:latin typeface="Helvetica Neue Light"/>
                <a:ea typeface="Helvetica Neue Light"/>
                <a:cs typeface="Helvetica Neue Light"/>
                <a:sym typeface="Helvetica Neue Light"/>
              </a:rPr>
              <a:t>una vez que nuestros archivos están en el Staging Area debemos pasarlos a nuestro repositorio local y para eso debemos usar el git commit, que es el comando que nos va a permitir comprometer nuestros archivos.</a:t>
            </a:r>
            <a:endParaRPr b="0" i="0" sz="1400" u="none" cap="none" strike="noStrike">
              <a:solidFill>
                <a:schemeClr val="dk1"/>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chemeClr val="dk1"/>
              </a:buClr>
              <a:buSzPts val="2000"/>
              <a:buFont typeface="Arial"/>
              <a:buNone/>
            </a:pPr>
            <a:r>
              <a:t/>
            </a:r>
            <a:endParaRPr b="0" i="0" sz="1400" u="none" cap="none" strike="noStrike">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F89D2"/>
            </a:gs>
            <a:gs pos="100000">
              <a:srgbClr val="E0FF00"/>
            </a:gs>
          </a:gsLst>
          <a:lin ang="10800025" scaled="0"/>
        </a:gradFill>
      </p:bgPr>
    </p:bg>
    <p:spTree>
      <p:nvGrpSpPr>
        <p:cNvPr id="91" name="Shape 91"/>
        <p:cNvGrpSpPr/>
        <p:nvPr/>
      </p:nvGrpSpPr>
      <p:grpSpPr>
        <a:xfrm>
          <a:off x="0" y="0"/>
          <a:ext cx="0" cy="0"/>
          <a:chOff x="0" y="0"/>
          <a:chExt cx="0" cy="0"/>
        </a:xfrm>
      </p:grpSpPr>
      <p:sp>
        <p:nvSpPr>
          <p:cNvPr id="92" name="Google Shape;92;p18"/>
          <p:cNvSpPr txBox="1"/>
          <p:nvPr/>
        </p:nvSpPr>
        <p:spPr>
          <a:xfrm>
            <a:off x="1398000" y="2077200"/>
            <a:ext cx="6348000" cy="989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0" i="1" lang="es" sz="3600" u="none" cap="none" strike="noStrike">
                <a:solidFill>
                  <a:srgbClr val="121212"/>
                </a:solidFill>
                <a:latin typeface="Anton"/>
                <a:ea typeface="Anton"/>
                <a:cs typeface="Anton"/>
                <a:sym typeface="Anton"/>
              </a:rPr>
              <a:t>MAPA DE CONCEPTOS</a:t>
            </a:r>
            <a:endParaRPr b="0" i="1" sz="3600" u="none" cap="none" strike="noStrike">
              <a:solidFill>
                <a:srgbClr val="121212"/>
              </a:solidFill>
              <a:latin typeface="Anton"/>
              <a:ea typeface="Anton"/>
              <a:cs typeface="Anton"/>
              <a:sym typeface="Anton"/>
            </a:endParaRPr>
          </a:p>
        </p:txBody>
      </p:sp>
      <p:pic>
        <p:nvPicPr>
          <p:cNvPr id="93" name="Google Shape;93;p18"/>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19"/>
          <p:cNvSpPr txBox="1"/>
          <p:nvPr>
            <p:ph type="ctrTitle"/>
          </p:nvPr>
        </p:nvSpPr>
        <p:spPr>
          <a:xfrm>
            <a:off x="176575" y="199288"/>
            <a:ext cx="7552800" cy="422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i="1" lang="es" sz="2000">
                <a:latin typeface="Anton"/>
                <a:ea typeface="Anton"/>
                <a:cs typeface="Anton"/>
                <a:sym typeface="Anton"/>
              </a:rPr>
              <a:t>MAPA DE CONCEPTOS CLASE 10</a:t>
            </a:r>
            <a:endParaRPr i="1" sz="2000">
              <a:latin typeface="Anton"/>
              <a:ea typeface="Anton"/>
              <a:cs typeface="Anton"/>
              <a:sym typeface="Anton"/>
            </a:endParaRPr>
          </a:p>
        </p:txBody>
      </p:sp>
      <p:pic>
        <p:nvPicPr>
          <p:cNvPr id="99" name="Google Shape;99;p19"/>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pic>
        <p:nvPicPr>
          <p:cNvPr id="100" name="Google Shape;100;p19"/>
          <p:cNvPicPr preferRelativeResize="0"/>
          <p:nvPr/>
        </p:nvPicPr>
        <p:blipFill rotWithShape="1">
          <a:blip r:embed="rId4">
            <a:alphaModFix/>
          </a:blip>
          <a:srcRect b="0" l="0" r="0" t="0"/>
          <a:stretch/>
        </p:blipFill>
        <p:spPr>
          <a:xfrm>
            <a:off x="7423862" y="90575"/>
            <a:ext cx="1634174" cy="639850"/>
          </a:xfrm>
          <a:prstGeom prst="rect">
            <a:avLst/>
          </a:prstGeom>
          <a:noFill/>
          <a:ln>
            <a:noFill/>
          </a:ln>
        </p:spPr>
      </p:pic>
      <p:sp>
        <p:nvSpPr>
          <p:cNvPr id="101" name="Google Shape;101;p19"/>
          <p:cNvSpPr/>
          <p:nvPr/>
        </p:nvSpPr>
        <p:spPr>
          <a:xfrm>
            <a:off x="237500" y="2219778"/>
            <a:ext cx="1452900" cy="602400"/>
          </a:xfrm>
          <a:prstGeom prst="rect">
            <a:avLst/>
          </a:prstGeom>
          <a:solidFill>
            <a:srgbClr val="43434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FFFFFF"/>
                </a:solidFill>
                <a:latin typeface="Helvetica Neue"/>
                <a:ea typeface="Helvetica Neue"/>
                <a:cs typeface="Helvetica Neue"/>
                <a:sym typeface="Helvetica Neue"/>
              </a:rPr>
              <a:t>GitHub</a:t>
            </a:r>
            <a:endParaRPr b="0" i="0" sz="1100" u="none" cap="none" strike="noStrike">
              <a:solidFill>
                <a:srgbClr val="FFFFFF"/>
              </a:solidFill>
              <a:latin typeface="Helvetica Neue"/>
              <a:ea typeface="Helvetica Neue"/>
              <a:cs typeface="Helvetica Neue"/>
              <a:sym typeface="Helvetica Neue"/>
            </a:endParaRPr>
          </a:p>
        </p:txBody>
      </p:sp>
      <p:sp>
        <p:nvSpPr>
          <p:cNvPr id="102" name="Google Shape;102;p19"/>
          <p:cNvSpPr/>
          <p:nvPr/>
        </p:nvSpPr>
        <p:spPr>
          <a:xfrm>
            <a:off x="2648593" y="2378328"/>
            <a:ext cx="1452900" cy="280800"/>
          </a:xfrm>
          <a:prstGeom prst="rect">
            <a:avLst/>
          </a:prstGeom>
          <a:solidFill>
            <a:srgbClr val="3CEF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222222"/>
                </a:solidFill>
                <a:latin typeface="Helvetica Neue"/>
                <a:ea typeface="Helvetica Neue"/>
                <a:cs typeface="Helvetica Neue"/>
                <a:sym typeface="Helvetica Neue"/>
              </a:rPr>
              <a:t>¿Qué es?</a:t>
            </a:r>
            <a:endParaRPr b="0" i="0" sz="1100" u="none" cap="none" strike="noStrike">
              <a:solidFill>
                <a:srgbClr val="222222"/>
              </a:solidFill>
              <a:latin typeface="Helvetica Neue"/>
              <a:ea typeface="Helvetica Neue"/>
              <a:cs typeface="Helvetica Neue"/>
              <a:sym typeface="Helvetica Neue"/>
            </a:endParaRPr>
          </a:p>
        </p:txBody>
      </p:sp>
      <p:cxnSp>
        <p:nvCxnSpPr>
          <p:cNvPr id="103" name="Google Shape;103;p19"/>
          <p:cNvCxnSpPr>
            <a:endCxn id="102" idx="1"/>
          </p:cNvCxnSpPr>
          <p:nvPr/>
        </p:nvCxnSpPr>
        <p:spPr>
          <a:xfrm>
            <a:off x="1690393" y="2518728"/>
            <a:ext cx="958200" cy="0"/>
          </a:xfrm>
          <a:prstGeom prst="straightConnector1">
            <a:avLst/>
          </a:prstGeom>
          <a:noFill/>
          <a:ln cap="flat" cmpd="sng" w="9525">
            <a:solidFill>
              <a:srgbClr val="CCCCCC"/>
            </a:solidFill>
            <a:prstDash val="solid"/>
            <a:round/>
            <a:headEnd len="med" w="med" type="oval"/>
            <a:tailEnd len="med" w="med" type="oval"/>
          </a:ln>
        </p:spPr>
      </p:cxnSp>
      <p:cxnSp>
        <p:nvCxnSpPr>
          <p:cNvPr id="104" name="Google Shape;104;p19"/>
          <p:cNvCxnSpPr>
            <a:endCxn id="105" idx="1"/>
          </p:cNvCxnSpPr>
          <p:nvPr/>
        </p:nvCxnSpPr>
        <p:spPr>
          <a:xfrm>
            <a:off x="1690400" y="2518750"/>
            <a:ext cx="958200" cy="360000"/>
          </a:xfrm>
          <a:prstGeom prst="bentConnector3">
            <a:avLst>
              <a:gd fmla="val 50000" name="adj1"/>
            </a:avLst>
          </a:prstGeom>
          <a:noFill/>
          <a:ln cap="flat" cmpd="sng" w="9525">
            <a:solidFill>
              <a:srgbClr val="CCCCCC"/>
            </a:solidFill>
            <a:prstDash val="solid"/>
            <a:round/>
            <a:headEnd len="sm" w="sm" type="none"/>
            <a:tailEnd len="med" w="med" type="oval"/>
          </a:ln>
        </p:spPr>
      </p:cxnSp>
      <p:sp>
        <p:nvSpPr>
          <p:cNvPr id="105" name="Google Shape;105;p19"/>
          <p:cNvSpPr/>
          <p:nvPr/>
        </p:nvSpPr>
        <p:spPr>
          <a:xfrm>
            <a:off x="2648600" y="2738350"/>
            <a:ext cx="1452900" cy="280800"/>
          </a:xfrm>
          <a:prstGeom prst="rect">
            <a:avLst/>
          </a:prstGeom>
          <a:solidFill>
            <a:srgbClr val="3CEF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222222"/>
                </a:solidFill>
                <a:latin typeface="Helvetica Neue"/>
                <a:ea typeface="Helvetica Neue"/>
                <a:cs typeface="Helvetica Neue"/>
                <a:sym typeface="Helvetica Neue"/>
              </a:rPr>
              <a:t>Creación de cuenta</a:t>
            </a:r>
            <a:endParaRPr b="0" i="0" sz="1100" u="none" cap="none" strike="noStrike">
              <a:solidFill>
                <a:srgbClr val="222222"/>
              </a:solidFill>
              <a:latin typeface="Helvetica Neue"/>
              <a:ea typeface="Helvetica Neue"/>
              <a:cs typeface="Helvetica Neue"/>
              <a:sym typeface="Helvetica Neue"/>
            </a:endParaRPr>
          </a:p>
        </p:txBody>
      </p:sp>
      <p:sp>
        <p:nvSpPr>
          <p:cNvPr id="106" name="Google Shape;106;p19"/>
          <p:cNvSpPr/>
          <p:nvPr/>
        </p:nvSpPr>
        <p:spPr>
          <a:xfrm>
            <a:off x="5059700" y="2738325"/>
            <a:ext cx="1452900" cy="330600"/>
          </a:xfrm>
          <a:prstGeom prst="rect">
            <a:avLst/>
          </a:prstGeom>
          <a:solidFill>
            <a:srgbClr val="3CEF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222222"/>
                </a:solidFill>
                <a:latin typeface="Helvetica Neue"/>
                <a:ea typeface="Helvetica Neue"/>
                <a:cs typeface="Helvetica Neue"/>
                <a:sym typeface="Helvetica Neue"/>
              </a:rPr>
              <a:t>Creación de un repositorio</a:t>
            </a:r>
            <a:endParaRPr b="0" i="0" sz="1100" u="none" cap="none" strike="noStrike">
              <a:solidFill>
                <a:srgbClr val="222222"/>
              </a:solidFill>
              <a:latin typeface="Helvetica Neue"/>
              <a:ea typeface="Helvetica Neue"/>
              <a:cs typeface="Helvetica Neue"/>
              <a:sym typeface="Helvetica Neue"/>
            </a:endParaRPr>
          </a:p>
        </p:txBody>
      </p:sp>
      <p:cxnSp>
        <p:nvCxnSpPr>
          <p:cNvPr id="107" name="Google Shape;107;p19"/>
          <p:cNvCxnSpPr>
            <a:endCxn id="106" idx="1"/>
          </p:cNvCxnSpPr>
          <p:nvPr/>
        </p:nvCxnSpPr>
        <p:spPr>
          <a:xfrm>
            <a:off x="4101500" y="2903625"/>
            <a:ext cx="958200" cy="0"/>
          </a:xfrm>
          <a:prstGeom prst="straightConnector1">
            <a:avLst/>
          </a:prstGeom>
          <a:noFill/>
          <a:ln cap="flat" cmpd="sng" w="9525">
            <a:solidFill>
              <a:srgbClr val="CCCCCC"/>
            </a:solidFill>
            <a:prstDash val="solid"/>
            <a:round/>
            <a:headEnd len="med" w="med" type="oval"/>
            <a:tailEnd len="med" w="med" type="oval"/>
          </a:ln>
        </p:spPr>
      </p:cxnSp>
      <p:sp>
        <p:nvSpPr>
          <p:cNvPr id="108" name="Google Shape;108;p19"/>
          <p:cNvSpPr/>
          <p:nvPr/>
        </p:nvSpPr>
        <p:spPr>
          <a:xfrm>
            <a:off x="7470750" y="2738325"/>
            <a:ext cx="1452900" cy="330600"/>
          </a:xfrm>
          <a:prstGeom prst="rect">
            <a:avLst/>
          </a:prstGeom>
          <a:solidFill>
            <a:srgbClr val="3CEF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222222"/>
                </a:solidFill>
                <a:latin typeface="Helvetica Neue"/>
                <a:ea typeface="Helvetica Neue"/>
                <a:cs typeface="Helvetica Neue"/>
                <a:sym typeface="Helvetica Neue"/>
              </a:rPr>
              <a:t>Subida del repositorio</a:t>
            </a:r>
            <a:endParaRPr b="0" i="0" sz="1100" u="none" cap="none" strike="noStrike">
              <a:solidFill>
                <a:srgbClr val="222222"/>
              </a:solidFill>
              <a:latin typeface="Helvetica Neue"/>
              <a:ea typeface="Helvetica Neue"/>
              <a:cs typeface="Helvetica Neue"/>
              <a:sym typeface="Helvetica Neue"/>
            </a:endParaRPr>
          </a:p>
        </p:txBody>
      </p:sp>
      <p:cxnSp>
        <p:nvCxnSpPr>
          <p:cNvPr id="109" name="Google Shape;109;p19"/>
          <p:cNvCxnSpPr>
            <a:endCxn id="108" idx="1"/>
          </p:cNvCxnSpPr>
          <p:nvPr/>
        </p:nvCxnSpPr>
        <p:spPr>
          <a:xfrm>
            <a:off x="6512550" y="2903625"/>
            <a:ext cx="958200" cy="0"/>
          </a:xfrm>
          <a:prstGeom prst="straightConnector1">
            <a:avLst/>
          </a:prstGeom>
          <a:noFill/>
          <a:ln cap="flat" cmpd="sng" w="9525">
            <a:solidFill>
              <a:srgbClr val="CCCCCC"/>
            </a:solidFill>
            <a:prstDash val="solid"/>
            <a:round/>
            <a:headEnd len="med" w="med" type="oval"/>
            <a:tailEnd len="med" w="med" type="oval"/>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20"/>
          <p:cNvSpPr/>
          <p:nvPr/>
        </p:nvSpPr>
        <p:spPr>
          <a:xfrm>
            <a:off x="3609600" y="1202750"/>
            <a:ext cx="2157900" cy="3138600"/>
          </a:xfrm>
          <a:prstGeom prst="rect">
            <a:avLst/>
          </a:prstGeom>
          <a:noFill/>
          <a:ln cap="flat" cmpd="sng" w="38100">
            <a:solidFill>
              <a:srgbClr val="3CEFA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5" name="Google Shape;115;p20"/>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sp>
        <p:nvSpPr>
          <p:cNvPr id="116" name="Google Shape;116;p20"/>
          <p:cNvSpPr/>
          <p:nvPr/>
        </p:nvSpPr>
        <p:spPr>
          <a:xfrm>
            <a:off x="3778675" y="1333050"/>
            <a:ext cx="1819800" cy="3306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7" name="Google Shape;117;p20"/>
          <p:cNvCxnSpPr/>
          <p:nvPr/>
        </p:nvCxnSpPr>
        <p:spPr>
          <a:xfrm>
            <a:off x="3761100" y="2446275"/>
            <a:ext cx="1854900" cy="0"/>
          </a:xfrm>
          <a:prstGeom prst="straightConnector1">
            <a:avLst/>
          </a:prstGeom>
          <a:noFill/>
          <a:ln cap="flat" cmpd="sng" w="9525">
            <a:solidFill>
              <a:srgbClr val="EFEFEF"/>
            </a:solidFill>
            <a:prstDash val="solid"/>
            <a:round/>
            <a:headEnd len="sm" w="sm" type="none"/>
            <a:tailEnd len="sm" w="sm" type="none"/>
          </a:ln>
        </p:spPr>
      </p:cxnSp>
      <p:cxnSp>
        <p:nvCxnSpPr>
          <p:cNvPr id="118" name="Google Shape;118;p20"/>
          <p:cNvCxnSpPr/>
          <p:nvPr/>
        </p:nvCxnSpPr>
        <p:spPr>
          <a:xfrm>
            <a:off x="3761100" y="2928356"/>
            <a:ext cx="1854900" cy="0"/>
          </a:xfrm>
          <a:prstGeom prst="straightConnector1">
            <a:avLst/>
          </a:prstGeom>
          <a:noFill/>
          <a:ln cap="flat" cmpd="sng" w="9525">
            <a:solidFill>
              <a:srgbClr val="EFEFEF"/>
            </a:solidFill>
            <a:prstDash val="solid"/>
            <a:round/>
            <a:headEnd len="sm" w="sm" type="none"/>
            <a:tailEnd len="sm" w="sm" type="none"/>
          </a:ln>
        </p:spPr>
      </p:cxnSp>
      <p:cxnSp>
        <p:nvCxnSpPr>
          <p:cNvPr id="119" name="Google Shape;119;p20"/>
          <p:cNvCxnSpPr/>
          <p:nvPr/>
        </p:nvCxnSpPr>
        <p:spPr>
          <a:xfrm>
            <a:off x="3761100" y="3843832"/>
            <a:ext cx="1854900" cy="0"/>
          </a:xfrm>
          <a:prstGeom prst="straightConnector1">
            <a:avLst/>
          </a:prstGeom>
          <a:noFill/>
          <a:ln cap="flat" cmpd="sng" w="9525">
            <a:solidFill>
              <a:srgbClr val="EFEFEF"/>
            </a:solidFill>
            <a:prstDash val="solid"/>
            <a:round/>
            <a:headEnd len="sm" w="sm" type="none"/>
            <a:tailEnd len="sm" w="sm" type="none"/>
          </a:ln>
        </p:spPr>
      </p:cxnSp>
      <p:cxnSp>
        <p:nvCxnSpPr>
          <p:cNvPr id="120" name="Google Shape;120;p20"/>
          <p:cNvCxnSpPr/>
          <p:nvPr/>
        </p:nvCxnSpPr>
        <p:spPr>
          <a:xfrm>
            <a:off x="3761100" y="3380081"/>
            <a:ext cx="1854900" cy="0"/>
          </a:xfrm>
          <a:prstGeom prst="straightConnector1">
            <a:avLst/>
          </a:prstGeom>
          <a:noFill/>
          <a:ln cap="flat" cmpd="sng" w="9525">
            <a:solidFill>
              <a:srgbClr val="EFEFEF"/>
            </a:solidFill>
            <a:prstDash val="solid"/>
            <a:round/>
            <a:headEnd len="sm" w="sm" type="none"/>
            <a:tailEnd len="sm" w="sm" type="none"/>
          </a:ln>
        </p:spPr>
      </p:cxnSp>
      <p:pic>
        <p:nvPicPr>
          <p:cNvPr id="121" name="Google Shape;121;p20"/>
          <p:cNvPicPr preferRelativeResize="0"/>
          <p:nvPr/>
        </p:nvPicPr>
        <p:blipFill rotWithShape="1">
          <a:blip r:embed="rId4">
            <a:alphaModFix/>
          </a:blip>
          <a:srcRect b="0" l="0" r="0" t="0"/>
          <a:stretch/>
        </p:blipFill>
        <p:spPr>
          <a:xfrm>
            <a:off x="5276200" y="1391289"/>
            <a:ext cx="196500" cy="196500"/>
          </a:xfrm>
          <a:prstGeom prst="rect">
            <a:avLst/>
          </a:prstGeom>
          <a:noFill/>
          <a:ln>
            <a:noFill/>
          </a:ln>
        </p:spPr>
      </p:pic>
      <p:sp>
        <p:nvSpPr>
          <p:cNvPr id="122" name="Google Shape;122;p20"/>
          <p:cNvSpPr/>
          <p:nvPr/>
        </p:nvSpPr>
        <p:spPr>
          <a:xfrm>
            <a:off x="1208850" y="1239825"/>
            <a:ext cx="2157900" cy="3138600"/>
          </a:xfrm>
          <a:prstGeom prst="rect">
            <a:avLst/>
          </a:prstGeom>
          <a:no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0"/>
          <p:cNvSpPr/>
          <p:nvPr/>
        </p:nvSpPr>
        <p:spPr>
          <a:xfrm>
            <a:off x="1395175" y="1333050"/>
            <a:ext cx="1819800" cy="3306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4" name="Google Shape;124;p20"/>
          <p:cNvCxnSpPr/>
          <p:nvPr/>
        </p:nvCxnSpPr>
        <p:spPr>
          <a:xfrm>
            <a:off x="1377600" y="2446275"/>
            <a:ext cx="1854900" cy="0"/>
          </a:xfrm>
          <a:prstGeom prst="straightConnector1">
            <a:avLst/>
          </a:prstGeom>
          <a:noFill/>
          <a:ln cap="flat" cmpd="sng" w="9525">
            <a:solidFill>
              <a:srgbClr val="EFEFEF"/>
            </a:solidFill>
            <a:prstDash val="solid"/>
            <a:round/>
            <a:headEnd len="sm" w="sm" type="none"/>
            <a:tailEnd len="sm" w="sm" type="none"/>
          </a:ln>
        </p:spPr>
      </p:cxnSp>
      <p:cxnSp>
        <p:nvCxnSpPr>
          <p:cNvPr id="125" name="Google Shape;125;p20"/>
          <p:cNvCxnSpPr/>
          <p:nvPr/>
        </p:nvCxnSpPr>
        <p:spPr>
          <a:xfrm>
            <a:off x="1377600" y="3843832"/>
            <a:ext cx="1854900" cy="0"/>
          </a:xfrm>
          <a:prstGeom prst="straightConnector1">
            <a:avLst/>
          </a:prstGeom>
          <a:noFill/>
          <a:ln cap="flat" cmpd="sng" w="9525">
            <a:solidFill>
              <a:srgbClr val="EFEFEF"/>
            </a:solidFill>
            <a:prstDash val="solid"/>
            <a:round/>
            <a:headEnd len="sm" w="sm" type="none"/>
            <a:tailEnd len="sm" w="sm" type="none"/>
          </a:ln>
        </p:spPr>
      </p:cxnSp>
      <p:cxnSp>
        <p:nvCxnSpPr>
          <p:cNvPr id="126" name="Google Shape;126;p20"/>
          <p:cNvCxnSpPr/>
          <p:nvPr/>
        </p:nvCxnSpPr>
        <p:spPr>
          <a:xfrm>
            <a:off x="1377600" y="3380081"/>
            <a:ext cx="1854900" cy="0"/>
          </a:xfrm>
          <a:prstGeom prst="straightConnector1">
            <a:avLst/>
          </a:prstGeom>
          <a:noFill/>
          <a:ln cap="flat" cmpd="sng" w="9525">
            <a:solidFill>
              <a:srgbClr val="EFEFEF"/>
            </a:solidFill>
            <a:prstDash val="solid"/>
            <a:round/>
            <a:headEnd len="sm" w="sm" type="none"/>
            <a:tailEnd len="sm" w="sm" type="none"/>
          </a:ln>
        </p:spPr>
      </p:cxnSp>
      <p:pic>
        <p:nvPicPr>
          <p:cNvPr id="127" name="Google Shape;127;p20"/>
          <p:cNvPicPr preferRelativeResize="0"/>
          <p:nvPr/>
        </p:nvPicPr>
        <p:blipFill rotWithShape="1">
          <a:blip r:embed="rId4">
            <a:alphaModFix/>
          </a:blip>
          <a:srcRect b="0" l="0" r="0" t="0"/>
          <a:stretch/>
        </p:blipFill>
        <p:spPr>
          <a:xfrm>
            <a:off x="2966250" y="1391289"/>
            <a:ext cx="196500" cy="196500"/>
          </a:xfrm>
          <a:prstGeom prst="rect">
            <a:avLst/>
          </a:prstGeom>
          <a:noFill/>
          <a:ln>
            <a:noFill/>
          </a:ln>
        </p:spPr>
      </p:pic>
      <p:sp>
        <p:nvSpPr>
          <p:cNvPr id="128" name="Google Shape;128;p20"/>
          <p:cNvSpPr/>
          <p:nvPr/>
        </p:nvSpPr>
        <p:spPr>
          <a:xfrm>
            <a:off x="6010350" y="1163625"/>
            <a:ext cx="2157900" cy="3138600"/>
          </a:xfrm>
          <a:prstGeom prst="rect">
            <a:avLst/>
          </a:prstGeom>
          <a:no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0"/>
          <p:cNvSpPr/>
          <p:nvPr/>
        </p:nvSpPr>
        <p:spPr>
          <a:xfrm>
            <a:off x="6162175" y="1333050"/>
            <a:ext cx="1819800" cy="3306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20"/>
          <p:cNvSpPr txBox="1"/>
          <p:nvPr/>
        </p:nvSpPr>
        <p:spPr>
          <a:xfrm>
            <a:off x="1578458" y="1305800"/>
            <a:ext cx="12348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Helvetica Neue"/>
                <a:ea typeface="Helvetica Neue"/>
                <a:cs typeface="Helvetica Neue"/>
                <a:sym typeface="Helvetica Neue"/>
              </a:rPr>
              <a:t>Clase </a:t>
            </a:r>
            <a:r>
              <a:rPr lang="es">
                <a:latin typeface="Helvetica Neue"/>
                <a:ea typeface="Helvetica Neue"/>
                <a:cs typeface="Helvetica Neue"/>
                <a:sym typeface="Helvetica Neue"/>
              </a:rPr>
              <a:t>9</a:t>
            </a:r>
            <a:endParaRPr b="0" i="0" sz="1400" u="none" cap="none" strike="noStrike">
              <a:solidFill>
                <a:srgbClr val="000000"/>
              </a:solidFill>
              <a:latin typeface="Helvetica Neue"/>
              <a:ea typeface="Helvetica Neue"/>
              <a:cs typeface="Helvetica Neue"/>
              <a:sym typeface="Helvetica Neue"/>
            </a:endParaRPr>
          </a:p>
        </p:txBody>
      </p:sp>
      <p:cxnSp>
        <p:nvCxnSpPr>
          <p:cNvPr id="131" name="Google Shape;131;p20"/>
          <p:cNvCxnSpPr/>
          <p:nvPr/>
        </p:nvCxnSpPr>
        <p:spPr>
          <a:xfrm>
            <a:off x="6144600" y="2446275"/>
            <a:ext cx="1854900" cy="0"/>
          </a:xfrm>
          <a:prstGeom prst="straightConnector1">
            <a:avLst/>
          </a:prstGeom>
          <a:noFill/>
          <a:ln cap="flat" cmpd="sng" w="9525">
            <a:solidFill>
              <a:srgbClr val="EFEFEF"/>
            </a:solidFill>
            <a:prstDash val="solid"/>
            <a:round/>
            <a:headEnd len="sm" w="sm" type="none"/>
            <a:tailEnd len="sm" w="sm" type="none"/>
          </a:ln>
        </p:spPr>
      </p:cxnSp>
      <p:cxnSp>
        <p:nvCxnSpPr>
          <p:cNvPr id="132" name="Google Shape;132;p20"/>
          <p:cNvCxnSpPr/>
          <p:nvPr/>
        </p:nvCxnSpPr>
        <p:spPr>
          <a:xfrm>
            <a:off x="6144600" y="2928356"/>
            <a:ext cx="1854900" cy="0"/>
          </a:xfrm>
          <a:prstGeom prst="straightConnector1">
            <a:avLst/>
          </a:prstGeom>
          <a:noFill/>
          <a:ln cap="flat" cmpd="sng" w="9525">
            <a:solidFill>
              <a:srgbClr val="EFEFEF"/>
            </a:solidFill>
            <a:prstDash val="solid"/>
            <a:round/>
            <a:headEnd len="sm" w="sm" type="none"/>
            <a:tailEnd len="sm" w="sm" type="none"/>
          </a:ln>
        </p:spPr>
      </p:cxnSp>
      <p:cxnSp>
        <p:nvCxnSpPr>
          <p:cNvPr id="133" name="Google Shape;133;p20"/>
          <p:cNvCxnSpPr/>
          <p:nvPr/>
        </p:nvCxnSpPr>
        <p:spPr>
          <a:xfrm>
            <a:off x="6144600" y="3843832"/>
            <a:ext cx="1854900" cy="0"/>
          </a:xfrm>
          <a:prstGeom prst="straightConnector1">
            <a:avLst/>
          </a:prstGeom>
          <a:noFill/>
          <a:ln cap="flat" cmpd="sng" w="9525">
            <a:solidFill>
              <a:srgbClr val="EFEFEF"/>
            </a:solidFill>
            <a:prstDash val="solid"/>
            <a:round/>
            <a:headEnd len="sm" w="sm" type="none"/>
            <a:tailEnd len="sm" w="sm" type="none"/>
          </a:ln>
        </p:spPr>
      </p:cxnSp>
      <p:cxnSp>
        <p:nvCxnSpPr>
          <p:cNvPr id="134" name="Google Shape;134;p20"/>
          <p:cNvCxnSpPr/>
          <p:nvPr/>
        </p:nvCxnSpPr>
        <p:spPr>
          <a:xfrm>
            <a:off x="6144600" y="3380081"/>
            <a:ext cx="1854900" cy="0"/>
          </a:xfrm>
          <a:prstGeom prst="straightConnector1">
            <a:avLst/>
          </a:prstGeom>
          <a:noFill/>
          <a:ln cap="flat" cmpd="sng" w="9525">
            <a:solidFill>
              <a:srgbClr val="EFEFEF"/>
            </a:solidFill>
            <a:prstDash val="solid"/>
            <a:round/>
            <a:headEnd len="sm" w="sm" type="none"/>
            <a:tailEnd len="sm" w="sm" type="none"/>
          </a:ln>
        </p:spPr>
      </p:cxnSp>
      <p:pic>
        <p:nvPicPr>
          <p:cNvPr id="135" name="Google Shape;135;p20"/>
          <p:cNvPicPr preferRelativeResize="0"/>
          <p:nvPr/>
        </p:nvPicPr>
        <p:blipFill rotWithShape="1">
          <a:blip r:embed="rId4">
            <a:alphaModFix/>
          </a:blip>
          <a:srcRect b="0" l="0" r="0" t="0"/>
          <a:stretch/>
        </p:blipFill>
        <p:spPr>
          <a:xfrm>
            <a:off x="7733250" y="1391289"/>
            <a:ext cx="196500" cy="196500"/>
          </a:xfrm>
          <a:prstGeom prst="rect">
            <a:avLst/>
          </a:prstGeom>
          <a:noFill/>
          <a:ln>
            <a:noFill/>
          </a:ln>
        </p:spPr>
      </p:pic>
      <p:sp>
        <p:nvSpPr>
          <p:cNvPr id="136" name="Google Shape;136;p20"/>
          <p:cNvSpPr txBox="1"/>
          <p:nvPr/>
        </p:nvSpPr>
        <p:spPr>
          <a:xfrm>
            <a:off x="1398000" y="213650"/>
            <a:ext cx="6348000" cy="989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0" i="1" lang="es" sz="3600" u="none" cap="none" strike="noStrike">
                <a:solidFill>
                  <a:srgbClr val="121212"/>
                </a:solidFill>
                <a:latin typeface="Anton"/>
                <a:ea typeface="Anton"/>
                <a:cs typeface="Anton"/>
                <a:sym typeface="Anton"/>
              </a:rPr>
              <a:t>CRONOGRAMA DEL CURSO</a:t>
            </a:r>
            <a:endParaRPr b="0" i="1" sz="3600" u="none" cap="none" strike="noStrike">
              <a:solidFill>
                <a:srgbClr val="121212"/>
              </a:solidFill>
              <a:latin typeface="Anton"/>
              <a:ea typeface="Anton"/>
              <a:cs typeface="Anton"/>
              <a:sym typeface="Anton"/>
            </a:endParaRPr>
          </a:p>
        </p:txBody>
      </p:sp>
      <p:sp>
        <p:nvSpPr>
          <p:cNvPr id="137" name="Google Shape;137;p20"/>
          <p:cNvSpPr txBox="1"/>
          <p:nvPr/>
        </p:nvSpPr>
        <p:spPr>
          <a:xfrm>
            <a:off x="3864458" y="1305800"/>
            <a:ext cx="12348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Helvetica Neue"/>
                <a:ea typeface="Helvetica Neue"/>
                <a:cs typeface="Helvetica Neue"/>
                <a:sym typeface="Helvetica Neue"/>
              </a:rPr>
              <a:t>Clase </a:t>
            </a:r>
            <a:r>
              <a:rPr lang="es">
                <a:latin typeface="Helvetica Neue"/>
                <a:ea typeface="Helvetica Neue"/>
                <a:cs typeface="Helvetica Neue"/>
                <a:sym typeface="Helvetica Neue"/>
              </a:rPr>
              <a:t>10</a:t>
            </a:r>
            <a:endParaRPr b="0" i="0" sz="1400" u="none" cap="none" strike="noStrike">
              <a:solidFill>
                <a:srgbClr val="000000"/>
              </a:solidFill>
              <a:latin typeface="Helvetica Neue"/>
              <a:ea typeface="Helvetica Neue"/>
              <a:cs typeface="Helvetica Neue"/>
              <a:sym typeface="Helvetica Neue"/>
            </a:endParaRPr>
          </a:p>
        </p:txBody>
      </p:sp>
      <p:sp>
        <p:nvSpPr>
          <p:cNvPr id="138" name="Google Shape;138;p20"/>
          <p:cNvSpPr txBox="1"/>
          <p:nvPr/>
        </p:nvSpPr>
        <p:spPr>
          <a:xfrm>
            <a:off x="6302858" y="1305800"/>
            <a:ext cx="12348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Helvetica Neue"/>
                <a:ea typeface="Helvetica Neue"/>
                <a:cs typeface="Helvetica Neue"/>
                <a:sym typeface="Helvetica Neue"/>
              </a:rPr>
              <a:t>Clase </a:t>
            </a:r>
            <a:r>
              <a:rPr lang="es">
                <a:latin typeface="Helvetica Neue"/>
                <a:ea typeface="Helvetica Neue"/>
                <a:cs typeface="Helvetica Neue"/>
                <a:sym typeface="Helvetica Neue"/>
              </a:rPr>
              <a:t>11</a:t>
            </a:r>
            <a:endParaRPr b="0" i="0" sz="1400" u="none" cap="none" strike="noStrike">
              <a:solidFill>
                <a:srgbClr val="000000"/>
              </a:solidFill>
              <a:latin typeface="Helvetica Neue"/>
              <a:ea typeface="Helvetica Neue"/>
              <a:cs typeface="Helvetica Neue"/>
              <a:sym typeface="Helvetica Neue"/>
            </a:endParaRPr>
          </a:p>
        </p:txBody>
      </p:sp>
      <p:sp>
        <p:nvSpPr>
          <p:cNvPr id="139" name="Google Shape;139;p20"/>
          <p:cNvSpPr txBox="1"/>
          <p:nvPr/>
        </p:nvSpPr>
        <p:spPr>
          <a:xfrm>
            <a:off x="1373400" y="1760963"/>
            <a:ext cx="1905900" cy="424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es" sz="1100" u="none" cap="none" strike="noStrike">
                <a:solidFill>
                  <a:schemeClr val="dk1"/>
                </a:solidFill>
                <a:latin typeface="Helvetica Neue"/>
                <a:ea typeface="Helvetica Neue"/>
                <a:cs typeface="Helvetica Neue"/>
                <a:sym typeface="Helvetica Neue"/>
              </a:rPr>
              <a:t>Git</a:t>
            </a:r>
            <a:endParaRPr b="1" i="0" sz="1100" u="none" cap="none" strike="noStrike">
              <a:solidFill>
                <a:schemeClr val="dk1"/>
              </a:solidFill>
              <a:latin typeface="Helvetica Neue"/>
              <a:ea typeface="Helvetica Neue"/>
              <a:cs typeface="Helvetica Neue"/>
              <a:sym typeface="Helvetica Neue"/>
            </a:endParaRPr>
          </a:p>
          <a:p>
            <a:pPr indent="0" lvl="0" marL="0" marR="0" rtl="0" algn="l">
              <a:lnSpc>
                <a:spcPct val="115000"/>
              </a:lnSpc>
              <a:spcBef>
                <a:spcPts val="0"/>
              </a:spcBef>
              <a:spcAft>
                <a:spcPts val="0"/>
              </a:spcAft>
              <a:buClr>
                <a:schemeClr val="dk1"/>
              </a:buClr>
              <a:buSzPts val="1100"/>
              <a:buFont typeface="Arial"/>
              <a:buNone/>
            </a:pPr>
            <a:r>
              <a:t/>
            </a:r>
            <a:endParaRPr b="1" i="0" sz="1200" u="none" cap="none" strike="noStrike">
              <a:solidFill>
                <a:schemeClr val="dk1"/>
              </a:solidFill>
              <a:latin typeface="Helvetica Neue"/>
              <a:ea typeface="Helvetica Neue"/>
              <a:cs typeface="Helvetica Neue"/>
              <a:sym typeface="Helvetica Neue"/>
            </a:endParaRPr>
          </a:p>
          <a:p>
            <a:pPr indent="0" lvl="0" marL="0" marR="0" rtl="0" algn="l">
              <a:lnSpc>
                <a:spcPct val="115000"/>
              </a:lnSpc>
              <a:spcBef>
                <a:spcPts val="0"/>
              </a:spcBef>
              <a:spcAft>
                <a:spcPts val="0"/>
              </a:spcAft>
              <a:buClr>
                <a:schemeClr val="dk1"/>
              </a:buClr>
              <a:buSzPts val="1100"/>
              <a:buFont typeface="Arial"/>
              <a:buNone/>
            </a:pPr>
            <a:r>
              <a:t/>
            </a:r>
            <a:endParaRPr b="1" i="0" sz="1200" u="none" cap="none" strike="noStrike">
              <a:solidFill>
                <a:schemeClr val="dk1"/>
              </a:solidFill>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Helvetica Neue"/>
              <a:ea typeface="Helvetica Neue"/>
              <a:cs typeface="Helvetica Neue"/>
              <a:sym typeface="Helvetica Neue"/>
            </a:endParaRPr>
          </a:p>
        </p:txBody>
      </p:sp>
      <p:sp>
        <p:nvSpPr>
          <p:cNvPr id="140" name="Google Shape;140;p20"/>
          <p:cNvSpPr txBox="1"/>
          <p:nvPr/>
        </p:nvSpPr>
        <p:spPr>
          <a:xfrm>
            <a:off x="1785375" y="2430875"/>
            <a:ext cx="1186500" cy="315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s" sz="700" u="none" cap="none" strike="noStrike">
                <a:solidFill>
                  <a:srgbClr val="000000"/>
                </a:solidFill>
                <a:latin typeface="Helvetica Neue"/>
                <a:ea typeface="Helvetica Neue"/>
                <a:cs typeface="Helvetica Neue"/>
                <a:sym typeface="Helvetica Neue"/>
              </a:rPr>
              <a:t>PRÁCTICAS DE LO VISTO EN CLASE</a:t>
            </a:r>
            <a:endParaRPr b="0" i="0" sz="7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Helvetica Neue"/>
              <a:ea typeface="Helvetica Neue"/>
              <a:cs typeface="Helvetica Neue"/>
              <a:sym typeface="Helvetica Neue"/>
            </a:endParaRPr>
          </a:p>
        </p:txBody>
      </p:sp>
      <p:pic>
        <p:nvPicPr>
          <p:cNvPr id="141" name="Google Shape;141;p20"/>
          <p:cNvPicPr preferRelativeResize="0"/>
          <p:nvPr/>
        </p:nvPicPr>
        <p:blipFill rotWithShape="1">
          <a:blip r:embed="rId5">
            <a:alphaModFix/>
          </a:blip>
          <a:srcRect b="0" l="0" r="0" t="0"/>
          <a:stretch/>
        </p:blipFill>
        <p:spPr>
          <a:xfrm>
            <a:off x="1449575" y="2450300"/>
            <a:ext cx="365625" cy="365625"/>
          </a:xfrm>
          <a:prstGeom prst="rect">
            <a:avLst/>
          </a:prstGeom>
          <a:noFill/>
          <a:ln>
            <a:noFill/>
          </a:ln>
        </p:spPr>
      </p:pic>
      <p:sp>
        <p:nvSpPr>
          <p:cNvPr id="142" name="Google Shape;142;p20"/>
          <p:cNvSpPr txBox="1"/>
          <p:nvPr/>
        </p:nvSpPr>
        <p:spPr>
          <a:xfrm>
            <a:off x="3735600" y="1760963"/>
            <a:ext cx="1905900" cy="424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es" sz="1100" u="none" cap="none" strike="noStrike">
                <a:solidFill>
                  <a:schemeClr val="dk1"/>
                </a:solidFill>
                <a:latin typeface="Helvetica Neue"/>
                <a:ea typeface="Helvetica Neue"/>
                <a:cs typeface="Helvetica Neue"/>
                <a:sym typeface="Helvetica Neue"/>
              </a:rPr>
              <a:t>GitHub</a:t>
            </a:r>
            <a:endParaRPr b="1" i="0" sz="1100" u="none" cap="none" strike="noStrike">
              <a:solidFill>
                <a:schemeClr val="dk1"/>
              </a:solidFill>
              <a:latin typeface="Helvetica Neue"/>
              <a:ea typeface="Helvetica Neue"/>
              <a:cs typeface="Helvetica Neue"/>
              <a:sym typeface="Helvetica Neue"/>
            </a:endParaRPr>
          </a:p>
          <a:p>
            <a:pPr indent="0" lvl="0" marL="0" marR="0" rtl="0" algn="l">
              <a:lnSpc>
                <a:spcPct val="115000"/>
              </a:lnSpc>
              <a:spcBef>
                <a:spcPts val="0"/>
              </a:spcBef>
              <a:spcAft>
                <a:spcPts val="0"/>
              </a:spcAft>
              <a:buClr>
                <a:schemeClr val="dk1"/>
              </a:buClr>
              <a:buSzPts val="1100"/>
              <a:buFont typeface="Arial"/>
              <a:buNone/>
            </a:pPr>
            <a:r>
              <a:t/>
            </a:r>
            <a:endParaRPr b="1" i="0" sz="1200" u="none" cap="none" strike="noStrike">
              <a:solidFill>
                <a:schemeClr val="dk1"/>
              </a:solidFill>
              <a:latin typeface="Helvetica Neue"/>
              <a:ea typeface="Helvetica Neue"/>
              <a:cs typeface="Helvetica Neue"/>
              <a:sym typeface="Helvetica Neue"/>
            </a:endParaRPr>
          </a:p>
          <a:p>
            <a:pPr indent="0" lvl="0" marL="0" marR="0" rtl="0" algn="l">
              <a:lnSpc>
                <a:spcPct val="115000"/>
              </a:lnSpc>
              <a:spcBef>
                <a:spcPts val="0"/>
              </a:spcBef>
              <a:spcAft>
                <a:spcPts val="0"/>
              </a:spcAft>
              <a:buClr>
                <a:schemeClr val="dk1"/>
              </a:buClr>
              <a:buSzPts val="1100"/>
              <a:buFont typeface="Arial"/>
              <a:buNone/>
            </a:pPr>
            <a:r>
              <a:t/>
            </a:r>
            <a:endParaRPr b="1" i="0" sz="1200" u="none" cap="none" strike="noStrike">
              <a:solidFill>
                <a:schemeClr val="dk1"/>
              </a:solidFill>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Helvetica Neue"/>
              <a:ea typeface="Helvetica Neue"/>
              <a:cs typeface="Helvetica Neue"/>
              <a:sym typeface="Helvetica Neue"/>
            </a:endParaRPr>
          </a:p>
        </p:txBody>
      </p:sp>
      <p:sp>
        <p:nvSpPr>
          <p:cNvPr id="143" name="Google Shape;143;p20"/>
          <p:cNvSpPr txBox="1"/>
          <p:nvPr/>
        </p:nvSpPr>
        <p:spPr>
          <a:xfrm>
            <a:off x="4147575" y="2430875"/>
            <a:ext cx="1186500" cy="315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s" sz="700" u="none" cap="none" strike="noStrike">
                <a:solidFill>
                  <a:srgbClr val="000000"/>
                </a:solidFill>
                <a:latin typeface="Helvetica Neue"/>
                <a:ea typeface="Helvetica Neue"/>
                <a:cs typeface="Helvetica Neue"/>
                <a:sym typeface="Helvetica Neue"/>
              </a:rPr>
              <a:t>PRÁCTICAS DE LO VISTO EN CLASE</a:t>
            </a:r>
            <a:endParaRPr b="0" i="0" sz="7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Helvetica Neue"/>
              <a:ea typeface="Helvetica Neue"/>
              <a:cs typeface="Helvetica Neue"/>
              <a:sym typeface="Helvetica Neue"/>
            </a:endParaRPr>
          </a:p>
        </p:txBody>
      </p:sp>
      <p:pic>
        <p:nvPicPr>
          <p:cNvPr id="144" name="Google Shape;144;p20"/>
          <p:cNvPicPr preferRelativeResize="0"/>
          <p:nvPr/>
        </p:nvPicPr>
        <p:blipFill rotWithShape="1">
          <a:blip r:embed="rId5">
            <a:alphaModFix/>
          </a:blip>
          <a:srcRect b="0" l="0" r="0" t="0"/>
          <a:stretch/>
        </p:blipFill>
        <p:spPr>
          <a:xfrm>
            <a:off x="3811775" y="2450300"/>
            <a:ext cx="365625" cy="365625"/>
          </a:xfrm>
          <a:prstGeom prst="rect">
            <a:avLst/>
          </a:prstGeom>
          <a:noFill/>
          <a:ln>
            <a:noFill/>
          </a:ln>
        </p:spPr>
      </p:pic>
      <p:sp>
        <p:nvSpPr>
          <p:cNvPr id="145" name="Google Shape;145;p20"/>
          <p:cNvSpPr txBox="1"/>
          <p:nvPr/>
        </p:nvSpPr>
        <p:spPr>
          <a:xfrm>
            <a:off x="4148138" y="2956238"/>
            <a:ext cx="1389600" cy="28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s" sz="700" u="none" cap="none" strike="noStrike">
                <a:solidFill>
                  <a:srgbClr val="000000"/>
                </a:solidFill>
                <a:latin typeface="Helvetica Neue"/>
                <a:ea typeface="Helvetica Neue"/>
                <a:cs typeface="Helvetica Neue"/>
                <a:sym typeface="Helvetica Neue"/>
              </a:rPr>
              <a:t>CREAR REPOSITORIO EN GITHUB</a:t>
            </a:r>
            <a:endParaRPr b="0" i="0" sz="7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Helvetica Neue"/>
              <a:ea typeface="Helvetica Neue"/>
              <a:cs typeface="Helvetica Neue"/>
              <a:sym typeface="Helvetica Neue"/>
            </a:endParaRPr>
          </a:p>
        </p:txBody>
      </p:sp>
      <p:sp>
        <p:nvSpPr>
          <p:cNvPr id="146" name="Google Shape;146;p20"/>
          <p:cNvSpPr txBox="1"/>
          <p:nvPr/>
        </p:nvSpPr>
        <p:spPr>
          <a:xfrm>
            <a:off x="6174000" y="1760963"/>
            <a:ext cx="1905900" cy="424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s" sz="1100">
                <a:solidFill>
                  <a:schemeClr val="dk1"/>
                </a:solidFill>
                <a:latin typeface="Helvetica Neue"/>
                <a:ea typeface="Helvetica Neue"/>
                <a:cs typeface="Helvetica Neue"/>
                <a:sym typeface="Helvetica Neue"/>
              </a:rPr>
              <a:t>Framework CSS + Bootstrap</a:t>
            </a:r>
            <a:endParaRPr b="1" i="0" sz="1100" u="none" cap="none" strike="noStrike">
              <a:solidFill>
                <a:schemeClr val="dk1"/>
              </a:solidFill>
              <a:latin typeface="Helvetica Neue"/>
              <a:ea typeface="Helvetica Neue"/>
              <a:cs typeface="Helvetica Neue"/>
              <a:sym typeface="Helvetica Neue"/>
            </a:endParaRPr>
          </a:p>
          <a:p>
            <a:pPr indent="0" lvl="0" marL="0" marR="0" rtl="0" algn="l">
              <a:lnSpc>
                <a:spcPct val="115000"/>
              </a:lnSpc>
              <a:spcBef>
                <a:spcPts val="0"/>
              </a:spcBef>
              <a:spcAft>
                <a:spcPts val="0"/>
              </a:spcAft>
              <a:buClr>
                <a:schemeClr val="dk1"/>
              </a:buClr>
              <a:buSzPts val="1100"/>
              <a:buFont typeface="Arial"/>
              <a:buNone/>
            </a:pPr>
            <a:r>
              <a:t/>
            </a:r>
            <a:endParaRPr b="1" i="0" sz="1200" u="none" cap="none" strike="noStrike">
              <a:solidFill>
                <a:schemeClr val="dk1"/>
              </a:solidFill>
              <a:latin typeface="Helvetica Neue"/>
              <a:ea typeface="Helvetica Neue"/>
              <a:cs typeface="Helvetica Neue"/>
              <a:sym typeface="Helvetica Neue"/>
            </a:endParaRPr>
          </a:p>
          <a:p>
            <a:pPr indent="0" lvl="0" marL="0" marR="0" rtl="0" algn="l">
              <a:lnSpc>
                <a:spcPct val="115000"/>
              </a:lnSpc>
              <a:spcBef>
                <a:spcPts val="0"/>
              </a:spcBef>
              <a:spcAft>
                <a:spcPts val="0"/>
              </a:spcAft>
              <a:buClr>
                <a:schemeClr val="dk1"/>
              </a:buClr>
              <a:buSzPts val="1100"/>
              <a:buFont typeface="Arial"/>
              <a:buNone/>
            </a:pPr>
            <a:r>
              <a:t/>
            </a:r>
            <a:endParaRPr b="1" i="0" sz="1200" u="none" cap="none" strike="noStrike">
              <a:solidFill>
                <a:schemeClr val="dk1"/>
              </a:solidFill>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Helvetica Neue"/>
              <a:ea typeface="Helvetica Neue"/>
              <a:cs typeface="Helvetica Neue"/>
              <a:sym typeface="Helvetica Neue"/>
            </a:endParaRPr>
          </a:p>
        </p:txBody>
      </p:sp>
      <p:sp>
        <p:nvSpPr>
          <p:cNvPr id="147" name="Google Shape;147;p20"/>
          <p:cNvSpPr txBox="1"/>
          <p:nvPr/>
        </p:nvSpPr>
        <p:spPr>
          <a:xfrm>
            <a:off x="6518588" y="2569338"/>
            <a:ext cx="1389600" cy="28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lang="es" sz="700">
                <a:latin typeface="Helvetica Neue"/>
                <a:ea typeface="Helvetica Neue"/>
                <a:cs typeface="Helvetica Neue"/>
                <a:sym typeface="Helvetica Neue"/>
              </a:rPr>
              <a:t>MAQUETAR CON BOOTS</a:t>
            </a:r>
            <a:endParaRPr b="0" i="0" sz="7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Helvetica Neue"/>
              <a:ea typeface="Helvetica Neue"/>
              <a:cs typeface="Helvetica Neue"/>
              <a:sym typeface="Helvetica Neue"/>
            </a:endParaRPr>
          </a:p>
        </p:txBody>
      </p:sp>
      <p:pic>
        <p:nvPicPr>
          <p:cNvPr id="148" name="Google Shape;148;p20"/>
          <p:cNvPicPr preferRelativeResize="0"/>
          <p:nvPr/>
        </p:nvPicPr>
        <p:blipFill rotWithShape="1">
          <a:blip r:embed="rId6">
            <a:alphaModFix/>
          </a:blip>
          <a:srcRect b="0" l="0" r="0" t="0"/>
          <a:stretch/>
        </p:blipFill>
        <p:spPr>
          <a:xfrm>
            <a:off x="3841000" y="3000626"/>
            <a:ext cx="307150" cy="307150"/>
          </a:xfrm>
          <a:prstGeom prst="rect">
            <a:avLst/>
          </a:prstGeom>
          <a:noFill/>
          <a:ln>
            <a:noFill/>
          </a:ln>
        </p:spPr>
      </p:pic>
      <p:pic>
        <p:nvPicPr>
          <p:cNvPr id="149" name="Google Shape;149;p20"/>
          <p:cNvPicPr preferRelativeResize="0"/>
          <p:nvPr/>
        </p:nvPicPr>
        <p:blipFill rotWithShape="1">
          <a:blip r:embed="rId6">
            <a:alphaModFix/>
          </a:blip>
          <a:srcRect b="0" l="0" r="0" t="0"/>
          <a:stretch/>
        </p:blipFill>
        <p:spPr>
          <a:xfrm>
            <a:off x="6218513" y="2557538"/>
            <a:ext cx="307150" cy="307150"/>
          </a:xfrm>
          <a:prstGeom prst="rect">
            <a:avLst/>
          </a:prstGeom>
          <a:noFill/>
          <a:ln>
            <a:noFill/>
          </a:ln>
        </p:spPr>
      </p:pic>
      <p:sp>
        <p:nvSpPr>
          <p:cNvPr id="150" name="Google Shape;150;p20"/>
          <p:cNvSpPr txBox="1"/>
          <p:nvPr/>
        </p:nvSpPr>
        <p:spPr>
          <a:xfrm>
            <a:off x="6570488" y="2987900"/>
            <a:ext cx="1389600" cy="28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lang="es" sz="700">
                <a:latin typeface="Helvetica Neue"/>
                <a:ea typeface="Helvetica Neue"/>
                <a:cs typeface="Helvetica Neue"/>
                <a:sym typeface="Helvetica Neue"/>
              </a:rPr>
              <a:t>APLICANDO BOOTSTRAP</a:t>
            </a:r>
            <a:endParaRPr sz="700">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t/>
            </a:r>
            <a:endParaRPr sz="700">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t/>
            </a:r>
            <a:endParaRPr sz="700">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t/>
            </a:r>
            <a:endParaRPr sz="700">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Helvetica Neue"/>
              <a:ea typeface="Helvetica Neue"/>
              <a:cs typeface="Helvetica Neue"/>
              <a:sym typeface="Helvetica Neue"/>
            </a:endParaRPr>
          </a:p>
        </p:txBody>
      </p:sp>
      <p:pic>
        <p:nvPicPr>
          <p:cNvPr id="151" name="Google Shape;151;p20"/>
          <p:cNvPicPr preferRelativeResize="0"/>
          <p:nvPr/>
        </p:nvPicPr>
        <p:blipFill>
          <a:blip r:embed="rId7">
            <a:alphaModFix/>
          </a:blip>
          <a:stretch>
            <a:fillRect/>
          </a:stretch>
        </p:blipFill>
        <p:spPr>
          <a:xfrm>
            <a:off x="6218525" y="3000638"/>
            <a:ext cx="307150" cy="307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CEFAB"/>
        </a:solidFill>
      </p:bgPr>
    </p:bg>
    <p:spTree>
      <p:nvGrpSpPr>
        <p:cNvPr id="155" name="Shape 155"/>
        <p:cNvGrpSpPr/>
        <p:nvPr/>
      </p:nvGrpSpPr>
      <p:grpSpPr>
        <a:xfrm>
          <a:off x="0" y="0"/>
          <a:ext cx="0" cy="0"/>
          <a:chOff x="0" y="0"/>
          <a:chExt cx="0" cy="0"/>
        </a:xfrm>
      </p:grpSpPr>
      <p:sp>
        <p:nvSpPr>
          <p:cNvPr id="156" name="Google Shape;156;p21"/>
          <p:cNvSpPr txBox="1"/>
          <p:nvPr/>
        </p:nvSpPr>
        <p:spPr>
          <a:xfrm>
            <a:off x="809538" y="1726025"/>
            <a:ext cx="7524900" cy="228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1" lang="es" sz="4000" u="none" cap="none" strike="noStrike">
                <a:solidFill>
                  <a:srgbClr val="000000"/>
                </a:solidFill>
                <a:latin typeface="Anton"/>
                <a:ea typeface="Anton"/>
                <a:cs typeface="Anton"/>
                <a:sym typeface="Anton"/>
              </a:rPr>
              <a:t>GUIÓN DE LA CLASE</a:t>
            </a:r>
            <a:endParaRPr b="0" i="1" sz="4000" u="none" cap="none" strike="noStrike">
              <a:solidFill>
                <a:srgbClr val="000000"/>
              </a:solidFill>
              <a:latin typeface="Anton"/>
              <a:ea typeface="Anton"/>
              <a:cs typeface="Anton"/>
              <a:sym typeface="Anton"/>
            </a:endParaRPr>
          </a:p>
          <a:p>
            <a:pPr indent="0" lvl="0" marL="0" marR="0" rtl="0" algn="ctr">
              <a:lnSpc>
                <a:spcPct val="150000"/>
              </a:lnSpc>
              <a:spcBef>
                <a:spcPts val="0"/>
              </a:spcBef>
              <a:spcAft>
                <a:spcPts val="0"/>
              </a:spcAft>
              <a:buClr>
                <a:srgbClr val="000000"/>
              </a:buClr>
              <a:buSzPts val="4000"/>
              <a:buFont typeface="Arial"/>
              <a:buNone/>
            </a:pPr>
            <a:r>
              <a:rPr b="0" i="0" lang="es" sz="1800" u="none" cap="none" strike="noStrike">
                <a:solidFill>
                  <a:srgbClr val="000000"/>
                </a:solidFill>
                <a:latin typeface="Helvetica Neue Light"/>
                <a:ea typeface="Helvetica Neue Light"/>
                <a:cs typeface="Helvetica Neue Light"/>
                <a:sym typeface="Helvetica Neue Light"/>
              </a:rPr>
              <a:t>Accede al material complementario </a:t>
            </a:r>
            <a:r>
              <a:rPr b="0" i="0" lang="es" sz="1800" u="sng" cap="none" strike="noStrike">
                <a:solidFill>
                  <a:schemeClr val="hlink"/>
                </a:solidFill>
                <a:latin typeface="Helvetica Neue Light"/>
                <a:ea typeface="Helvetica Neue Light"/>
                <a:cs typeface="Helvetica Neue Light"/>
                <a:sym typeface="Helvetica Neue Light"/>
                <a:hlinkClick r:id="rId3"/>
              </a:rPr>
              <a:t>aquí</a:t>
            </a:r>
            <a:r>
              <a:rPr b="0" i="0" lang="es" sz="1800" u="none" cap="none" strike="noStrike">
                <a:solidFill>
                  <a:srgbClr val="000000"/>
                </a:solidFill>
                <a:latin typeface="Helvetica Neue Light"/>
                <a:ea typeface="Helvetica Neue Light"/>
                <a:cs typeface="Helvetica Neue Light"/>
                <a:sym typeface="Helvetica Neue Light"/>
              </a:rPr>
              <a:t>. </a:t>
            </a:r>
            <a:endParaRPr b="0" i="0" sz="1800" u="none" cap="none" strike="noStrike">
              <a:solidFill>
                <a:srgbClr val="000000"/>
              </a:solidFill>
              <a:latin typeface="Helvetica Neue Light"/>
              <a:ea typeface="Helvetica Neue Light"/>
              <a:cs typeface="Helvetica Neue Light"/>
              <a:sym typeface="Helvetica Neue Light"/>
            </a:endParaRPr>
          </a:p>
        </p:txBody>
      </p:sp>
      <p:pic>
        <p:nvPicPr>
          <p:cNvPr id="157" name="Google Shape;157;p21"/>
          <p:cNvPicPr preferRelativeResize="0"/>
          <p:nvPr/>
        </p:nvPicPr>
        <p:blipFill rotWithShape="1">
          <a:blip r:embed="rId4">
            <a:alphaModFix/>
          </a:blip>
          <a:srcRect b="0" l="0" r="0" t="0"/>
          <a:stretch/>
        </p:blipFill>
        <p:spPr>
          <a:xfrm>
            <a:off x="7748400" y="4727300"/>
            <a:ext cx="1186526" cy="330675"/>
          </a:xfrm>
          <a:prstGeom prst="rect">
            <a:avLst/>
          </a:prstGeom>
          <a:noFill/>
          <a:ln>
            <a:noFill/>
          </a:ln>
        </p:spPr>
      </p:pic>
      <p:pic>
        <p:nvPicPr>
          <p:cNvPr id="158" name="Google Shape;158;p21"/>
          <p:cNvPicPr preferRelativeResize="0"/>
          <p:nvPr/>
        </p:nvPicPr>
        <p:blipFill rotWithShape="1">
          <a:blip r:embed="rId5">
            <a:alphaModFix/>
          </a:blip>
          <a:srcRect b="0" l="0" r="0" t="0"/>
          <a:stretch/>
        </p:blipFill>
        <p:spPr>
          <a:xfrm>
            <a:off x="3978725" y="590525"/>
            <a:ext cx="1186525" cy="1186525"/>
          </a:xfrm>
          <a:prstGeom prst="rect">
            <a:avLst/>
          </a:prstGeom>
          <a:noFill/>
          <a:ln>
            <a:noFill/>
          </a:ln>
        </p:spPr>
      </p:pic>
      <p:pic>
        <p:nvPicPr>
          <p:cNvPr id="159" name="Google Shape;159;p21"/>
          <p:cNvPicPr preferRelativeResize="0"/>
          <p:nvPr/>
        </p:nvPicPr>
        <p:blipFill>
          <a:blip r:embed="rId6">
            <a:alphaModFix/>
          </a:blip>
          <a:stretch>
            <a:fillRect/>
          </a:stretch>
        </p:blipFill>
        <p:spPr>
          <a:xfrm>
            <a:off x="3340705" y="2747400"/>
            <a:ext cx="2462573" cy="1979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3" name="Shape 163"/>
        <p:cNvGrpSpPr/>
        <p:nvPr/>
      </p:nvGrpSpPr>
      <p:grpSpPr>
        <a:xfrm>
          <a:off x="0" y="0"/>
          <a:ext cx="0" cy="0"/>
          <a:chOff x="0" y="0"/>
          <a:chExt cx="0" cy="0"/>
        </a:xfrm>
      </p:grpSpPr>
      <p:sp>
        <p:nvSpPr>
          <p:cNvPr id="164" name="Google Shape;164;p22"/>
          <p:cNvSpPr txBox="1"/>
          <p:nvPr/>
        </p:nvSpPr>
        <p:spPr>
          <a:xfrm>
            <a:off x="2187450" y="1644800"/>
            <a:ext cx="4769100" cy="989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0" i="1" lang="es" sz="3600" u="none" cap="none" strike="noStrike">
                <a:solidFill>
                  <a:srgbClr val="E0FF00"/>
                </a:solidFill>
                <a:latin typeface="Anton"/>
                <a:ea typeface="Anton"/>
                <a:cs typeface="Anton"/>
                <a:sym typeface="Anton"/>
              </a:rPr>
              <a:t>GITHUB</a:t>
            </a:r>
            <a:endParaRPr b="0" i="1" sz="3600" u="none" cap="none" strike="noStrike">
              <a:solidFill>
                <a:srgbClr val="E0FF00"/>
              </a:solidFill>
              <a:latin typeface="Anton"/>
              <a:ea typeface="Anton"/>
              <a:cs typeface="Anton"/>
              <a:sym typeface="Anto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3"/>
          <p:cNvPicPr preferRelativeResize="0"/>
          <p:nvPr/>
        </p:nvPicPr>
        <p:blipFill rotWithShape="1">
          <a:blip r:embed="rId3">
            <a:alphaModFix/>
          </a:blip>
          <a:srcRect b="0" l="0" r="0" t="0"/>
          <a:stretch/>
        </p:blipFill>
        <p:spPr>
          <a:xfrm>
            <a:off x="0" y="12346"/>
            <a:ext cx="9144000" cy="5118818"/>
          </a:xfrm>
          <a:prstGeom prst="rect">
            <a:avLst/>
          </a:prstGeom>
          <a:noFill/>
          <a:ln>
            <a:noFill/>
          </a:ln>
        </p:spPr>
      </p:pic>
      <p:pic>
        <p:nvPicPr>
          <p:cNvPr id="170" name="Google Shape;170;p23"/>
          <p:cNvPicPr preferRelativeResize="0"/>
          <p:nvPr/>
        </p:nvPicPr>
        <p:blipFill rotWithShape="1">
          <a:blip r:embed="rId4">
            <a:alphaModFix/>
          </a:blip>
          <a:srcRect b="0" l="0" r="0" t="0"/>
          <a:stretch/>
        </p:blipFill>
        <p:spPr>
          <a:xfrm>
            <a:off x="7567925" y="4659625"/>
            <a:ext cx="1186526" cy="330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24"/>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sp>
        <p:nvSpPr>
          <p:cNvPr id="176" name="Google Shape;176;p24"/>
          <p:cNvSpPr txBox="1"/>
          <p:nvPr/>
        </p:nvSpPr>
        <p:spPr>
          <a:xfrm>
            <a:off x="643801" y="262675"/>
            <a:ext cx="7856400" cy="697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2000"/>
              </a:spcBef>
              <a:spcAft>
                <a:spcPts val="0"/>
              </a:spcAft>
              <a:buClr>
                <a:schemeClr val="dk1"/>
              </a:buClr>
              <a:buSzPts val="1100"/>
              <a:buFont typeface="Arial"/>
              <a:buNone/>
            </a:pPr>
            <a:r>
              <a:rPr b="0" i="1" lang="es" sz="3800" u="none" cap="none" strike="noStrike">
                <a:solidFill>
                  <a:schemeClr val="dk1"/>
                </a:solidFill>
                <a:latin typeface="Anton"/>
                <a:ea typeface="Anton"/>
                <a:cs typeface="Anton"/>
                <a:sym typeface="Anton"/>
              </a:rPr>
              <a:t>GITHUB: ¿QUÉ ES?</a:t>
            </a:r>
            <a:endParaRPr b="0" i="1" sz="3800" u="none" cap="none" strike="noStrike">
              <a:solidFill>
                <a:schemeClr val="dk1"/>
              </a:solidFill>
              <a:latin typeface="Anton"/>
              <a:ea typeface="Anton"/>
              <a:cs typeface="Anton"/>
              <a:sym typeface="Anton"/>
            </a:endParaRPr>
          </a:p>
          <a:p>
            <a:pPr indent="0" lvl="0" marL="0" marR="0" rtl="0" algn="l">
              <a:lnSpc>
                <a:spcPct val="115000"/>
              </a:lnSpc>
              <a:spcBef>
                <a:spcPts val="2000"/>
              </a:spcBef>
              <a:spcAft>
                <a:spcPts val="1200"/>
              </a:spcAft>
              <a:buClr>
                <a:schemeClr val="dk1"/>
              </a:buClr>
              <a:buSzPts val="1100"/>
              <a:buFont typeface="Arial"/>
              <a:buNone/>
            </a:pPr>
            <a:r>
              <a:t/>
            </a:r>
            <a:endParaRPr b="0" i="1" sz="3800" u="none" cap="none" strike="noStrike">
              <a:solidFill>
                <a:schemeClr val="dk1"/>
              </a:solidFill>
              <a:latin typeface="Anton"/>
              <a:ea typeface="Anton"/>
              <a:cs typeface="Anton"/>
              <a:sym typeface="Anton"/>
            </a:endParaRPr>
          </a:p>
        </p:txBody>
      </p:sp>
      <p:sp>
        <p:nvSpPr>
          <p:cNvPr id="177" name="Google Shape;177;p24"/>
          <p:cNvSpPr txBox="1"/>
          <p:nvPr/>
        </p:nvSpPr>
        <p:spPr>
          <a:xfrm>
            <a:off x="643800" y="960475"/>
            <a:ext cx="7547400" cy="2606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lang="es" sz="1800" u="sng">
                <a:solidFill>
                  <a:srgbClr val="1155CC"/>
                </a:solidFill>
                <a:latin typeface="Helvetica Neue Light"/>
                <a:ea typeface="Helvetica Neue Light"/>
                <a:cs typeface="Helvetica Neue Light"/>
                <a:sym typeface="Helvetica Neue Light"/>
                <a:hlinkClick r:id="rId4">
                  <a:extLst>
                    <a:ext uri="{A12FA001-AC4F-418D-AE19-62706E023703}">
                      <ahyp:hlinkClr val="tx"/>
                    </a:ext>
                  </a:extLst>
                </a:hlinkClick>
              </a:rPr>
              <a:t>https://github.com</a:t>
            </a:r>
            <a:endParaRPr sz="1800">
              <a:latin typeface="Helvetica Neue Light"/>
              <a:ea typeface="Helvetica Neue Light"/>
              <a:cs typeface="Helvetica Neue Light"/>
              <a:sym typeface="Helvetica Neue Light"/>
            </a:endParaRPr>
          </a:p>
          <a:p>
            <a:pPr indent="0" lvl="0" marL="0" marR="0" rtl="0" algn="ctr">
              <a:lnSpc>
                <a:spcPct val="115000"/>
              </a:lnSpc>
              <a:spcBef>
                <a:spcPts val="0"/>
              </a:spcBef>
              <a:spcAft>
                <a:spcPts val="0"/>
              </a:spcAft>
              <a:buClr>
                <a:srgbClr val="000000"/>
              </a:buClr>
              <a:buSzPts val="1800"/>
              <a:buFont typeface="Arial"/>
              <a:buNone/>
            </a:pPr>
            <a:r>
              <a:t/>
            </a:r>
            <a:endParaRPr sz="1800">
              <a:latin typeface="Helvetica Neue Light"/>
              <a:ea typeface="Helvetica Neue Light"/>
              <a:cs typeface="Helvetica Neue Light"/>
              <a:sym typeface="Helvetica Neue Light"/>
            </a:endParaRPr>
          </a:p>
          <a:p>
            <a:pPr indent="0" lvl="0" marL="0" marR="0" rtl="0" algn="ctr">
              <a:lnSpc>
                <a:spcPct val="115000"/>
              </a:lnSpc>
              <a:spcBef>
                <a:spcPts val="0"/>
              </a:spcBef>
              <a:spcAft>
                <a:spcPts val="0"/>
              </a:spcAft>
              <a:buClr>
                <a:srgbClr val="000000"/>
              </a:buClr>
              <a:buSzPts val="1800"/>
              <a:buFont typeface="Arial"/>
              <a:buNone/>
            </a:pPr>
            <a:r>
              <a:rPr b="0" i="0" lang="es" sz="1800" u="none" cap="none" strike="noStrike">
                <a:solidFill>
                  <a:srgbClr val="000000"/>
                </a:solidFill>
                <a:latin typeface="Helvetica Neue Light"/>
                <a:ea typeface="Helvetica Neue Light"/>
                <a:cs typeface="Helvetica Neue Light"/>
                <a:sym typeface="Helvetica Neue Light"/>
              </a:rPr>
              <a:t>Por ahora todo lo que venía ocurriendo en Git era de manera local, no necesitábamos nada de internet para guardar nuestros commits y nuestro repositorio. </a:t>
            </a:r>
            <a:br>
              <a:rPr b="0" i="0" lang="es" sz="1800" u="none" cap="none" strike="noStrike">
                <a:solidFill>
                  <a:srgbClr val="000000"/>
                </a:solidFill>
                <a:latin typeface="Helvetica Neue Light"/>
                <a:ea typeface="Helvetica Neue Light"/>
                <a:cs typeface="Helvetica Neue Light"/>
                <a:sym typeface="Helvetica Neue Light"/>
              </a:rPr>
            </a:br>
            <a:r>
              <a:rPr b="0" i="0" lang="es" sz="1800" u="none" cap="none" strike="noStrike">
                <a:solidFill>
                  <a:srgbClr val="000000"/>
                </a:solidFill>
                <a:highlight>
                  <a:srgbClr val="E0FF00"/>
                </a:highlight>
                <a:latin typeface="Helvetica Neue Light"/>
                <a:ea typeface="Helvetica Neue Light"/>
                <a:cs typeface="Helvetica Neue Light"/>
                <a:sym typeface="Helvetica Neue Light"/>
              </a:rPr>
              <a:t>Ahora </a:t>
            </a:r>
            <a:r>
              <a:rPr b="1" i="0" lang="es" sz="1800" u="none" cap="none" strike="noStrike">
                <a:solidFill>
                  <a:srgbClr val="000000"/>
                </a:solidFill>
                <a:highlight>
                  <a:srgbClr val="E0FF00"/>
                </a:highlight>
                <a:latin typeface="Helvetica Neue"/>
                <a:ea typeface="Helvetica Neue"/>
                <a:cs typeface="Helvetica Neue"/>
                <a:sym typeface="Helvetica Neue"/>
              </a:rPr>
              <a:t>queremos compartir nuestro trabajo con otros</a:t>
            </a:r>
            <a:r>
              <a:rPr b="0" i="0" lang="es" sz="1800" u="none" cap="none" strike="noStrike">
                <a:solidFill>
                  <a:srgbClr val="000000"/>
                </a:solidFill>
                <a:highlight>
                  <a:srgbClr val="E0FF00"/>
                </a:highlight>
                <a:latin typeface="Helvetica Neue Light"/>
                <a:ea typeface="Helvetica Neue Light"/>
                <a:cs typeface="Helvetica Neue Light"/>
                <a:sym typeface="Helvetica Neue Light"/>
              </a:rPr>
              <a:t> (compañeros de proyecto, clientes, etc), ¡para eso utilizamos Github!</a:t>
            </a:r>
            <a:endParaRPr b="0" i="0" sz="1800" u="none" cap="none" strike="noStrike">
              <a:solidFill>
                <a:srgbClr val="000000"/>
              </a:solidFill>
              <a:highlight>
                <a:srgbClr val="E0FF00"/>
              </a:highlight>
              <a:latin typeface="Helvetica Neue Light"/>
              <a:ea typeface="Helvetica Neue Light"/>
              <a:cs typeface="Helvetica Neue Light"/>
              <a:sym typeface="Helvetica Neue Light"/>
            </a:endParaRPr>
          </a:p>
          <a:p>
            <a:pPr indent="0" lvl="0" marL="0" marR="0" rtl="0" algn="ctr">
              <a:lnSpc>
                <a:spcPct val="115000"/>
              </a:lnSpc>
              <a:spcBef>
                <a:spcPts val="0"/>
              </a:spcBef>
              <a:spcAft>
                <a:spcPts val="0"/>
              </a:spcAft>
              <a:buClr>
                <a:srgbClr val="000000"/>
              </a:buClr>
              <a:buSzPts val="1800"/>
              <a:buFont typeface="Arial"/>
              <a:buNone/>
            </a:pPr>
            <a:r>
              <a:t/>
            </a:r>
            <a:endParaRPr sz="1800">
              <a:highlight>
                <a:srgbClr val="E0FF00"/>
              </a:highlight>
              <a:latin typeface="Helvetica Neue Light"/>
              <a:ea typeface="Helvetica Neue Light"/>
              <a:cs typeface="Helvetica Neue Light"/>
              <a:sym typeface="Helvetica Neue Light"/>
            </a:endParaRPr>
          </a:p>
          <a:p>
            <a:pPr indent="0" lvl="0" marL="0" marR="0" rtl="0" algn="ctr">
              <a:lnSpc>
                <a:spcPct val="115000"/>
              </a:lnSpc>
              <a:spcBef>
                <a:spcPts val="0"/>
              </a:spcBef>
              <a:spcAft>
                <a:spcPts val="0"/>
              </a:spcAft>
              <a:buClr>
                <a:srgbClr val="000000"/>
              </a:buClr>
              <a:buSzPts val="1800"/>
              <a:buFont typeface="Arial"/>
              <a:buNone/>
            </a:pPr>
            <a:r>
              <a:rPr b="0" i="0" lang="es" sz="1800" u="none" cap="none" strike="noStrike">
                <a:solidFill>
                  <a:srgbClr val="000000"/>
                </a:solidFill>
                <a:latin typeface="Helvetica Neue Light"/>
                <a:ea typeface="Helvetica Neue Light"/>
                <a:cs typeface="Helvetica Neue Light"/>
                <a:sym typeface="Helvetica Neue Light"/>
              </a:rPr>
              <a:t>Github es una especie de </a:t>
            </a:r>
            <a:r>
              <a:rPr b="1" i="0" lang="es" sz="1800" u="none" cap="none" strike="noStrike">
                <a:solidFill>
                  <a:srgbClr val="000000"/>
                </a:solidFill>
                <a:latin typeface="Helvetica Neue"/>
                <a:ea typeface="Helvetica Neue"/>
                <a:cs typeface="Helvetica Neue"/>
                <a:sym typeface="Helvetica Neue"/>
              </a:rPr>
              <a:t>“</a:t>
            </a:r>
            <a:r>
              <a:rPr b="1" i="1" lang="es" sz="1800" u="none" cap="none" strike="noStrike">
                <a:solidFill>
                  <a:srgbClr val="000000"/>
                </a:solidFill>
                <a:latin typeface="Helvetica Neue"/>
                <a:ea typeface="Helvetica Neue"/>
                <a:cs typeface="Helvetica Neue"/>
                <a:sym typeface="Helvetica Neue"/>
              </a:rPr>
              <a:t>red social</a:t>
            </a:r>
            <a:r>
              <a:rPr b="1" i="0" lang="es" sz="1800" u="none" cap="none" strike="noStrike">
                <a:solidFill>
                  <a:srgbClr val="000000"/>
                </a:solidFill>
                <a:latin typeface="Helvetica Neue"/>
                <a:ea typeface="Helvetica Neue"/>
                <a:cs typeface="Helvetica Neue"/>
                <a:sym typeface="Helvetica Neue"/>
              </a:rPr>
              <a:t>” de programadores</a:t>
            </a:r>
            <a:r>
              <a:rPr b="0" i="0" lang="es" sz="1800" u="none" cap="none" strike="noStrike">
                <a:solidFill>
                  <a:srgbClr val="000000"/>
                </a:solidFill>
                <a:latin typeface="Helvetica Neue Light"/>
                <a:ea typeface="Helvetica Neue Light"/>
                <a:cs typeface="Helvetica Neue Light"/>
                <a:sym typeface="Helvetica Neue Light"/>
              </a:rPr>
              <a:t>. Con este sitio podemos subir nuestros proyectos y lograr que otras personas colaboren.</a:t>
            </a:r>
            <a:endParaRPr b="0" i="0" sz="1800" u="none" cap="none" strike="noStrike">
              <a:solidFill>
                <a:srgbClr val="000000"/>
              </a:solidFill>
              <a:latin typeface="Helvetica Neue Light"/>
              <a:ea typeface="Helvetica Neue Light"/>
              <a:cs typeface="Helvetica Neue Light"/>
              <a:sym typeface="Helvetica Neue Light"/>
            </a:endParaRPr>
          </a:p>
        </p:txBody>
      </p:sp>
      <p:sp>
        <p:nvSpPr>
          <p:cNvPr id="178" name="Google Shape;178;p24"/>
          <p:cNvSpPr txBox="1"/>
          <p:nvPr/>
        </p:nvSpPr>
        <p:spPr>
          <a:xfrm>
            <a:off x="3193950" y="4181750"/>
            <a:ext cx="2756100" cy="67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25"/>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sp>
        <p:nvSpPr>
          <p:cNvPr id="184" name="Google Shape;184;p25"/>
          <p:cNvSpPr txBox="1"/>
          <p:nvPr/>
        </p:nvSpPr>
        <p:spPr>
          <a:xfrm>
            <a:off x="643801" y="262675"/>
            <a:ext cx="7856400" cy="697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2000"/>
              </a:spcBef>
              <a:spcAft>
                <a:spcPts val="0"/>
              </a:spcAft>
              <a:buClr>
                <a:schemeClr val="dk1"/>
              </a:buClr>
              <a:buSzPts val="1100"/>
              <a:buFont typeface="Arial"/>
              <a:buNone/>
            </a:pPr>
            <a:r>
              <a:rPr b="0" i="1" lang="es" sz="3800" u="none" cap="none" strike="noStrike">
                <a:solidFill>
                  <a:schemeClr val="dk1"/>
                </a:solidFill>
                <a:latin typeface="Anton"/>
                <a:ea typeface="Anton"/>
                <a:cs typeface="Anton"/>
                <a:sym typeface="Anton"/>
              </a:rPr>
              <a:t>CREANDO CUENTA EN GITHUB</a:t>
            </a:r>
            <a:endParaRPr b="0" i="1" sz="3800" u="none" cap="none" strike="noStrike">
              <a:solidFill>
                <a:schemeClr val="dk1"/>
              </a:solidFill>
              <a:latin typeface="Anton"/>
              <a:ea typeface="Anton"/>
              <a:cs typeface="Anton"/>
              <a:sym typeface="Anton"/>
            </a:endParaRPr>
          </a:p>
          <a:p>
            <a:pPr indent="0" lvl="0" marL="0" marR="0" rtl="0" algn="l">
              <a:lnSpc>
                <a:spcPct val="115000"/>
              </a:lnSpc>
              <a:spcBef>
                <a:spcPts val="2000"/>
              </a:spcBef>
              <a:spcAft>
                <a:spcPts val="1200"/>
              </a:spcAft>
              <a:buClr>
                <a:schemeClr val="dk1"/>
              </a:buClr>
              <a:buSzPts val="1100"/>
              <a:buFont typeface="Arial"/>
              <a:buNone/>
            </a:pPr>
            <a:r>
              <a:t/>
            </a:r>
            <a:endParaRPr b="0" i="1" sz="3800" u="none" cap="none" strike="noStrike">
              <a:solidFill>
                <a:schemeClr val="dk1"/>
              </a:solidFill>
              <a:latin typeface="Anton"/>
              <a:ea typeface="Anton"/>
              <a:cs typeface="Anton"/>
              <a:sym typeface="Anton"/>
            </a:endParaRPr>
          </a:p>
        </p:txBody>
      </p:sp>
      <p:pic>
        <p:nvPicPr>
          <p:cNvPr id="185" name="Google Shape;185;p25"/>
          <p:cNvPicPr preferRelativeResize="0"/>
          <p:nvPr/>
        </p:nvPicPr>
        <p:blipFill rotWithShape="1">
          <a:blip r:embed="rId4">
            <a:alphaModFix/>
          </a:blip>
          <a:srcRect b="0" l="0" r="0" t="0"/>
          <a:stretch/>
        </p:blipFill>
        <p:spPr>
          <a:xfrm>
            <a:off x="440300" y="1590265"/>
            <a:ext cx="5734051" cy="2933701"/>
          </a:xfrm>
          <a:prstGeom prst="rect">
            <a:avLst/>
          </a:prstGeom>
          <a:noFill/>
          <a:ln>
            <a:noFill/>
          </a:ln>
        </p:spPr>
      </p:pic>
      <p:sp>
        <p:nvSpPr>
          <p:cNvPr id="186" name="Google Shape;186;p25"/>
          <p:cNvSpPr txBox="1"/>
          <p:nvPr/>
        </p:nvSpPr>
        <p:spPr>
          <a:xfrm>
            <a:off x="6352750" y="1812250"/>
            <a:ext cx="2546400" cy="199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Helvetica Neue Light"/>
                <a:ea typeface="Helvetica Neue Light"/>
                <a:cs typeface="Helvetica Neue Light"/>
                <a:sym typeface="Helvetica Neue Light"/>
              </a:rPr>
              <a:t>Ve a </a:t>
            </a:r>
            <a:r>
              <a:rPr b="0" i="0" lang="es" sz="1800" u="sng" cap="none" strike="noStrike">
                <a:solidFill>
                  <a:schemeClr val="hlink"/>
                </a:solidFill>
                <a:latin typeface="Helvetica Neue Light"/>
                <a:ea typeface="Helvetica Neue Light"/>
                <a:cs typeface="Helvetica Neue Light"/>
                <a:sym typeface="Helvetica Neue Light"/>
                <a:hlinkClick r:id="rId5"/>
              </a:rPr>
              <a:t>https://github.com/</a:t>
            </a:r>
            <a:r>
              <a:rPr b="0" i="0" lang="es" sz="1800" u="none" cap="none" strike="noStrike">
                <a:solidFill>
                  <a:srgbClr val="000000"/>
                </a:solidFill>
                <a:latin typeface="Helvetica Neue Light"/>
                <a:ea typeface="Helvetica Neue Light"/>
                <a:cs typeface="Helvetica Neue Light"/>
                <a:sym typeface="Helvetica Neue Light"/>
              </a:rPr>
              <a:t> (está en inglés).</a:t>
            </a:r>
            <a:endParaRPr b="0" i="0" sz="1800" u="none" cap="none" strike="noStrike">
              <a:solidFill>
                <a:srgbClr val="000000"/>
              </a:solidFill>
              <a:latin typeface="Helvetica Neue Light"/>
              <a:ea typeface="Helvetica Neue Light"/>
              <a:cs typeface="Helvetica Neue Light"/>
              <a:sym typeface="Helvetica Neue Light"/>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Helvetica Neue Light"/>
                <a:ea typeface="Helvetica Neue Light"/>
                <a:cs typeface="Helvetica Neue Light"/>
                <a:sym typeface="Helvetica Neue Light"/>
              </a:rPr>
              <a:t>Haz clic en </a:t>
            </a:r>
            <a:r>
              <a:rPr b="1" i="0" lang="es" sz="1800" u="none" cap="none" strike="noStrike">
                <a:solidFill>
                  <a:srgbClr val="000000"/>
                </a:solidFill>
                <a:highlight>
                  <a:srgbClr val="E0FF00"/>
                </a:highlight>
                <a:latin typeface="Helvetica Neue"/>
                <a:ea typeface="Helvetica Neue"/>
                <a:cs typeface="Helvetica Neue"/>
                <a:sym typeface="Helvetica Neue"/>
              </a:rPr>
              <a:t>“sign up”</a:t>
            </a:r>
            <a:r>
              <a:rPr b="0" i="0" lang="es" sz="1800" u="none" cap="none" strike="noStrike">
                <a:solidFill>
                  <a:srgbClr val="000000"/>
                </a:solidFill>
                <a:highlight>
                  <a:srgbClr val="E0FF00"/>
                </a:highlight>
                <a:latin typeface="Helvetica Neue Light"/>
                <a:ea typeface="Helvetica Neue Light"/>
                <a:cs typeface="Helvetica Neue Light"/>
                <a:sym typeface="Helvetica Neue Light"/>
              </a:rPr>
              <a:t>.</a:t>
            </a:r>
            <a:endParaRPr b="0" i="0" sz="1800" u="none" cap="none" strike="noStrike">
              <a:solidFill>
                <a:srgbClr val="000000"/>
              </a:solidFill>
              <a:highlight>
                <a:srgbClr val="E0FF00"/>
              </a:highlight>
              <a:latin typeface="Helvetica Neue Light"/>
              <a:ea typeface="Helvetica Neue Light"/>
              <a:cs typeface="Helvetica Neue Light"/>
              <a:sym typeface="Helvetica Neue Light"/>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Didact Gothic"/>
              <a:ea typeface="Didact Gothic"/>
              <a:cs typeface="Didact Gothic"/>
              <a:sym typeface="Didact Gothic"/>
            </a:endParaRPr>
          </a:p>
        </p:txBody>
      </p:sp>
      <p:sp>
        <p:nvSpPr>
          <p:cNvPr id="187" name="Google Shape;187;p25"/>
          <p:cNvSpPr/>
          <p:nvPr/>
        </p:nvSpPr>
        <p:spPr>
          <a:xfrm>
            <a:off x="438825" y="1587250"/>
            <a:ext cx="5755800" cy="2933700"/>
          </a:xfrm>
          <a:prstGeom prst="rect">
            <a:avLst/>
          </a:prstGeom>
          <a:noFill/>
          <a:ln cap="flat" cmpd="sng" w="28575">
            <a:solidFill>
              <a:srgbClr val="E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p26"/>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sp>
        <p:nvSpPr>
          <p:cNvPr id="193" name="Google Shape;193;p26"/>
          <p:cNvSpPr txBox="1"/>
          <p:nvPr/>
        </p:nvSpPr>
        <p:spPr>
          <a:xfrm>
            <a:off x="5514475" y="1143000"/>
            <a:ext cx="3368100" cy="316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000000"/>
                </a:solidFill>
                <a:highlight>
                  <a:srgbClr val="E0FF00"/>
                </a:highlight>
                <a:latin typeface="Helvetica Neue Light"/>
                <a:ea typeface="Helvetica Neue Light"/>
                <a:cs typeface="Helvetica Neue Light"/>
                <a:sym typeface="Helvetica Neue Light"/>
              </a:rPr>
              <a:t>Llena el formulario:</a:t>
            </a:r>
            <a:br>
              <a:rPr b="0" i="0" lang="es" sz="1600" u="none" cap="none" strike="noStrike">
                <a:solidFill>
                  <a:srgbClr val="000000"/>
                </a:solidFill>
                <a:latin typeface="Helvetica Neue Light"/>
                <a:ea typeface="Helvetica Neue Light"/>
                <a:cs typeface="Helvetica Neue Light"/>
                <a:sym typeface="Helvetica Neue Light"/>
              </a:rPr>
            </a:br>
            <a:endParaRPr b="0" i="0" sz="1600" u="none" cap="none" strike="noStrike">
              <a:solidFill>
                <a:srgbClr val="000000"/>
              </a:solidFill>
              <a:latin typeface="Helvetica Neue Light"/>
              <a:ea typeface="Helvetica Neue Light"/>
              <a:cs typeface="Helvetica Neue Light"/>
              <a:sym typeface="Helvetica Neue Light"/>
            </a:endParaRPr>
          </a:p>
          <a:p>
            <a:pPr indent="-330200" lvl="0" marL="457200" marR="0" rtl="0" algn="l">
              <a:lnSpc>
                <a:spcPct val="100000"/>
              </a:lnSpc>
              <a:spcBef>
                <a:spcPts val="0"/>
              </a:spcBef>
              <a:spcAft>
                <a:spcPts val="0"/>
              </a:spcAft>
              <a:buClr>
                <a:schemeClr val="dk1"/>
              </a:buClr>
              <a:buSzPts val="1600"/>
              <a:buFont typeface="Helvetica Neue Light"/>
              <a:buChar char="●"/>
            </a:pPr>
            <a:r>
              <a:rPr b="0" i="0" lang="es" sz="1600" u="none" cap="none" strike="noStrike">
                <a:solidFill>
                  <a:srgbClr val="000000"/>
                </a:solidFill>
                <a:latin typeface="Helvetica Neue Light"/>
                <a:ea typeface="Helvetica Neue Light"/>
                <a:cs typeface="Helvetica Neue Light"/>
                <a:sym typeface="Helvetica Neue Light"/>
              </a:rPr>
              <a:t>Nombre de usuario.</a:t>
            </a:r>
            <a:endParaRPr b="0" i="0" sz="1600" u="none" cap="none" strike="noStrike">
              <a:solidFill>
                <a:srgbClr val="000000"/>
              </a:solidFill>
              <a:latin typeface="Helvetica Neue Light"/>
              <a:ea typeface="Helvetica Neue Light"/>
              <a:cs typeface="Helvetica Neue Light"/>
              <a:sym typeface="Helvetica Neue Light"/>
            </a:endParaRPr>
          </a:p>
          <a:p>
            <a:pPr indent="-330200" lvl="0" marL="457200" marR="0" rtl="0" algn="l">
              <a:lnSpc>
                <a:spcPct val="100000"/>
              </a:lnSpc>
              <a:spcBef>
                <a:spcPts val="0"/>
              </a:spcBef>
              <a:spcAft>
                <a:spcPts val="0"/>
              </a:spcAft>
              <a:buClr>
                <a:schemeClr val="dk1"/>
              </a:buClr>
              <a:buSzPts val="1600"/>
              <a:buFont typeface="Helvetica Neue Light"/>
              <a:buChar char="●"/>
            </a:pPr>
            <a:r>
              <a:rPr b="0" i="0" lang="es" sz="1600" u="none" cap="none" strike="noStrike">
                <a:solidFill>
                  <a:srgbClr val="000000"/>
                </a:solidFill>
                <a:latin typeface="Helvetica Neue Light"/>
                <a:ea typeface="Helvetica Neue Light"/>
                <a:cs typeface="Helvetica Neue Light"/>
                <a:sym typeface="Helvetica Neue Light"/>
              </a:rPr>
              <a:t>Dirección de e-mail (</a:t>
            </a:r>
            <a:r>
              <a:rPr b="0" i="0" lang="es" sz="1600" u="none" cap="none" strike="noStrike">
                <a:solidFill>
                  <a:schemeClr val="dk1"/>
                </a:solidFill>
                <a:latin typeface="Helvetica Neue Light"/>
                <a:ea typeface="Helvetica Neue Light"/>
                <a:cs typeface="Helvetica Neue Light"/>
                <a:sym typeface="Helvetica Neue Light"/>
              </a:rPr>
              <a:t>es recomendable usar el mismo email que usaste anteriormente en tu perfil de Git anteriormente).</a:t>
            </a:r>
            <a:endParaRPr b="0" i="0" sz="1600" u="none" cap="none" strike="noStrike">
              <a:solidFill>
                <a:srgbClr val="000000"/>
              </a:solidFill>
              <a:latin typeface="Helvetica Neue Light"/>
              <a:ea typeface="Helvetica Neue Light"/>
              <a:cs typeface="Helvetica Neue Light"/>
              <a:sym typeface="Helvetica Neue Light"/>
            </a:endParaRPr>
          </a:p>
          <a:p>
            <a:pPr indent="-330200" lvl="0" marL="457200" marR="0" rtl="0" algn="l">
              <a:lnSpc>
                <a:spcPct val="100000"/>
              </a:lnSpc>
              <a:spcBef>
                <a:spcPts val="0"/>
              </a:spcBef>
              <a:spcAft>
                <a:spcPts val="0"/>
              </a:spcAft>
              <a:buClr>
                <a:schemeClr val="dk1"/>
              </a:buClr>
              <a:buSzPts val="1600"/>
              <a:buFont typeface="Helvetica Neue Light"/>
              <a:buChar char="●"/>
            </a:pPr>
            <a:r>
              <a:rPr b="0" i="0" lang="es" sz="1600" u="none" cap="none" strike="noStrike">
                <a:solidFill>
                  <a:srgbClr val="000000"/>
                </a:solidFill>
                <a:latin typeface="Helvetica Neue Light"/>
                <a:ea typeface="Helvetica Neue Light"/>
                <a:cs typeface="Helvetica Neue Light"/>
                <a:sym typeface="Helvetica Neue Light"/>
              </a:rPr>
              <a:t>Contraseña.</a:t>
            </a:r>
            <a:endParaRPr b="0" i="0" sz="1600" u="none" cap="none" strike="noStrike">
              <a:solidFill>
                <a:srgbClr val="000000"/>
              </a:solidFill>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000000"/>
                </a:solidFill>
                <a:highlight>
                  <a:srgbClr val="E0FF00"/>
                </a:highlight>
                <a:latin typeface="Helvetica Neue Light"/>
                <a:ea typeface="Helvetica Neue Light"/>
                <a:cs typeface="Helvetica Neue Light"/>
                <a:sym typeface="Helvetica Neue Light"/>
              </a:rPr>
              <a:t>Luego </a:t>
            </a:r>
            <a:r>
              <a:rPr b="1" i="0" lang="es" sz="1600" u="none" cap="none" strike="noStrike">
                <a:solidFill>
                  <a:srgbClr val="000000"/>
                </a:solidFill>
                <a:highlight>
                  <a:srgbClr val="E0FF00"/>
                </a:highlight>
                <a:latin typeface="Helvetica Neue"/>
                <a:ea typeface="Helvetica Neue"/>
                <a:cs typeface="Helvetica Neue"/>
                <a:sym typeface="Helvetica Neue"/>
              </a:rPr>
              <a:t>“Next: select a plan”</a:t>
            </a:r>
            <a:r>
              <a:rPr b="0" i="0" lang="es" sz="1600" u="none" cap="none" strike="noStrike">
                <a:solidFill>
                  <a:srgbClr val="000000"/>
                </a:solidFill>
                <a:latin typeface="Helvetica Neue Light"/>
                <a:ea typeface="Helvetica Neue Light"/>
                <a:cs typeface="Helvetica Neue Light"/>
                <a:sym typeface="Helvetica Neue Light"/>
              </a:rPr>
              <a:t>, para seleccionar el plan que queremos tener.</a:t>
            </a:r>
            <a:endParaRPr b="0" i="0" sz="1600" u="none" cap="none" strike="noStrike">
              <a:solidFill>
                <a:srgbClr val="000000"/>
              </a:solidFill>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Helvetica Neue Light"/>
              <a:ea typeface="Helvetica Neue Light"/>
              <a:cs typeface="Helvetica Neue Light"/>
              <a:sym typeface="Helvetica Neue Light"/>
            </a:endParaRPr>
          </a:p>
        </p:txBody>
      </p:sp>
      <p:pic>
        <p:nvPicPr>
          <p:cNvPr id="194" name="Google Shape;194;p26"/>
          <p:cNvPicPr preferRelativeResize="0"/>
          <p:nvPr/>
        </p:nvPicPr>
        <p:blipFill rotWithShape="1">
          <a:blip r:embed="rId4">
            <a:alphaModFix/>
          </a:blip>
          <a:srcRect b="0" l="0" r="0" t="0"/>
          <a:stretch/>
        </p:blipFill>
        <p:spPr>
          <a:xfrm>
            <a:off x="726050" y="1366315"/>
            <a:ext cx="4631165" cy="3471584"/>
          </a:xfrm>
          <a:prstGeom prst="rect">
            <a:avLst/>
          </a:prstGeom>
          <a:noFill/>
          <a:ln>
            <a:noFill/>
          </a:ln>
        </p:spPr>
      </p:pic>
      <p:sp>
        <p:nvSpPr>
          <p:cNvPr id="195" name="Google Shape;195;p26"/>
          <p:cNvSpPr txBox="1"/>
          <p:nvPr/>
        </p:nvSpPr>
        <p:spPr>
          <a:xfrm>
            <a:off x="643801" y="262675"/>
            <a:ext cx="7856400" cy="697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2000"/>
              </a:spcBef>
              <a:spcAft>
                <a:spcPts val="0"/>
              </a:spcAft>
              <a:buClr>
                <a:schemeClr val="dk1"/>
              </a:buClr>
              <a:buSzPts val="1100"/>
              <a:buFont typeface="Arial"/>
              <a:buNone/>
            </a:pPr>
            <a:r>
              <a:rPr b="0" i="1" lang="es" sz="3800" u="none" cap="none" strike="noStrike">
                <a:solidFill>
                  <a:schemeClr val="dk1"/>
                </a:solidFill>
                <a:latin typeface="Anton"/>
                <a:ea typeface="Anton"/>
                <a:cs typeface="Anton"/>
                <a:sym typeface="Anton"/>
              </a:rPr>
              <a:t>CREANDO CUENTA EN GITHUB</a:t>
            </a:r>
            <a:endParaRPr b="0" i="1" sz="3800" u="none" cap="none" strike="noStrike">
              <a:solidFill>
                <a:schemeClr val="dk1"/>
              </a:solidFill>
              <a:latin typeface="Anton"/>
              <a:ea typeface="Anton"/>
              <a:cs typeface="Anton"/>
              <a:sym typeface="Anton"/>
            </a:endParaRPr>
          </a:p>
          <a:p>
            <a:pPr indent="0" lvl="0" marL="0" marR="0" rtl="0" algn="l">
              <a:lnSpc>
                <a:spcPct val="115000"/>
              </a:lnSpc>
              <a:spcBef>
                <a:spcPts val="2000"/>
              </a:spcBef>
              <a:spcAft>
                <a:spcPts val="1200"/>
              </a:spcAft>
              <a:buClr>
                <a:schemeClr val="dk1"/>
              </a:buClr>
              <a:buSzPts val="1100"/>
              <a:buFont typeface="Arial"/>
              <a:buNone/>
            </a:pPr>
            <a:r>
              <a:t/>
            </a:r>
            <a:endParaRPr b="0" i="1" sz="3800" u="none" cap="none" strike="noStrike">
              <a:solidFill>
                <a:schemeClr val="dk1"/>
              </a:solidFill>
              <a:latin typeface="Anton"/>
              <a:ea typeface="Anton"/>
              <a:cs typeface="Anton"/>
              <a:sym typeface="Anton"/>
            </a:endParaRPr>
          </a:p>
        </p:txBody>
      </p:sp>
      <p:sp>
        <p:nvSpPr>
          <p:cNvPr id="196" name="Google Shape;196;p26"/>
          <p:cNvSpPr/>
          <p:nvPr/>
        </p:nvSpPr>
        <p:spPr>
          <a:xfrm>
            <a:off x="726150" y="1143000"/>
            <a:ext cx="4631100" cy="3847200"/>
          </a:xfrm>
          <a:prstGeom prst="rect">
            <a:avLst/>
          </a:prstGeom>
          <a:noFill/>
          <a:ln cap="flat" cmpd="sng" w="28575">
            <a:solidFill>
              <a:srgbClr val="E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27"/>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pic>
        <p:nvPicPr>
          <p:cNvPr id="202" name="Google Shape;202;p27"/>
          <p:cNvPicPr preferRelativeResize="0"/>
          <p:nvPr/>
        </p:nvPicPr>
        <p:blipFill rotWithShape="1">
          <a:blip r:embed="rId4">
            <a:alphaModFix/>
          </a:blip>
          <a:srcRect b="0" l="0" r="0" t="0"/>
          <a:stretch/>
        </p:blipFill>
        <p:spPr>
          <a:xfrm>
            <a:off x="1500338" y="1095639"/>
            <a:ext cx="6143327" cy="3428825"/>
          </a:xfrm>
          <a:prstGeom prst="rect">
            <a:avLst/>
          </a:prstGeom>
          <a:noFill/>
          <a:ln>
            <a:noFill/>
          </a:ln>
        </p:spPr>
      </p:pic>
      <p:sp>
        <p:nvSpPr>
          <p:cNvPr id="203" name="Google Shape;203;p27"/>
          <p:cNvSpPr txBox="1"/>
          <p:nvPr/>
        </p:nvSpPr>
        <p:spPr>
          <a:xfrm>
            <a:off x="643801" y="262675"/>
            <a:ext cx="7856400" cy="697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2000"/>
              </a:spcBef>
              <a:spcAft>
                <a:spcPts val="0"/>
              </a:spcAft>
              <a:buClr>
                <a:schemeClr val="dk1"/>
              </a:buClr>
              <a:buSzPts val="1100"/>
              <a:buFont typeface="Arial"/>
              <a:buNone/>
            </a:pPr>
            <a:r>
              <a:rPr b="0" i="1" lang="es" sz="3800" u="none" cap="none" strike="noStrike">
                <a:solidFill>
                  <a:schemeClr val="dk1"/>
                </a:solidFill>
                <a:latin typeface="Anton"/>
                <a:ea typeface="Anton"/>
                <a:cs typeface="Anton"/>
                <a:sym typeface="Anton"/>
              </a:rPr>
              <a:t>CREANDO CUENTA EN GITHUB</a:t>
            </a:r>
            <a:endParaRPr b="0" i="1" sz="3800" u="none" cap="none" strike="noStrike">
              <a:solidFill>
                <a:schemeClr val="dk1"/>
              </a:solidFill>
              <a:latin typeface="Anton"/>
              <a:ea typeface="Anton"/>
              <a:cs typeface="Anton"/>
              <a:sym typeface="Anton"/>
            </a:endParaRPr>
          </a:p>
          <a:p>
            <a:pPr indent="0" lvl="0" marL="0" marR="0" rtl="0" algn="l">
              <a:lnSpc>
                <a:spcPct val="115000"/>
              </a:lnSpc>
              <a:spcBef>
                <a:spcPts val="2000"/>
              </a:spcBef>
              <a:spcAft>
                <a:spcPts val="1200"/>
              </a:spcAft>
              <a:buClr>
                <a:schemeClr val="dk1"/>
              </a:buClr>
              <a:buSzPts val="1100"/>
              <a:buFont typeface="Arial"/>
              <a:buNone/>
            </a:pPr>
            <a:r>
              <a:t/>
            </a:r>
            <a:endParaRPr b="0" i="1" sz="3800" u="none" cap="none" strike="noStrike">
              <a:solidFill>
                <a:schemeClr val="dk1"/>
              </a:solidFill>
              <a:latin typeface="Anton"/>
              <a:ea typeface="Anton"/>
              <a:cs typeface="Anton"/>
              <a:sym typeface="Anton"/>
            </a:endParaRPr>
          </a:p>
        </p:txBody>
      </p:sp>
      <p:sp>
        <p:nvSpPr>
          <p:cNvPr id="204" name="Google Shape;204;p27"/>
          <p:cNvSpPr/>
          <p:nvPr/>
        </p:nvSpPr>
        <p:spPr>
          <a:xfrm>
            <a:off x="1500350" y="1095650"/>
            <a:ext cx="6143400" cy="3564000"/>
          </a:xfrm>
          <a:prstGeom prst="rect">
            <a:avLst/>
          </a:prstGeom>
          <a:noFill/>
          <a:ln cap="flat" cmpd="sng" w="28575">
            <a:solidFill>
              <a:srgbClr val="E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28"/>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pic>
        <p:nvPicPr>
          <p:cNvPr id="210" name="Google Shape;210;p28"/>
          <p:cNvPicPr preferRelativeResize="0"/>
          <p:nvPr/>
        </p:nvPicPr>
        <p:blipFill rotWithShape="1">
          <a:blip r:embed="rId4">
            <a:alphaModFix/>
          </a:blip>
          <a:srcRect b="0" l="0" r="0" t="0"/>
          <a:stretch/>
        </p:blipFill>
        <p:spPr>
          <a:xfrm>
            <a:off x="2126700" y="1367115"/>
            <a:ext cx="4890596" cy="2987709"/>
          </a:xfrm>
          <a:prstGeom prst="rect">
            <a:avLst/>
          </a:prstGeom>
          <a:noFill/>
          <a:ln>
            <a:noFill/>
          </a:ln>
        </p:spPr>
      </p:pic>
      <p:sp>
        <p:nvSpPr>
          <p:cNvPr id="211" name="Google Shape;211;p28"/>
          <p:cNvSpPr txBox="1"/>
          <p:nvPr/>
        </p:nvSpPr>
        <p:spPr>
          <a:xfrm>
            <a:off x="643801" y="262675"/>
            <a:ext cx="7856400" cy="697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2000"/>
              </a:spcBef>
              <a:spcAft>
                <a:spcPts val="0"/>
              </a:spcAft>
              <a:buClr>
                <a:schemeClr val="dk1"/>
              </a:buClr>
              <a:buSzPts val="1100"/>
              <a:buFont typeface="Arial"/>
              <a:buNone/>
            </a:pPr>
            <a:r>
              <a:rPr b="0" i="1" lang="es" sz="3800" u="none" cap="none" strike="noStrike">
                <a:solidFill>
                  <a:schemeClr val="dk1"/>
                </a:solidFill>
                <a:latin typeface="Anton"/>
                <a:ea typeface="Anton"/>
                <a:cs typeface="Anton"/>
                <a:sym typeface="Anton"/>
              </a:rPr>
              <a:t>CREANDO CUENTA EN GITHUB</a:t>
            </a:r>
            <a:endParaRPr b="0" i="1" sz="3800" u="none" cap="none" strike="noStrike">
              <a:solidFill>
                <a:schemeClr val="dk1"/>
              </a:solidFill>
              <a:latin typeface="Anton"/>
              <a:ea typeface="Anton"/>
              <a:cs typeface="Anton"/>
              <a:sym typeface="Anton"/>
            </a:endParaRPr>
          </a:p>
          <a:p>
            <a:pPr indent="0" lvl="0" marL="0" marR="0" rtl="0" algn="l">
              <a:lnSpc>
                <a:spcPct val="115000"/>
              </a:lnSpc>
              <a:spcBef>
                <a:spcPts val="2000"/>
              </a:spcBef>
              <a:spcAft>
                <a:spcPts val="1200"/>
              </a:spcAft>
              <a:buClr>
                <a:schemeClr val="dk1"/>
              </a:buClr>
              <a:buSzPts val="1100"/>
              <a:buFont typeface="Arial"/>
              <a:buNone/>
            </a:pPr>
            <a:r>
              <a:t/>
            </a:r>
            <a:endParaRPr b="0" i="1" sz="3800" u="none" cap="none" strike="noStrike">
              <a:solidFill>
                <a:schemeClr val="dk1"/>
              </a:solidFill>
              <a:latin typeface="Anton"/>
              <a:ea typeface="Anton"/>
              <a:cs typeface="Anton"/>
              <a:sym typeface="Anton"/>
            </a:endParaRPr>
          </a:p>
        </p:txBody>
      </p:sp>
      <p:sp>
        <p:nvSpPr>
          <p:cNvPr id="212" name="Google Shape;212;p28"/>
          <p:cNvSpPr/>
          <p:nvPr/>
        </p:nvSpPr>
        <p:spPr>
          <a:xfrm>
            <a:off x="1694100" y="1281100"/>
            <a:ext cx="5755800" cy="2933700"/>
          </a:xfrm>
          <a:prstGeom prst="rect">
            <a:avLst/>
          </a:prstGeom>
          <a:noFill/>
          <a:ln cap="flat" cmpd="sng" w="28575">
            <a:solidFill>
              <a:srgbClr val="E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29"/>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sp>
        <p:nvSpPr>
          <p:cNvPr id="218" name="Google Shape;218;p29"/>
          <p:cNvSpPr txBox="1"/>
          <p:nvPr/>
        </p:nvSpPr>
        <p:spPr>
          <a:xfrm>
            <a:off x="896425" y="1056967"/>
            <a:ext cx="7351200" cy="982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600"/>
              <a:buFont typeface="Arial"/>
              <a:buNone/>
            </a:pPr>
            <a:r>
              <a:rPr b="0" i="0" lang="es" sz="1600" u="none" cap="none" strike="noStrike">
                <a:solidFill>
                  <a:srgbClr val="000000"/>
                </a:solidFill>
                <a:latin typeface="Helvetica Neue Light"/>
                <a:ea typeface="Helvetica Neue Light"/>
                <a:cs typeface="Helvetica Neue Light"/>
                <a:sym typeface="Helvetica Neue Light"/>
              </a:rPr>
              <a:t>Github </a:t>
            </a:r>
            <a:r>
              <a:rPr b="0" i="0" lang="es" sz="1600" u="none" cap="none" strike="noStrike">
                <a:solidFill>
                  <a:schemeClr val="dk1"/>
                </a:solidFill>
                <a:latin typeface="Helvetica Neue Light"/>
                <a:ea typeface="Helvetica Neue Light"/>
                <a:cs typeface="Helvetica Neue Light"/>
                <a:sym typeface="Helvetica Neue Light"/>
              </a:rPr>
              <a:t>pedirá </a:t>
            </a:r>
            <a:r>
              <a:rPr b="0" i="0" lang="es" sz="1600" u="none" cap="none" strike="noStrike">
                <a:solidFill>
                  <a:srgbClr val="000000"/>
                </a:solidFill>
                <a:latin typeface="Helvetica Neue Light"/>
                <a:ea typeface="Helvetica Neue Light"/>
                <a:cs typeface="Helvetica Neue Light"/>
                <a:sym typeface="Helvetica Neue Light"/>
              </a:rPr>
              <a:t>que verifiques tu email. Al abrir el mail, verás que dice</a:t>
            </a:r>
            <a:endParaRPr b="0" i="0" sz="1600" u="none" cap="none" strike="noStrike">
              <a:solidFill>
                <a:srgbClr val="000000"/>
              </a:solidFill>
              <a:latin typeface="Helvetica Neue Light"/>
              <a:ea typeface="Helvetica Neue Light"/>
              <a:cs typeface="Helvetica Neue Light"/>
              <a:sym typeface="Helvetica Neue Light"/>
            </a:endParaRPr>
          </a:p>
          <a:p>
            <a:pPr indent="0" lvl="0" marL="0" marR="0" rtl="0" algn="ctr">
              <a:lnSpc>
                <a:spcPct val="115000"/>
              </a:lnSpc>
              <a:spcBef>
                <a:spcPts val="0"/>
              </a:spcBef>
              <a:spcAft>
                <a:spcPts val="0"/>
              </a:spcAft>
              <a:buClr>
                <a:srgbClr val="000000"/>
              </a:buClr>
              <a:buSzPts val="1600"/>
              <a:buFont typeface="Arial"/>
              <a:buNone/>
            </a:pPr>
            <a:r>
              <a:rPr b="1" i="1" lang="es" sz="1600" u="none" cap="none" strike="noStrike">
                <a:solidFill>
                  <a:schemeClr val="dk1"/>
                </a:solidFill>
                <a:highlight>
                  <a:srgbClr val="FFFFFF"/>
                </a:highlight>
                <a:latin typeface="Helvetica Neue"/>
                <a:ea typeface="Helvetica Neue"/>
                <a:cs typeface="Helvetica Neue"/>
                <a:sym typeface="Helvetica Neue"/>
              </a:rPr>
              <a:t>Click the link below to verify your email address: </a:t>
            </a:r>
            <a:endParaRPr b="1" i="1" sz="1600" u="none" cap="none" strike="noStrike">
              <a:solidFill>
                <a:schemeClr val="dk1"/>
              </a:solidFill>
              <a:highlight>
                <a:srgbClr val="FFFFFF"/>
              </a:highlight>
              <a:latin typeface="Helvetica Neue"/>
              <a:ea typeface="Helvetica Neue"/>
              <a:cs typeface="Helvetica Neue"/>
              <a:sym typeface="Helvetica Neue"/>
            </a:endParaRPr>
          </a:p>
          <a:p>
            <a:pPr indent="0" lvl="0" marL="0" marR="0" rtl="0" algn="ctr">
              <a:lnSpc>
                <a:spcPct val="115000"/>
              </a:lnSpc>
              <a:spcBef>
                <a:spcPts val="0"/>
              </a:spcBef>
              <a:spcAft>
                <a:spcPts val="0"/>
              </a:spcAft>
              <a:buClr>
                <a:srgbClr val="000000"/>
              </a:buClr>
              <a:buSzPts val="1600"/>
              <a:buFont typeface="Arial"/>
              <a:buNone/>
            </a:pPr>
            <a:r>
              <a:rPr b="0" i="0" lang="es" sz="1600" u="none" cap="none" strike="noStrike">
                <a:solidFill>
                  <a:schemeClr val="dk1"/>
                </a:solidFill>
                <a:highlight>
                  <a:srgbClr val="FFFFFF"/>
                </a:highlight>
                <a:latin typeface="Helvetica Neue Light"/>
                <a:ea typeface="Helvetica Neue Light"/>
                <a:cs typeface="Helvetica Neue Light"/>
                <a:sym typeface="Helvetica Neue Light"/>
              </a:rPr>
              <a:t>Y una dirección de email, a la que harás clic.</a:t>
            </a:r>
            <a:endParaRPr b="0" i="0" sz="1600" u="none" cap="none" strike="noStrike">
              <a:solidFill>
                <a:schemeClr val="dk1"/>
              </a:solidFill>
              <a:highlight>
                <a:srgbClr val="FFFFFF"/>
              </a:highlight>
              <a:latin typeface="Helvetica Neue Light"/>
              <a:ea typeface="Helvetica Neue Light"/>
              <a:cs typeface="Helvetica Neue Light"/>
              <a:sym typeface="Helvetica Neue Light"/>
            </a:endParaRPr>
          </a:p>
          <a:p>
            <a:pPr indent="0" lvl="0" marL="0" marR="0" rtl="0" algn="ctr">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highlight>
                <a:srgbClr val="FFFFFF"/>
              </a:highlight>
              <a:latin typeface="Didact Gothic"/>
              <a:ea typeface="Didact Gothic"/>
              <a:cs typeface="Didact Gothic"/>
              <a:sym typeface="Didact Gothic"/>
            </a:endParaRPr>
          </a:p>
          <a:p>
            <a:pPr indent="0" lvl="0" marL="0" marR="0" rtl="0" algn="ctr">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highlight>
                <a:srgbClr val="FFFFFF"/>
              </a:highlight>
              <a:latin typeface="Didact Gothic"/>
              <a:ea typeface="Didact Gothic"/>
              <a:cs typeface="Didact Gothic"/>
              <a:sym typeface="Didact Gothic"/>
            </a:endParaRPr>
          </a:p>
          <a:p>
            <a:pPr indent="0" lvl="0" marL="0" marR="0" rtl="0" algn="ctr">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highlight>
                <a:srgbClr val="FFFFFF"/>
              </a:highlight>
              <a:latin typeface="Didact Gothic"/>
              <a:ea typeface="Didact Gothic"/>
              <a:cs typeface="Didact Gothic"/>
              <a:sym typeface="Didact Gothic"/>
            </a:endParaRPr>
          </a:p>
          <a:p>
            <a:pPr indent="0" lvl="0" marL="0" marR="0" rtl="0" algn="ctr">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latin typeface="Didact Gothic"/>
              <a:ea typeface="Didact Gothic"/>
              <a:cs typeface="Didact Gothic"/>
              <a:sym typeface="Didact Gothic"/>
            </a:endParaRPr>
          </a:p>
          <a:p>
            <a:pPr indent="0" lvl="0" marL="0" marR="0" rtl="0" algn="ctr">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latin typeface="Didact Gothic"/>
              <a:ea typeface="Didact Gothic"/>
              <a:cs typeface="Didact Gothic"/>
              <a:sym typeface="Didact Gothic"/>
            </a:endParaRPr>
          </a:p>
          <a:p>
            <a:pPr indent="0" lvl="0" marL="0" marR="0" rtl="0" algn="ctr">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latin typeface="Didact Gothic"/>
              <a:ea typeface="Didact Gothic"/>
              <a:cs typeface="Didact Gothic"/>
              <a:sym typeface="Didact Gothic"/>
            </a:endParaRPr>
          </a:p>
          <a:p>
            <a:pPr indent="0" lvl="0" marL="0" marR="0" rtl="0" algn="ctr">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latin typeface="Didact Gothic"/>
              <a:ea typeface="Didact Gothic"/>
              <a:cs typeface="Didact Gothic"/>
              <a:sym typeface="Didact Gothic"/>
            </a:endParaRPr>
          </a:p>
        </p:txBody>
      </p:sp>
      <p:pic>
        <p:nvPicPr>
          <p:cNvPr id="219" name="Google Shape;219;p29"/>
          <p:cNvPicPr preferRelativeResize="0"/>
          <p:nvPr/>
        </p:nvPicPr>
        <p:blipFill rotWithShape="1">
          <a:blip r:embed="rId4">
            <a:alphaModFix/>
          </a:blip>
          <a:srcRect b="0" l="0" r="0" t="0"/>
          <a:stretch/>
        </p:blipFill>
        <p:spPr>
          <a:xfrm>
            <a:off x="932138" y="2313700"/>
            <a:ext cx="7279726" cy="2210700"/>
          </a:xfrm>
          <a:prstGeom prst="rect">
            <a:avLst/>
          </a:prstGeom>
          <a:noFill/>
          <a:ln>
            <a:noFill/>
          </a:ln>
        </p:spPr>
      </p:pic>
      <p:sp>
        <p:nvSpPr>
          <p:cNvPr id="220" name="Google Shape;220;p29"/>
          <p:cNvSpPr/>
          <p:nvPr/>
        </p:nvSpPr>
        <p:spPr>
          <a:xfrm>
            <a:off x="5160475" y="3561225"/>
            <a:ext cx="2620200" cy="330600"/>
          </a:xfrm>
          <a:prstGeom prst="rect">
            <a:avLst/>
          </a:prstGeom>
          <a:solidFill>
            <a:srgbClr val="E0FF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s" sz="1400" u="none" cap="none" strike="noStrike">
                <a:solidFill>
                  <a:srgbClr val="000000"/>
                </a:solidFill>
                <a:latin typeface="Helvetica Neue Light"/>
                <a:ea typeface="Helvetica Neue Light"/>
                <a:cs typeface="Helvetica Neue Light"/>
                <a:sym typeface="Helvetica Neue Light"/>
              </a:rPr>
              <a:t>tuemail@email.com</a:t>
            </a:r>
            <a:endParaRPr i="0" sz="1400" u="none" cap="none" strike="noStrike">
              <a:solidFill>
                <a:srgbClr val="000000"/>
              </a:solidFill>
              <a:latin typeface="Helvetica Neue Light"/>
              <a:ea typeface="Helvetica Neue Light"/>
              <a:cs typeface="Helvetica Neue Light"/>
              <a:sym typeface="Helvetica Neue Light"/>
            </a:endParaRPr>
          </a:p>
        </p:txBody>
      </p:sp>
      <p:sp>
        <p:nvSpPr>
          <p:cNvPr id="221" name="Google Shape;221;p29"/>
          <p:cNvSpPr txBox="1"/>
          <p:nvPr/>
        </p:nvSpPr>
        <p:spPr>
          <a:xfrm>
            <a:off x="643801" y="262675"/>
            <a:ext cx="7856400" cy="697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2000"/>
              </a:spcBef>
              <a:spcAft>
                <a:spcPts val="0"/>
              </a:spcAft>
              <a:buClr>
                <a:schemeClr val="dk1"/>
              </a:buClr>
              <a:buSzPts val="1100"/>
              <a:buFont typeface="Arial"/>
              <a:buNone/>
            </a:pPr>
            <a:r>
              <a:rPr b="0" i="1" lang="es" sz="3800" u="none" cap="none" strike="noStrike">
                <a:solidFill>
                  <a:schemeClr val="dk1"/>
                </a:solidFill>
                <a:latin typeface="Anton"/>
                <a:ea typeface="Anton"/>
                <a:cs typeface="Anton"/>
                <a:sym typeface="Anton"/>
              </a:rPr>
              <a:t>CREANDO CUENTA EN GITHUB</a:t>
            </a:r>
            <a:endParaRPr b="0" i="1" sz="3800" u="none" cap="none" strike="noStrike">
              <a:solidFill>
                <a:schemeClr val="dk1"/>
              </a:solidFill>
              <a:latin typeface="Anton"/>
              <a:ea typeface="Anton"/>
              <a:cs typeface="Anton"/>
              <a:sym typeface="Anton"/>
            </a:endParaRPr>
          </a:p>
          <a:p>
            <a:pPr indent="0" lvl="0" marL="0" marR="0" rtl="0" algn="l">
              <a:lnSpc>
                <a:spcPct val="115000"/>
              </a:lnSpc>
              <a:spcBef>
                <a:spcPts val="2000"/>
              </a:spcBef>
              <a:spcAft>
                <a:spcPts val="1200"/>
              </a:spcAft>
              <a:buClr>
                <a:schemeClr val="dk1"/>
              </a:buClr>
              <a:buSzPts val="1100"/>
              <a:buFont typeface="Arial"/>
              <a:buNone/>
            </a:pPr>
            <a:r>
              <a:t/>
            </a:r>
            <a:endParaRPr b="0" i="1" sz="3800" u="none" cap="none" strike="noStrike">
              <a:solidFill>
                <a:schemeClr val="dk1"/>
              </a:solidFill>
              <a:latin typeface="Anton"/>
              <a:ea typeface="Anton"/>
              <a:cs typeface="Anton"/>
              <a:sym typeface="Anton"/>
            </a:endParaRPr>
          </a:p>
        </p:txBody>
      </p:sp>
      <p:sp>
        <p:nvSpPr>
          <p:cNvPr id="222" name="Google Shape;222;p29"/>
          <p:cNvSpPr/>
          <p:nvPr/>
        </p:nvSpPr>
        <p:spPr>
          <a:xfrm>
            <a:off x="974563" y="2178500"/>
            <a:ext cx="7194900" cy="2342400"/>
          </a:xfrm>
          <a:prstGeom prst="rect">
            <a:avLst/>
          </a:prstGeom>
          <a:noFill/>
          <a:ln cap="flat" cmpd="sng" w="28575">
            <a:solidFill>
              <a:srgbClr val="E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30"/>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pic>
        <p:nvPicPr>
          <p:cNvPr id="228" name="Google Shape;228;p30"/>
          <p:cNvPicPr preferRelativeResize="0"/>
          <p:nvPr/>
        </p:nvPicPr>
        <p:blipFill rotWithShape="1">
          <a:blip r:embed="rId4">
            <a:alphaModFix/>
          </a:blip>
          <a:srcRect b="0" l="0" r="0" t="0"/>
          <a:stretch/>
        </p:blipFill>
        <p:spPr>
          <a:xfrm>
            <a:off x="1535075" y="1505690"/>
            <a:ext cx="5734050" cy="2600324"/>
          </a:xfrm>
          <a:prstGeom prst="rect">
            <a:avLst/>
          </a:prstGeom>
          <a:noFill/>
          <a:ln>
            <a:noFill/>
          </a:ln>
        </p:spPr>
      </p:pic>
      <p:sp>
        <p:nvSpPr>
          <p:cNvPr id="229" name="Google Shape;229;p30"/>
          <p:cNvSpPr txBox="1"/>
          <p:nvPr/>
        </p:nvSpPr>
        <p:spPr>
          <a:xfrm>
            <a:off x="643801" y="262675"/>
            <a:ext cx="7856400" cy="697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2000"/>
              </a:spcBef>
              <a:spcAft>
                <a:spcPts val="0"/>
              </a:spcAft>
              <a:buClr>
                <a:schemeClr val="dk1"/>
              </a:buClr>
              <a:buSzPts val="1100"/>
              <a:buFont typeface="Arial"/>
              <a:buNone/>
            </a:pPr>
            <a:r>
              <a:rPr b="0" i="1" lang="es" sz="3800" u="none" cap="none" strike="noStrike">
                <a:solidFill>
                  <a:schemeClr val="dk1"/>
                </a:solidFill>
                <a:latin typeface="Anton"/>
                <a:ea typeface="Anton"/>
                <a:cs typeface="Anton"/>
                <a:sym typeface="Anton"/>
              </a:rPr>
              <a:t>CREANDO CUENTA EN GITHUB</a:t>
            </a:r>
            <a:endParaRPr b="0" i="1" sz="3800" u="none" cap="none" strike="noStrike">
              <a:solidFill>
                <a:schemeClr val="dk1"/>
              </a:solidFill>
              <a:latin typeface="Anton"/>
              <a:ea typeface="Anton"/>
              <a:cs typeface="Anton"/>
              <a:sym typeface="Anton"/>
            </a:endParaRPr>
          </a:p>
          <a:p>
            <a:pPr indent="0" lvl="0" marL="0" marR="0" rtl="0" algn="l">
              <a:lnSpc>
                <a:spcPct val="115000"/>
              </a:lnSpc>
              <a:spcBef>
                <a:spcPts val="2000"/>
              </a:spcBef>
              <a:spcAft>
                <a:spcPts val="1200"/>
              </a:spcAft>
              <a:buClr>
                <a:schemeClr val="dk1"/>
              </a:buClr>
              <a:buSzPts val="1100"/>
              <a:buFont typeface="Arial"/>
              <a:buNone/>
            </a:pPr>
            <a:r>
              <a:t/>
            </a:r>
            <a:endParaRPr b="0" i="1" sz="3800" u="none" cap="none" strike="noStrike">
              <a:solidFill>
                <a:schemeClr val="dk1"/>
              </a:solidFill>
              <a:latin typeface="Anton"/>
              <a:ea typeface="Anton"/>
              <a:cs typeface="Anton"/>
              <a:sym typeface="Anton"/>
            </a:endParaRPr>
          </a:p>
        </p:txBody>
      </p:sp>
      <p:sp>
        <p:nvSpPr>
          <p:cNvPr id="230" name="Google Shape;230;p30"/>
          <p:cNvSpPr/>
          <p:nvPr/>
        </p:nvSpPr>
        <p:spPr>
          <a:xfrm>
            <a:off x="1524200" y="1505700"/>
            <a:ext cx="5755800" cy="2933700"/>
          </a:xfrm>
          <a:prstGeom prst="rect">
            <a:avLst/>
          </a:prstGeom>
          <a:noFill/>
          <a:ln cap="flat" cmpd="sng" w="28575">
            <a:solidFill>
              <a:srgbClr val="E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31"/>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sp>
        <p:nvSpPr>
          <p:cNvPr id="236" name="Google Shape;236;p31"/>
          <p:cNvSpPr txBox="1"/>
          <p:nvPr/>
        </p:nvSpPr>
        <p:spPr>
          <a:xfrm>
            <a:off x="643801" y="238200"/>
            <a:ext cx="7856400" cy="697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2000"/>
              </a:spcBef>
              <a:spcAft>
                <a:spcPts val="0"/>
              </a:spcAft>
              <a:buClr>
                <a:schemeClr val="dk1"/>
              </a:buClr>
              <a:buSzPts val="1100"/>
              <a:buFont typeface="Arial"/>
              <a:buNone/>
            </a:pPr>
            <a:r>
              <a:rPr b="0" i="1" lang="es" sz="3800" u="none" cap="none" strike="noStrike">
                <a:solidFill>
                  <a:schemeClr val="dk1"/>
                </a:solidFill>
                <a:latin typeface="Anton"/>
                <a:ea typeface="Anton"/>
                <a:cs typeface="Anton"/>
                <a:sym typeface="Anton"/>
              </a:rPr>
              <a:t>CREANDO UN REPOSITORIO</a:t>
            </a:r>
            <a:endParaRPr b="0" i="1" sz="3800" u="none" cap="none" strike="noStrike">
              <a:solidFill>
                <a:schemeClr val="dk1"/>
              </a:solidFill>
              <a:latin typeface="Anton"/>
              <a:ea typeface="Anton"/>
              <a:cs typeface="Anton"/>
              <a:sym typeface="Anton"/>
            </a:endParaRPr>
          </a:p>
          <a:p>
            <a:pPr indent="0" lvl="0" marL="0" marR="0" rtl="0" algn="l">
              <a:lnSpc>
                <a:spcPct val="115000"/>
              </a:lnSpc>
              <a:spcBef>
                <a:spcPts val="2000"/>
              </a:spcBef>
              <a:spcAft>
                <a:spcPts val="1200"/>
              </a:spcAft>
              <a:buClr>
                <a:schemeClr val="dk1"/>
              </a:buClr>
              <a:buSzPts val="1100"/>
              <a:buFont typeface="Arial"/>
              <a:buNone/>
            </a:pPr>
            <a:r>
              <a:t/>
            </a:r>
            <a:endParaRPr b="0" i="1" sz="3800" u="none" cap="none" strike="noStrike">
              <a:solidFill>
                <a:schemeClr val="dk1"/>
              </a:solidFill>
              <a:latin typeface="Anton"/>
              <a:ea typeface="Anton"/>
              <a:cs typeface="Anton"/>
              <a:sym typeface="Anton"/>
            </a:endParaRPr>
          </a:p>
        </p:txBody>
      </p:sp>
      <p:sp>
        <p:nvSpPr>
          <p:cNvPr id="237" name="Google Shape;237;p31"/>
          <p:cNvSpPr txBox="1"/>
          <p:nvPr/>
        </p:nvSpPr>
        <p:spPr>
          <a:xfrm>
            <a:off x="5517150" y="1104900"/>
            <a:ext cx="3422700" cy="2933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i="0" lang="es" sz="1800" u="none" cap="none" strike="noStrike">
                <a:solidFill>
                  <a:srgbClr val="000000"/>
                </a:solidFill>
                <a:latin typeface="Helvetica Neue Light"/>
                <a:ea typeface="Helvetica Neue Light"/>
                <a:cs typeface="Helvetica Neue Light"/>
                <a:sym typeface="Helvetica Neue Light"/>
              </a:rPr>
              <a:t>Luego de hacer clic en el enlace de verificación, aparecerá una pantalla así, que indica que tu e-mail ha sido verificado, y </a:t>
            </a:r>
            <a:r>
              <a:rPr b="1" i="0" lang="es" sz="1800" u="none" cap="none" strike="noStrike">
                <a:solidFill>
                  <a:srgbClr val="000000"/>
                </a:solidFill>
                <a:latin typeface="Helvetica Neue"/>
                <a:ea typeface="Helvetica Neue"/>
                <a:cs typeface="Helvetica Neue"/>
                <a:sym typeface="Helvetica Neue"/>
              </a:rPr>
              <a:t>permite que hagas tu primer repositorio.</a:t>
            </a:r>
            <a:endParaRPr b="1" i="0" sz="1800" u="none" cap="none" strike="noStrike">
              <a:solidFill>
                <a:srgbClr val="000000"/>
              </a:solidFill>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1600"/>
              <a:buFont typeface="Arial"/>
              <a:buNone/>
            </a:pPr>
            <a:r>
              <a:t/>
            </a:r>
            <a:endParaRPr i="0" sz="1800" u="none" cap="none" strike="noStrike">
              <a:solidFill>
                <a:srgbClr val="000000"/>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rgbClr val="000000"/>
              </a:buClr>
              <a:buSzPts val="1600"/>
              <a:buFont typeface="Arial"/>
              <a:buNone/>
            </a:pPr>
            <a:r>
              <a:rPr i="0" lang="es" sz="1800" u="none" cap="none" strike="noStrike">
                <a:solidFill>
                  <a:srgbClr val="000000"/>
                </a:solidFill>
                <a:latin typeface="Helvetica Neue Light"/>
                <a:ea typeface="Helvetica Neue Light"/>
                <a:cs typeface="Helvetica Neue Light"/>
                <a:sym typeface="Helvetica Neue Light"/>
              </a:rPr>
              <a:t>Por ejemplo, podría ser llamado </a:t>
            </a:r>
            <a:r>
              <a:rPr i="0" lang="es" sz="1800" u="none" cap="none" strike="noStrike">
                <a:solidFill>
                  <a:srgbClr val="000000"/>
                </a:solidFill>
                <a:highlight>
                  <a:srgbClr val="E0FF00"/>
                </a:highlight>
                <a:latin typeface="Helvetica Neue Light"/>
                <a:ea typeface="Helvetica Neue Light"/>
                <a:cs typeface="Helvetica Neue Light"/>
                <a:sym typeface="Helvetica Neue Light"/>
              </a:rPr>
              <a:t>“mi_repositorio”</a:t>
            </a:r>
            <a:r>
              <a:rPr i="0" lang="es" sz="1800" u="none" cap="none" strike="noStrike">
                <a:solidFill>
                  <a:srgbClr val="000000"/>
                </a:solidFill>
                <a:latin typeface="Helvetica Neue Light"/>
                <a:ea typeface="Helvetica Neue Light"/>
                <a:cs typeface="Helvetica Neue Light"/>
                <a:sym typeface="Helvetica Neue Light"/>
              </a:rPr>
              <a:t>, para que pruebes con los archivos que trabajaste en el desafío de GIT.</a:t>
            </a:r>
            <a:endParaRPr i="0" sz="1800" u="none" cap="none" strike="noStrike">
              <a:solidFill>
                <a:srgbClr val="000000"/>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rgbClr val="000000"/>
              </a:buClr>
              <a:buSzPts val="1600"/>
              <a:buFont typeface="Arial"/>
              <a:buNone/>
            </a:pPr>
            <a:r>
              <a:t/>
            </a:r>
            <a:endParaRPr i="0" sz="1800" u="none" cap="none" strike="noStrike">
              <a:solidFill>
                <a:schemeClr val="dk1"/>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rgbClr val="000000"/>
              </a:buClr>
              <a:buSzPts val="1600"/>
              <a:buFont typeface="Arial"/>
              <a:buNone/>
            </a:pPr>
            <a:r>
              <a:t/>
            </a:r>
            <a:endParaRPr i="0" sz="1800" u="none" cap="none" strike="noStrike">
              <a:solidFill>
                <a:schemeClr val="dk1"/>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rgbClr val="000000"/>
              </a:buClr>
              <a:buSzPts val="1600"/>
              <a:buFont typeface="Arial"/>
              <a:buNone/>
            </a:pPr>
            <a:r>
              <a:t/>
            </a:r>
            <a:endParaRPr i="0" sz="1800" u="none" cap="none" strike="noStrike">
              <a:solidFill>
                <a:schemeClr val="dk1"/>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rgbClr val="000000"/>
              </a:buClr>
              <a:buSzPts val="1600"/>
              <a:buFont typeface="Arial"/>
              <a:buNone/>
            </a:pPr>
            <a:r>
              <a:t/>
            </a:r>
            <a:endParaRPr i="0" sz="1800" u="none" cap="none" strike="noStrike">
              <a:solidFill>
                <a:srgbClr val="000000"/>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rgbClr val="000000"/>
              </a:buClr>
              <a:buSzPts val="1600"/>
              <a:buFont typeface="Arial"/>
              <a:buNone/>
            </a:pPr>
            <a:r>
              <a:t/>
            </a:r>
            <a:endParaRPr i="0" sz="1800" u="none" cap="none" strike="noStrike">
              <a:solidFill>
                <a:srgbClr val="000000"/>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rgbClr val="000000"/>
              </a:buClr>
              <a:buSzPts val="1600"/>
              <a:buFont typeface="Arial"/>
              <a:buNone/>
            </a:pPr>
            <a:r>
              <a:t/>
            </a:r>
            <a:endParaRPr i="0" sz="1800" u="none" cap="none" strike="noStrike">
              <a:solidFill>
                <a:srgbClr val="000000"/>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rgbClr val="000000"/>
              </a:buClr>
              <a:buSzPts val="1600"/>
              <a:buFont typeface="Arial"/>
              <a:buNone/>
            </a:pPr>
            <a:r>
              <a:t/>
            </a:r>
            <a:endParaRPr i="0" sz="1800" u="none" cap="none" strike="noStrike">
              <a:solidFill>
                <a:srgbClr val="000000"/>
              </a:solidFill>
              <a:latin typeface="Helvetica Neue Light"/>
              <a:ea typeface="Helvetica Neue Light"/>
              <a:cs typeface="Helvetica Neue Light"/>
              <a:sym typeface="Helvetica Neue Light"/>
            </a:endParaRPr>
          </a:p>
        </p:txBody>
      </p:sp>
      <p:pic>
        <p:nvPicPr>
          <p:cNvPr id="238" name="Google Shape;238;p31"/>
          <p:cNvPicPr preferRelativeResize="0"/>
          <p:nvPr/>
        </p:nvPicPr>
        <p:blipFill rotWithShape="1">
          <a:blip r:embed="rId4">
            <a:alphaModFix/>
          </a:blip>
          <a:srcRect b="0" l="0" r="0" t="0"/>
          <a:stretch/>
        </p:blipFill>
        <p:spPr>
          <a:xfrm>
            <a:off x="253625" y="1305190"/>
            <a:ext cx="5212475" cy="3195299"/>
          </a:xfrm>
          <a:prstGeom prst="rect">
            <a:avLst/>
          </a:prstGeom>
          <a:noFill/>
          <a:ln>
            <a:noFill/>
          </a:ln>
        </p:spPr>
      </p:pic>
      <p:sp>
        <p:nvSpPr>
          <p:cNvPr id="239" name="Google Shape;239;p31"/>
          <p:cNvSpPr/>
          <p:nvPr/>
        </p:nvSpPr>
        <p:spPr>
          <a:xfrm>
            <a:off x="253625" y="1305200"/>
            <a:ext cx="5212500" cy="3195300"/>
          </a:xfrm>
          <a:prstGeom prst="rect">
            <a:avLst/>
          </a:prstGeom>
          <a:noFill/>
          <a:ln cap="flat" cmpd="sng" w="28575">
            <a:solidFill>
              <a:srgbClr val="E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32"/>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sp>
        <p:nvSpPr>
          <p:cNvPr id="245" name="Google Shape;245;p32"/>
          <p:cNvSpPr txBox="1"/>
          <p:nvPr/>
        </p:nvSpPr>
        <p:spPr>
          <a:xfrm>
            <a:off x="5429250" y="1502075"/>
            <a:ext cx="3325200" cy="2933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b="0" i="0" lang="es" sz="1800" u="none" cap="none" strike="noStrike">
                <a:solidFill>
                  <a:srgbClr val="000000"/>
                </a:solidFill>
                <a:latin typeface="Helvetica Neue Light"/>
                <a:ea typeface="Helvetica Neue Light"/>
                <a:cs typeface="Helvetica Neue Light"/>
                <a:sym typeface="Helvetica Neue Light"/>
              </a:rPr>
              <a:t>Elegimos </a:t>
            </a:r>
            <a:r>
              <a:rPr b="1" i="0" lang="es" sz="1800" u="none" cap="none" strike="noStrike">
                <a:solidFill>
                  <a:srgbClr val="000000"/>
                </a:solidFill>
                <a:latin typeface="Helvetica Neue"/>
                <a:ea typeface="Helvetica Neue"/>
                <a:cs typeface="Helvetica Neue"/>
                <a:sym typeface="Helvetica Neue"/>
              </a:rPr>
              <a:t>“público”</a:t>
            </a:r>
            <a:r>
              <a:rPr b="0" i="0" lang="es" sz="1800" u="none" cap="none" strike="noStrike">
                <a:solidFill>
                  <a:srgbClr val="000000"/>
                </a:solidFill>
                <a:latin typeface="Helvetica Neue Light"/>
                <a:ea typeface="Helvetica Neue Light"/>
                <a:cs typeface="Helvetica Neue Light"/>
                <a:sym typeface="Helvetica Neue Light"/>
              </a:rPr>
              <a:t> o </a:t>
            </a:r>
            <a:r>
              <a:rPr b="1" i="0" lang="es" sz="1800" u="none" cap="none" strike="noStrike">
                <a:solidFill>
                  <a:srgbClr val="000000"/>
                </a:solidFill>
                <a:latin typeface="Helvetica Neue"/>
                <a:ea typeface="Helvetica Neue"/>
                <a:cs typeface="Helvetica Neue"/>
                <a:sym typeface="Helvetica Neue"/>
              </a:rPr>
              <a:t>“privado”</a:t>
            </a:r>
            <a:r>
              <a:rPr b="0" i="0" lang="es" sz="1800" u="none" cap="none" strike="noStrike">
                <a:solidFill>
                  <a:srgbClr val="000000"/>
                </a:solidFill>
                <a:latin typeface="Helvetica Neue Light"/>
                <a:ea typeface="Helvetica Neue Light"/>
                <a:cs typeface="Helvetica Neue Light"/>
                <a:sym typeface="Helvetica Neue Light"/>
              </a:rPr>
              <a:t>. Si bien con privado limitamos el acceso a cualquier persona, no nos permitirá mostrar nuestro código como página web, por lo que elegimos </a:t>
            </a:r>
            <a:r>
              <a:rPr b="1" i="0" lang="es" sz="1800" u="none" cap="none" strike="noStrike">
                <a:solidFill>
                  <a:srgbClr val="000000"/>
                </a:solidFill>
                <a:latin typeface="Helvetica Neue"/>
                <a:ea typeface="Helvetica Neue"/>
                <a:cs typeface="Helvetica Neue"/>
                <a:sym typeface="Helvetica Neue"/>
              </a:rPr>
              <a:t>“público”</a:t>
            </a:r>
            <a:r>
              <a:rPr b="0" i="0" lang="es" sz="1800" u="none" cap="none" strike="noStrike">
                <a:solidFill>
                  <a:srgbClr val="000000"/>
                </a:solidFill>
                <a:latin typeface="Helvetica Neue Light"/>
                <a:ea typeface="Helvetica Neue Light"/>
                <a:cs typeface="Helvetica Neue Light"/>
                <a:sym typeface="Helvetica Neue Light"/>
              </a:rPr>
              <a:t>. Luego hacemos clic en </a:t>
            </a:r>
            <a:r>
              <a:rPr b="1" i="0" lang="es" sz="1800" u="none" cap="none" strike="noStrike">
                <a:solidFill>
                  <a:srgbClr val="000000"/>
                </a:solidFill>
                <a:latin typeface="Helvetica Neue"/>
                <a:ea typeface="Helvetica Neue"/>
                <a:cs typeface="Helvetica Neue"/>
                <a:sym typeface="Helvetica Neue"/>
              </a:rPr>
              <a:t>“create repository”</a:t>
            </a:r>
            <a:r>
              <a:rPr b="0" i="0" lang="es" sz="1800" u="none" cap="none" strike="noStrike">
                <a:solidFill>
                  <a:srgbClr val="000000"/>
                </a:solidFill>
                <a:latin typeface="Helvetica Neue Light"/>
                <a:ea typeface="Helvetica Neue Light"/>
                <a:cs typeface="Helvetica Neue Light"/>
                <a:sym typeface="Helvetica Neue Light"/>
              </a:rPr>
              <a:t>.</a:t>
            </a:r>
            <a:endParaRPr b="0" i="0" sz="1800" u="none" cap="none" strike="noStrike">
              <a:solidFill>
                <a:srgbClr val="000000"/>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rgbClr val="000000"/>
              </a:buClr>
              <a:buSzPts val="1600"/>
              <a:buFont typeface="Arial"/>
              <a:buNone/>
            </a:pPr>
            <a:r>
              <a:t/>
            </a:r>
            <a:endParaRPr b="0" i="0" sz="18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latin typeface="Didact Gothic"/>
              <a:ea typeface="Didact Gothic"/>
              <a:cs typeface="Didact Gothic"/>
              <a:sym typeface="Didact Gothic"/>
            </a:endParaRPr>
          </a:p>
        </p:txBody>
      </p:sp>
      <p:pic>
        <p:nvPicPr>
          <p:cNvPr id="246" name="Google Shape;246;p32"/>
          <p:cNvPicPr preferRelativeResize="0"/>
          <p:nvPr/>
        </p:nvPicPr>
        <p:blipFill rotWithShape="1">
          <a:blip r:embed="rId4">
            <a:alphaModFix/>
          </a:blip>
          <a:srcRect b="0" l="0" r="0" t="0"/>
          <a:stretch/>
        </p:blipFill>
        <p:spPr>
          <a:xfrm>
            <a:off x="546850" y="1375840"/>
            <a:ext cx="4725472" cy="3471584"/>
          </a:xfrm>
          <a:prstGeom prst="rect">
            <a:avLst/>
          </a:prstGeom>
          <a:noFill/>
          <a:ln>
            <a:noFill/>
          </a:ln>
        </p:spPr>
      </p:pic>
      <p:sp>
        <p:nvSpPr>
          <p:cNvPr id="247" name="Google Shape;247;p32"/>
          <p:cNvSpPr txBox="1"/>
          <p:nvPr/>
        </p:nvSpPr>
        <p:spPr>
          <a:xfrm>
            <a:off x="643801" y="238200"/>
            <a:ext cx="7856400" cy="697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2000"/>
              </a:spcBef>
              <a:spcAft>
                <a:spcPts val="0"/>
              </a:spcAft>
              <a:buClr>
                <a:schemeClr val="dk1"/>
              </a:buClr>
              <a:buSzPts val="1100"/>
              <a:buFont typeface="Arial"/>
              <a:buNone/>
            </a:pPr>
            <a:r>
              <a:rPr b="0" i="1" lang="es" sz="3800" u="none" cap="none" strike="noStrike">
                <a:solidFill>
                  <a:schemeClr val="dk1"/>
                </a:solidFill>
                <a:latin typeface="Anton"/>
                <a:ea typeface="Anton"/>
                <a:cs typeface="Anton"/>
                <a:sym typeface="Anton"/>
              </a:rPr>
              <a:t>CREANDO UN REPOSITORIO</a:t>
            </a:r>
            <a:endParaRPr b="0" i="1" sz="3800" u="none" cap="none" strike="noStrike">
              <a:solidFill>
                <a:schemeClr val="dk1"/>
              </a:solidFill>
              <a:latin typeface="Anton"/>
              <a:ea typeface="Anton"/>
              <a:cs typeface="Anton"/>
              <a:sym typeface="Anton"/>
            </a:endParaRPr>
          </a:p>
          <a:p>
            <a:pPr indent="0" lvl="0" marL="0" marR="0" rtl="0" algn="l">
              <a:lnSpc>
                <a:spcPct val="115000"/>
              </a:lnSpc>
              <a:spcBef>
                <a:spcPts val="2000"/>
              </a:spcBef>
              <a:spcAft>
                <a:spcPts val="1200"/>
              </a:spcAft>
              <a:buClr>
                <a:schemeClr val="dk1"/>
              </a:buClr>
              <a:buSzPts val="1100"/>
              <a:buFont typeface="Arial"/>
              <a:buNone/>
            </a:pPr>
            <a:r>
              <a:t/>
            </a:r>
            <a:endParaRPr b="1" i="0" sz="1600" u="none" cap="none" strike="noStrike">
              <a:solidFill>
                <a:srgbClr val="000000"/>
              </a:solidFill>
              <a:latin typeface="Helvetica Neue"/>
              <a:ea typeface="Helvetica Neue"/>
              <a:cs typeface="Helvetica Neue"/>
              <a:sym typeface="Helvetica Neue"/>
            </a:endParaRPr>
          </a:p>
        </p:txBody>
      </p:sp>
      <p:sp>
        <p:nvSpPr>
          <p:cNvPr id="248" name="Google Shape;248;p32"/>
          <p:cNvSpPr/>
          <p:nvPr/>
        </p:nvSpPr>
        <p:spPr>
          <a:xfrm>
            <a:off x="714375" y="1418550"/>
            <a:ext cx="4623000" cy="3241200"/>
          </a:xfrm>
          <a:prstGeom prst="rect">
            <a:avLst/>
          </a:prstGeom>
          <a:noFill/>
          <a:ln cap="flat" cmpd="sng" w="28575">
            <a:solidFill>
              <a:srgbClr val="E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33"/>
          <p:cNvPicPr preferRelativeResize="0"/>
          <p:nvPr/>
        </p:nvPicPr>
        <p:blipFill rotWithShape="1">
          <a:blip r:embed="rId3">
            <a:alphaModFix/>
          </a:blip>
          <a:srcRect b="0" l="0" r="0" t="0"/>
          <a:stretch/>
        </p:blipFill>
        <p:spPr>
          <a:xfrm>
            <a:off x="377600" y="-89775"/>
            <a:ext cx="8388799" cy="5080076"/>
          </a:xfrm>
          <a:prstGeom prst="rect">
            <a:avLst/>
          </a:prstGeom>
          <a:noFill/>
          <a:ln>
            <a:noFill/>
          </a:ln>
        </p:spPr>
      </p:pic>
      <p:pic>
        <p:nvPicPr>
          <p:cNvPr id="254" name="Google Shape;254;p33"/>
          <p:cNvPicPr preferRelativeResize="0"/>
          <p:nvPr/>
        </p:nvPicPr>
        <p:blipFill rotWithShape="1">
          <a:blip r:embed="rId4">
            <a:alphaModFix/>
          </a:blip>
          <a:srcRect b="0" l="0" r="0" t="0"/>
          <a:stretch/>
        </p:blipFill>
        <p:spPr>
          <a:xfrm>
            <a:off x="7567925" y="4659625"/>
            <a:ext cx="1186526" cy="3306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34"/>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sp>
        <p:nvSpPr>
          <p:cNvPr id="260" name="Google Shape;260;p34"/>
          <p:cNvSpPr txBox="1"/>
          <p:nvPr/>
        </p:nvSpPr>
        <p:spPr>
          <a:xfrm>
            <a:off x="643801" y="262675"/>
            <a:ext cx="7856400" cy="697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2000"/>
              </a:spcBef>
              <a:spcAft>
                <a:spcPts val="600"/>
              </a:spcAft>
              <a:buClr>
                <a:schemeClr val="dk1"/>
              </a:buClr>
              <a:buSzPts val="1100"/>
              <a:buFont typeface="Arial"/>
              <a:buNone/>
            </a:pPr>
            <a:r>
              <a:rPr b="0" i="1" lang="es" sz="3800" u="none" cap="none" strike="noStrike">
                <a:solidFill>
                  <a:schemeClr val="dk1"/>
                </a:solidFill>
                <a:latin typeface="Anton"/>
                <a:ea typeface="Anton"/>
                <a:cs typeface="Anton"/>
                <a:sym typeface="Anton"/>
              </a:rPr>
              <a:t>VAMOS A SUBIR NUESTRO REPOSITORIO</a:t>
            </a:r>
            <a:endParaRPr b="0" i="1" sz="3800" u="none" cap="none" strike="noStrike">
              <a:solidFill>
                <a:schemeClr val="dk1"/>
              </a:solidFill>
              <a:latin typeface="Anton"/>
              <a:ea typeface="Anton"/>
              <a:cs typeface="Anton"/>
              <a:sym typeface="Anton"/>
            </a:endParaRPr>
          </a:p>
        </p:txBody>
      </p:sp>
      <p:sp>
        <p:nvSpPr>
          <p:cNvPr id="261" name="Google Shape;261;p34"/>
          <p:cNvSpPr txBox="1"/>
          <p:nvPr/>
        </p:nvSpPr>
        <p:spPr>
          <a:xfrm>
            <a:off x="900900" y="1186525"/>
            <a:ext cx="7342200" cy="984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Helvetica Neue Light"/>
                <a:ea typeface="Helvetica Neue Light"/>
                <a:cs typeface="Helvetica Neue Light"/>
                <a:sym typeface="Helvetica Neue Light"/>
              </a:rPr>
              <a:t>Vamos a nuestra terminal, y nos ubicamos en el proyecto creado en la clase pasada. Copiaremos las siguientes líneas para realizar el “push” de los archivos a nuestro servidor en GitHub.</a:t>
            </a:r>
            <a:endParaRPr b="0" i="0" sz="1800" u="none" cap="none" strike="noStrike">
              <a:solidFill>
                <a:srgbClr val="000000"/>
              </a:solidFill>
              <a:latin typeface="Helvetica Neue Light"/>
              <a:ea typeface="Helvetica Neue Light"/>
              <a:cs typeface="Helvetica Neue Light"/>
              <a:sym typeface="Helvetica Neue Light"/>
            </a:endParaRPr>
          </a:p>
        </p:txBody>
      </p:sp>
      <p:graphicFrame>
        <p:nvGraphicFramePr>
          <p:cNvPr id="262" name="Google Shape;262;p34"/>
          <p:cNvGraphicFramePr/>
          <p:nvPr/>
        </p:nvGraphicFramePr>
        <p:xfrm>
          <a:off x="643788" y="2506775"/>
          <a:ext cx="3000000" cy="3000000"/>
        </p:xfrm>
        <a:graphic>
          <a:graphicData uri="http://schemas.openxmlformats.org/drawingml/2006/table">
            <a:tbl>
              <a:tblPr>
                <a:noFill/>
                <a:tableStyleId>{D0110794-E18D-4F66-86E7-9A5FDD242C30}</a:tableStyleId>
              </a:tblPr>
              <a:tblGrid>
                <a:gridCol w="7856400"/>
              </a:tblGrid>
              <a:tr h="1507100">
                <a:tc>
                  <a:txBody>
                    <a:bodyPr/>
                    <a:lstStyle/>
                    <a:p>
                      <a:pPr indent="0" lvl="0" marL="0" marR="0" rtl="0" algn="l">
                        <a:lnSpc>
                          <a:spcPct val="100000"/>
                        </a:lnSpc>
                        <a:spcBef>
                          <a:spcPts val="0"/>
                        </a:spcBef>
                        <a:spcAft>
                          <a:spcPts val="0"/>
                        </a:spcAft>
                        <a:buClr>
                          <a:srgbClr val="000000"/>
                        </a:buClr>
                        <a:buSzPts val="1600"/>
                        <a:buFont typeface="Arial"/>
                        <a:buNone/>
                      </a:pPr>
                      <a:r>
                        <a:rPr lang="es" sz="1600" u="none" cap="none" strike="noStrike">
                          <a:solidFill>
                            <a:srgbClr val="666666"/>
                          </a:solidFill>
                          <a:highlight>
                            <a:schemeClr val="dk1"/>
                          </a:highlight>
                          <a:latin typeface="Helvetica Neue Light"/>
                          <a:ea typeface="Helvetica Neue Light"/>
                          <a:cs typeface="Helvetica Neue Light"/>
                          <a:sym typeface="Helvetica Neue Light"/>
                        </a:rPr>
                        <a:t>/* Paso 1: me ubico en mi repositorio */</a:t>
                      </a:r>
                      <a:endParaRPr sz="1600" u="none" cap="none" strike="noStrike">
                        <a:solidFill>
                          <a:srgbClr val="666666"/>
                        </a:solidFill>
                        <a:highlight>
                          <a:schemeClr val="dk1"/>
                        </a:highlight>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600"/>
                        <a:buFont typeface="Arial"/>
                        <a:buNone/>
                      </a:pPr>
                      <a:r>
                        <a:rPr lang="es" sz="1600" u="none" cap="none" strike="noStrike">
                          <a:solidFill>
                            <a:srgbClr val="00FF00"/>
                          </a:solidFill>
                          <a:highlight>
                            <a:schemeClr val="dk1"/>
                          </a:highlight>
                          <a:latin typeface="Helvetica Neue Light"/>
                          <a:ea typeface="Helvetica Neue Light"/>
                          <a:cs typeface="Helvetica Neue Light"/>
                          <a:sym typeface="Helvetica Neue Light"/>
                        </a:rPr>
                        <a:t>john@MyShopSolutions</a:t>
                      </a:r>
                      <a:r>
                        <a:rPr lang="es" sz="1600" u="none" cap="none" strike="noStrike">
                          <a:solidFill>
                            <a:srgbClr val="FF00FF"/>
                          </a:solidFill>
                          <a:highlight>
                            <a:schemeClr val="dk1"/>
                          </a:highlight>
                          <a:latin typeface="Helvetica Neue Light"/>
                          <a:ea typeface="Helvetica Neue Light"/>
                          <a:cs typeface="Helvetica Neue Light"/>
                          <a:sym typeface="Helvetica Neue Light"/>
                        </a:rPr>
                        <a:t> :~</a:t>
                      </a:r>
                      <a:r>
                        <a:rPr lang="es" sz="1600" u="none" cap="none" strike="noStrike">
                          <a:solidFill>
                            <a:srgbClr val="F3F3F3"/>
                          </a:solidFill>
                          <a:highlight>
                            <a:schemeClr val="dk1"/>
                          </a:highlight>
                          <a:latin typeface="Helvetica Neue Light"/>
                          <a:ea typeface="Helvetica Neue Light"/>
                          <a:cs typeface="Helvetica Neue Light"/>
                          <a:sym typeface="Helvetica Neue Light"/>
                        </a:rPr>
                        <a:t>$ cd Documents/Proyectos_Coder/mi_repositorio</a:t>
                      </a:r>
                      <a:endParaRPr sz="1800" u="none" cap="none" strike="noStrike">
                        <a:solidFill>
                          <a:srgbClr val="F3F3F3"/>
                        </a:solidFill>
                        <a:highlight>
                          <a:srgbClr val="000000"/>
                        </a:highlight>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600"/>
                        <a:buFont typeface="Arial"/>
                        <a:buNone/>
                      </a:pPr>
                      <a:r>
                        <a:rPr lang="es" sz="1600" u="none" cap="none" strike="noStrike">
                          <a:solidFill>
                            <a:srgbClr val="666666"/>
                          </a:solidFill>
                          <a:highlight>
                            <a:schemeClr val="dk1"/>
                          </a:highlight>
                          <a:latin typeface="Helvetica Neue Light"/>
                          <a:ea typeface="Helvetica Neue Light"/>
                          <a:cs typeface="Helvetica Neue Light"/>
                          <a:sym typeface="Helvetica Neue Light"/>
                        </a:rPr>
                        <a:t>/* Paso 2: indico cuál será mi nuevo repositorio remoto */</a:t>
                      </a:r>
                      <a:endParaRPr sz="1800" u="none" cap="none" strike="noStrike">
                        <a:solidFill>
                          <a:srgbClr val="F3F3F3"/>
                        </a:solidFill>
                        <a:highlight>
                          <a:srgbClr val="000000"/>
                        </a:highlight>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600"/>
                        <a:buFont typeface="Arial"/>
                        <a:buNone/>
                      </a:pPr>
                      <a:r>
                        <a:rPr lang="es" sz="1600" u="none" cap="none" strike="noStrike">
                          <a:solidFill>
                            <a:srgbClr val="00FF00"/>
                          </a:solidFill>
                          <a:highlight>
                            <a:schemeClr val="dk1"/>
                          </a:highlight>
                          <a:latin typeface="Helvetica Neue Light"/>
                          <a:ea typeface="Helvetica Neue Light"/>
                          <a:cs typeface="Helvetica Neue Light"/>
                          <a:sym typeface="Helvetica Neue Light"/>
                        </a:rPr>
                        <a:t>john@MyShopSolutions</a:t>
                      </a:r>
                      <a:r>
                        <a:rPr lang="es" sz="1600" u="none" cap="none" strike="noStrike">
                          <a:solidFill>
                            <a:srgbClr val="FF00FF"/>
                          </a:solidFill>
                          <a:highlight>
                            <a:schemeClr val="dk1"/>
                          </a:highlight>
                          <a:latin typeface="Helvetica Neue Light"/>
                          <a:ea typeface="Helvetica Neue Light"/>
                          <a:cs typeface="Helvetica Neue Light"/>
                          <a:sym typeface="Helvetica Neue Light"/>
                        </a:rPr>
                        <a:t>:~</a:t>
                      </a:r>
                      <a:r>
                        <a:rPr lang="es" sz="1600" u="none" cap="none" strike="noStrike">
                          <a:solidFill>
                            <a:srgbClr val="FFFF00"/>
                          </a:solidFill>
                          <a:highlight>
                            <a:schemeClr val="dk1"/>
                          </a:highlight>
                          <a:latin typeface="Helvetica Neue Light"/>
                          <a:ea typeface="Helvetica Neue Light"/>
                          <a:cs typeface="Helvetica Neue Light"/>
                          <a:sym typeface="Helvetica Neue Light"/>
                        </a:rPr>
                        <a:t>/Documents/Proyectos_Coder/mi_repositorio</a:t>
                      </a:r>
                      <a:r>
                        <a:rPr lang="es" sz="1800" u="none" cap="none" strike="noStrike">
                          <a:solidFill>
                            <a:srgbClr val="F3F3F3"/>
                          </a:solidFill>
                          <a:highlight>
                            <a:schemeClr val="dk1"/>
                          </a:highlight>
                          <a:latin typeface="Helvetica Neue Light"/>
                          <a:ea typeface="Helvetica Neue Light"/>
                          <a:cs typeface="Helvetica Neue Light"/>
                          <a:sym typeface="Helvetica Neue Light"/>
                        </a:rPr>
                        <a:t>$ git remote add origin https://github.com/miuser/mi_repositorio.git</a:t>
                      </a:r>
                      <a:endParaRPr sz="1800" u="none" cap="none" strike="noStrike">
                        <a:solidFill>
                          <a:srgbClr val="F3F3F3"/>
                        </a:solidFill>
                        <a:highlight>
                          <a:schemeClr val="dk1"/>
                        </a:highlight>
                        <a:latin typeface="Helvetica Neue Light"/>
                        <a:ea typeface="Helvetica Neue Light"/>
                        <a:cs typeface="Helvetica Neue Light"/>
                        <a:sym typeface="Helvetica Neue Light"/>
                      </a:endParaRPr>
                    </a:p>
                  </a:txBody>
                  <a:tcPr marT="63500" marB="63500" marR="63500" marL="63500">
                    <a:solidFill>
                      <a:srgbClr val="000000"/>
                    </a:solidFill>
                  </a:tcPr>
                </a:tc>
              </a:tr>
            </a:tbl>
          </a:graphicData>
        </a:graphic>
      </p:graphicFrame>
      <p:pic>
        <p:nvPicPr>
          <p:cNvPr id="263" name="Google Shape;263;p34"/>
          <p:cNvPicPr preferRelativeResize="0"/>
          <p:nvPr/>
        </p:nvPicPr>
        <p:blipFill rotWithShape="1">
          <a:blip r:embed="rId4">
            <a:alphaModFix/>
          </a:blip>
          <a:srcRect b="0" l="0" r="0" t="0"/>
          <a:stretch/>
        </p:blipFill>
        <p:spPr>
          <a:xfrm>
            <a:off x="7957475" y="0"/>
            <a:ext cx="1186525" cy="11865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graphicFrame>
        <p:nvGraphicFramePr>
          <p:cNvPr id="268" name="Google Shape;268;p35"/>
          <p:cNvGraphicFramePr/>
          <p:nvPr/>
        </p:nvGraphicFramePr>
        <p:xfrm>
          <a:off x="563825" y="1118875"/>
          <a:ext cx="3000000" cy="3000000"/>
        </p:xfrm>
        <a:graphic>
          <a:graphicData uri="http://schemas.openxmlformats.org/drawingml/2006/table">
            <a:tbl>
              <a:tblPr>
                <a:noFill/>
                <a:tableStyleId>{D0110794-E18D-4F66-86E7-9A5FDD242C30}</a:tableStyleId>
              </a:tblPr>
              <a:tblGrid>
                <a:gridCol w="8016350"/>
              </a:tblGrid>
              <a:tr h="3101475">
                <a:tc>
                  <a:txBody>
                    <a:bodyPr/>
                    <a:lstStyle/>
                    <a:p>
                      <a:pPr indent="0" lvl="0" marL="0" marR="0" rtl="0" algn="l">
                        <a:lnSpc>
                          <a:spcPct val="100000"/>
                        </a:lnSpc>
                        <a:spcBef>
                          <a:spcPts val="0"/>
                        </a:spcBef>
                        <a:spcAft>
                          <a:spcPts val="0"/>
                        </a:spcAft>
                        <a:buClr>
                          <a:schemeClr val="dk1"/>
                        </a:buClr>
                        <a:buSzPts val="1100"/>
                        <a:buFont typeface="Arial"/>
                        <a:buNone/>
                      </a:pPr>
                      <a:r>
                        <a:rPr lang="es" sz="1500" u="none" cap="none" strike="noStrike">
                          <a:solidFill>
                            <a:srgbClr val="666666"/>
                          </a:solidFill>
                          <a:highlight>
                            <a:schemeClr val="dk1"/>
                          </a:highlight>
                          <a:latin typeface="Helvetica Neue Light"/>
                          <a:ea typeface="Helvetica Neue Light"/>
                          <a:cs typeface="Helvetica Neue Light"/>
                          <a:sym typeface="Helvetica Neue Light"/>
                        </a:rPr>
                        <a:t>/</a:t>
                      </a:r>
                      <a:r>
                        <a:rPr lang="es" sz="1600" u="none" cap="none" strike="noStrike">
                          <a:solidFill>
                            <a:srgbClr val="666666"/>
                          </a:solidFill>
                          <a:highlight>
                            <a:schemeClr val="dk1"/>
                          </a:highlight>
                          <a:latin typeface="Helvetica Neue Light"/>
                          <a:ea typeface="Helvetica Neue Light"/>
                          <a:cs typeface="Helvetica Neue Light"/>
                          <a:sym typeface="Helvetica Neue Light"/>
                        </a:rPr>
                        <a:t>* Paso 3: Pusheamos todos nuestros archivos al repositorio de github*/</a:t>
                      </a:r>
                      <a:endParaRPr sz="1600" u="none" cap="none" strike="noStrike">
                        <a:solidFill>
                          <a:srgbClr val="F3F3F3"/>
                        </a:solidFill>
                        <a:highlight>
                          <a:schemeClr val="dk1"/>
                        </a:highlight>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500"/>
                        <a:buFont typeface="Arial"/>
                        <a:buNone/>
                      </a:pPr>
                      <a:r>
                        <a:rPr lang="es" sz="1600" u="none" cap="none" strike="noStrike">
                          <a:solidFill>
                            <a:srgbClr val="00FF00"/>
                          </a:solidFill>
                          <a:highlight>
                            <a:schemeClr val="dk1"/>
                          </a:highlight>
                          <a:latin typeface="Helvetica Neue Light"/>
                          <a:ea typeface="Helvetica Neue Light"/>
                          <a:cs typeface="Helvetica Neue Light"/>
                          <a:sym typeface="Helvetica Neue Light"/>
                        </a:rPr>
                        <a:t>john@MyShopSolutions</a:t>
                      </a:r>
                      <a:r>
                        <a:rPr lang="es" sz="1600" u="none" cap="none" strike="noStrike">
                          <a:solidFill>
                            <a:srgbClr val="FF00FF"/>
                          </a:solidFill>
                          <a:highlight>
                            <a:schemeClr val="dk1"/>
                          </a:highlight>
                          <a:latin typeface="Helvetica Neue Light"/>
                          <a:ea typeface="Helvetica Neue Light"/>
                          <a:cs typeface="Helvetica Neue Light"/>
                          <a:sym typeface="Helvetica Neue Light"/>
                        </a:rPr>
                        <a:t>:~</a:t>
                      </a:r>
                      <a:r>
                        <a:rPr lang="es" sz="1600" u="none" cap="none" strike="noStrike">
                          <a:solidFill>
                            <a:srgbClr val="FFFF00"/>
                          </a:solidFill>
                          <a:highlight>
                            <a:schemeClr val="dk1"/>
                          </a:highlight>
                          <a:latin typeface="Helvetica Neue Light"/>
                          <a:ea typeface="Helvetica Neue Light"/>
                          <a:cs typeface="Helvetica Neue Light"/>
                          <a:sym typeface="Helvetica Neue Light"/>
                        </a:rPr>
                        <a:t>/Documents/Proyectos_Coder/mi_repositorio</a:t>
                      </a:r>
                      <a:r>
                        <a:rPr lang="es" sz="1600" u="none" cap="none" strike="noStrike">
                          <a:solidFill>
                            <a:srgbClr val="F3F3F3"/>
                          </a:solidFill>
                          <a:highlight>
                            <a:schemeClr val="dk1"/>
                          </a:highlight>
                          <a:latin typeface="Helvetica Neue Light"/>
                          <a:ea typeface="Helvetica Neue Light"/>
                          <a:cs typeface="Helvetica Neue Light"/>
                          <a:sym typeface="Helvetica Neue Light"/>
                        </a:rPr>
                        <a:t>$ git push -u origin master</a:t>
                      </a:r>
                      <a:endParaRPr sz="1600" u="none" cap="none" strike="noStrike">
                        <a:solidFill>
                          <a:srgbClr val="F3F3F3"/>
                        </a:solidFill>
                        <a:highlight>
                          <a:schemeClr val="dk1"/>
                        </a:highlight>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500"/>
                        <a:buFont typeface="Arial"/>
                        <a:buNone/>
                      </a:pPr>
                      <a:r>
                        <a:rPr lang="es" sz="1600" u="none" cap="none" strike="noStrike">
                          <a:solidFill>
                            <a:srgbClr val="F3F3F3"/>
                          </a:solidFill>
                          <a:highlight>
                            <a:schemeClr val="dk1"/>
                          </a:highlight>
                          <a:latin typeface="Helvetica Neue Light"/>
                          <a:ea typeface="Helvetica Neue Light"/>
                          <a:cs typeface="Helvetica Neue Light"/>
                          <a:sym typeface="Helvetica Neue Light"/>
                        </a:rPr>
                        <a:t>Username for 'https://github.com': miuser </a:t>
                      </a:r>
                      <a:r>
                        <a:rPr lang="es" sz="1600" u="none" cap="none" strike="noStrike">
                          <a:solidFill>
                            <a:srgbClr val="999999"/>
                          </a:solidFill>
                          <a:highlight>
                            <a:schemeClr val="dk1"/>
                          </a:highlight>
                          <a:latin typeface="Helvetica Neue Light"/>
                          <a:ea typeface="Helvetica Neue Light"/>
                          <a:cs typeface="Helvetica Neue Light"/>
                          <a:sym typeface="Helvetica Neue Light"/>
                        </a:rPr>
                        <a:t>/* Pedirá el usuario de github */</a:t>
                      </a:r>
                      <a:endParaRPr sz="1600" u="none" cap="none" strike="noStrike">
                        <a:solidFill>
                          <a:srgbClr val="999999"/>
                        </a:solidFill>
                        <a:highlight>
                          <a:schemeClr val="dk1"/>
                        </a:highlight>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500"/>
                        <a:buFont typeface="Arial"/>
                        <a:buNone/>
                      </a:pPr>
                      <a:r>
                        <a:rPr lang="es" sz="1600" u="none" cap="none" strike="noStrike">
                          <a:solidFill>
                            <a:srgbClr val="F3F3F3"/>
                          </a:solidFill>
                          <a:highlight>
                            <a:schemeClr val="dk1"/>
                          </a:highlight>
                          <a:latin typeface="Helvetica Neue Light"/>
                          <a:ea typeface="Helvetica Neue Light"/>
                          <a:cs typeface="Helvetica Neue Light"/>
                          <a:sym typeface="Helvetica Neue Light"/>
                        </a:rPr>
                        <a:t>Password for 'https://isaine@github.com': </a:t>
                      </a:r>
                      <a:r>
                        <a:rPr lang="es" sz="1600" u="none" cap="none" strike="noStrike">
                          <a:solidFill>
                            <a:srgbClr val="999999"/>
                          </a:solidFill>
                          <a:highlight>
                            <a:schemeClr val="dk1"/>
                          </a:highlight>
                          <a:latin typeface="Helvetica Neue Light"/>
                          <a:ea typeface="Helvetica Neue Light"/>
                          <a:cs typeface="Helvetica Neue Light"/>
                          <a:sym typeface="Helvetica Neue Light"/>
                        </a:rPr>
                        <a:t>/* Pedirá el la clave de github *//</a:t>
                      </a:r>
                      <a:endParaRPr sz="1600" u="none" cap="none" strike="noStrike">
                        <a:solidFill>
                          <a:srgbClr val="999999"/>
                        </a:solidFill>
                        <a:highlight>
                          <a:schemeClr val="dk1"/>
                        </a:highlight>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500"/>
                        <a:buFont typeface="Arial"/>
                        <a:buNone/>
                      </a:pPr>
                      <a:r>
                        <a:rPr lang="es" sz="1600" u="none" cap="none" strike="noStrike">
                          <a:solidFill>
                            <a:srgbClr val="F3F3F3"/>
                          </a:solidFill>
                          <a:highlight>
                            <a:schemeClr val="dk1"/>
                          </a:highlight>
                          <a:latin typeface="Helvetica Neue Light"/>
                          <a:ea typeface="Helvetica Neue Light"/>
                          <a:cs typeface="Helvetica Neue Light"/>
                          <a:sym typeface="Helvetica Neue Light"/>
                        </a:rPr>
                        <a:t>Counting objects: 9, done.</a:t>
                      </a:r>
                      <a:endParaRPr sz="1600" u="none" cap="none" strike="noStrike">
                        <a:solidFill>
                          <a:srgbClr val="F3F3F3"/>
                        </a:solidFill>
                        <a:highlight>
                          <a:schemeClr val="dk1"/>
                        </a:highlight>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500"/>
                        <a:buFont typeface="Arial"/>
                        <a:buNone/>
                      </a:pPr>
                      <a:r>
                        <a:rPr lang="es" sz="1600" u="none" cap="none" strike="noStrike">
                          <a:solidFill>
                            <a:srgbClr val="F3F3F3"/>
                          </a:solidFill>
                          <a:highlight>
                            <a:schemeClr val="dk1"/>
                          </a:highlight>
                          <a:latin typeface="Helvetica Neue Light"/>
                          <a:ea typeface="Helvetica Neue Light"/>
                          <a:cs typeface="Helvetica Neue Light"/>
                          <a:sym typeface="Helvetica Neue Light"/>
                        </a:rPr>
                        <a:t>Delta compression using up to 4 threads.</a:t>
                      </a:r>
                      <a:endParaRPr sz="1600" u="none" cap="none" strike="noStrike">
                        <a:solidFill>
                          <a:srgbClr val="F3F3F3"/>
                        </a:solidFill>
                        <a:highlight>
                          <a:schemeClr val="dk1"/>
                        </a:highlight>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500"/>
                        <a:buFont typeface="Arial"/>
                        <a:buNone/>
                      </a:pPr>
                      <a:r>
                        <a:rPr lang="es" sz="1600" u="none" cap="none" strike="noStrike">
                          <a:solidFill>
                            <a:srgbClr val="F3F3F3"/>
                          </a:solidFill>
                          <a:highlight>
                            <a:schemeClr val="dk1"/>
                          </a:highlight>
                          <a:latin typeface="Helvetica Neue Light"/>
                          <a:ea typeface="Helvetica Neue Light"/>
                          <a:cs typeface="Helvetica Neue Light"/>
                          <a:sym typeface="Helvetica Neue Light"/>
                        </a:rPr>
                        <a:t>Compressing objects: 100% (6/6), done.</a:t>
                      </a:r>
                      <a:endParaRPr sz="1600" u="none" cap="none" strike="noStrike">
                        <a:solidFill>
                          <a:srgbClr val="F3F3F3"/>
                        </a:solidFill>
                        <a:highlight>
                          <a:schemeClr val="dk1"/>
                        </a:highlight>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500"/>
                        <a:buFont typeface="Arial"/>
                        <a:buNone/>
                      </a:pPr>
                      <a:r>
                        <a:rPr lang="es" sz="1600" u="none" cap="none" strike="noStrike">
                          <a:solidFill>
                            <a:srgbClr val="F3F3F3"/>
                          </a:solidFill>
                          <a:highlight>
                            <a:schemeClr val="dk1"/>
                          </a:highlight>
                          <a:latin typeface="Helvetica Neue Light"/>
                          <a:ea typeface="Helvetica Neue Light"/>
                          <a:cs typeface="Helvetica Neue Light"/>
                          <a:sym typeface="Helvetica Neue Light"/>
                        </a:rPr>
                        <a:t>Writing objects: 100% (9/9), 869 bytes | 217.00 KiB/s, done.</a:t>
                      </a:r>
                      <a:endParaRPr sz="1600" u="none" cap="none" strike="noStrike">
                        <a:solidFill>
                          <a:srgbClr val="F3F3F3"/>
                        </a:solidFill>
                        <a:highlight>
                          <a:schemeClr val="dk1"/>
                        </a:highlight>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500"/>
                        <a:buFont typeface="Arial"/>
                        <a:buNone/>
                      </a:pPr>
                      <a:r>
                        <a:rPr lang="es" sz="1600" u="none" cap="none" strike="noStrike">
                          <a:solidFill>
                            <a:srgbClr val="F3F3F3"/>
                          </a:solidFill>
                          <a:highlight>
                            <a:schemeClr val="dk1"/>
                          </a:highlight>
                          <a:latin typeface="Helvetica Neue Light"/>
                          <a:ea typeface="Helvetica Neue Light"/>
                          <a:cs typeface="Helvetica Neue Light"/>
                          <a:sym typeface="Helvetica Neue Light"/>
                        </a:rPr>
                        <a:t>Total 9 (delta 2), reused 0 (delta 0)</a:t>
                      </a:r>
                      <a:endParaRPr sz="1600" u="none" cap="none" strike="noStrike">
                        <a:solidFill>
                          <a:srgbClr val="F3F3F3"/>
                        </a:solidFill>
                        <a:highlight>
                          <a:schemeClr val="dk1"/>
                        </a:highlight>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500"/>
                        <a:buFont typeface="Arial"/>
                        <a:buNone/>
                      </a:pPr>
                      <a:r>
                        <a:rPr lang="es" sz="1600" u="none" cap="none" strike="noStrike">
                          <a:solidFill>
                            <a:srgbClr val="F3F3F3"/>
                          </a:solidFill>
                          <a:highlight>
                            <a:schemeClr val="dk1"/>
                          </a:highlight>
                          <a:latin typeface="Helvetica Neue Light"/>
                          <a:ea typeface="Helvetica Neue Light"/>
                          <a:cs typeface="Helvetica Neue Light"/>
                          <a:sym typeface="Helvetica Neue Light"/>
                        </a:rPr>
                        <a:t>remote: Resolving deltas: 100% (2/2), done.</a:t>
                      </a:r>
                      <a:endParaRPr sz="1600" u="none" cap="none" strike="noStrike">
                        <a:solidFill>
                          <a:srgbClr val="F3F3F3"/>
                        </a:solidFill>
                        <a:highlight>
                          <a:schemeClr val="dk1"/>
                        </a:highlight>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500"/>
                        <a:buFont typeface="Arial"/>
                        <a:buNone/>
                      </a:pPr>
                      <a:r>
                        <a:rPr lang="es" sz="1600" u="none" cap="none" strike="noStrike">
                          <a:solidFill>
                            <a:srgbClr val="F3F3F3"/>
                          </a:solidFill>
                          <a:highlight>
                            <a:schemeClr val="dk1"/>
                          </a:highlight>
                          <a:latin typeface="Helvetica Neue Light"/>
                          <a:ea typeface="Helvetica Neue Light"/>
                          <a:cs typeface="Helvetica Neue Light"/>
                          <a:sym typeface="Helvetica Neue Light"/>
                        </a:rPr>
                        <a:t>To https://github.com/miuser/mi_repositorio.git</a:t>
                      </a:r>
                      <a:endParaRPr sz="1600" u="none" cap="none" strike="noStrike">
                        <a:solidFill>
                          <a:srgbClr val="F3F3F3"/>
                        </a:solidFill>
                        <a:highlight>
                          <a:schemeClr val="dk1"/>
                        </a:highlight>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500"/>
                        <a:buFont typeface="Arial"/>
                        <a:buNone/>
                      </a:pPr>
                      <a:r>
                        <a:rPr lang="es" sz="1600" u="none" cap="none" strike="noStrike">
                          <a:solidFill>
                            <a:srgbClr val="F3F3F3"/>
                          </a:solidFill>
                          <a:highlight>
                            <a:schemeClr val="dk1"/>
                          </a:highlight>
                          <a:latin typeface="Helvetica Neue Light"/>
                          <a:ea typeface="Helvetica Neue Light"/>
                          <a:cs typeface="Helvetica Neue Light"/>
                          <a:sym typeface="Helvetica Neue Light"/>
                        </a:rPr>
                        <a:t> * [new branch]  	master -&gt; master</a:t>
                      </a:r>
                      <a:endParaRPr sz="1600" u="none" cap="none" strike="noStrike">
                        <a:solidFill>
                          <a:srgbClr val="F3F3F3"/>
                        </a:solidFill>
                        <a:highlight>
                          <a:schemeClr val="dk1"/>
                        </a:highlight>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chemeClr val="dk1"/>
                        </a:buClr>
                        <a:buSzPts val="1100"/>
                        <a:buFont typeface="Arial"/>
                        <a:buNone/>
                      </a:pPr>
                      <a:r>
                        <a:rPr lang="es" sz="1600" u="none" cap="none" strike="noStrike">
                          <a:solidFill>
                            <a:srgbClr val="F3F3F3"/>
                          </a:solidFill>
                          <a:highlight>
                            <a:schemeClr val="dk1"/>
                          </a:highlight>
                          <a:latin typeface="Helvetica Neue Light"/>
                          <a:ea typeface="Helvetica Neue Light"/>
                          <a:cs typeface="Helvetica Neue Light"/>
                          <a:sym typeface="Helvetica Neue Light"/>
                        </a:rPr>
                        <a:t>Branch 'master' set up to track remote branch 'master' from 'origin'.</a:t>
                      </a:r>
                      <a:endParaRPr sz="1600" u="none" cap="none" strike="noStrike">
                        <a:solidFill>
                          <a:srgbClr val="F3F3F3"/>
                        </a:solidFill>
                        <a:highlight>
                          <a:schemeClr val="dk1"/>
                        </a:highlight>
                        <a:latin typeface="Helvetica Neue Light"/>
                        <a:ea typeface="Helvetica Neue Light"/>
                        <a:cs typeface="Helvetica Neue Light"/>
                        <a:sym typeface="Helvetica Neue Light"/>
                      </a:endParaRPr>
                    </a:p>
                  </a:txBody>
                  <a:tcPr marT="63500" marB="63500" marR="63500" marL="63500">
                    <a:solidFill>
                      <a:srgbClr val="000000"/>
                    </a:solidFill>
                  </a:tcPr>
                </a:tc>
              </a:tr>
            </a:tbl>
          </a:graphicData>
        </a:graphic>
      </p:graphicFrame>
      <p:pic>
        <p:nvPicPr>
          <p:cNvPr id="269" name="Google Shape;269;p35"/>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sp>
        <p:nvSpPr>
          <p:cNvPr id="270" name="Google Shape;270;p35"/>
          <p:cNvSpPr txBox="1"/>
          <p:nvPr/>
        </p:nvSpPr>
        <p:spPr>
          <a:xfrm>
            <a:off x="643801" y="262675"/>
            <a:ext cx="7856400" cy="697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2000"/>
              </a:spcBef>
              <a:spcAft>
                <a:spcPts val="600"/>
              </a:spcAft>
              <a:buClr>
                <a:schemeClr val="dk1"/>
              </a:buClr>
              <a:buSzPts val="1100"/>
              <a:buFont typeface="Arial"/>
              <a:buNone/>
            </a:pPr>
            <a:r>
              <a:rPr b="0" i="1" lang="es" sz="3800" u="none" cap="none" strike="noStrike">
                <a:solidFill>
                  <a:schemeClr val="dk1"/>
                </a:solidFill>
                <a:latin typeface="Anton"/>
                <a:ea typeface="Anton"/>
                <a:cs typeface="Anton"/>
                <a:sym typeface="Anton"/>
              </a:rPr>
              <a:t>VAMOS A SUBIR NUESTRO REPOSITORIO</a:t>
            </a:r>
            <a:endParaRPr b="0" i="1" sz="3800" u="none" cap="none" strike="noStrike">
              <a:solidFill>
                <a:schemeClr val="dk1"/>
              </a:solidFill>
              <a:latin typeface="Anton"/>
              <a:ea typeface="Anton"/>
              <a:cs typeface="Anton"/>
              <a:sym typeface="Anton"/>
            </a:endParaRPr>
          </a:p>
        </p:txBody>
      </p:sp>
      <p:pic>
        <p:nvPicPr>
          <p:cNvPr id="271" name="Google Shape;271;p35"/>
          <p:cNvPicPr preferRelativeResize="0"/>
          <p:nvPr/>
        </p:nvPicPr>
        <p:blipFill rotWithShape="1">
          <a:blip r:embed="rId4">
            <a:alphaModFix/>
          </a:blip>
          <a:srcRect b="0" l="0" r="0" t="0"/>
          <a:stretch/>
        </p:blipFill>
        <p:spPr>
          <a:xfrm>
            <a:off x="7957475" y="0"/>
            <a:ext cx="1186525" cy="1186525"/>
          </a:xfrm>
          <a:prstGeom prst="rect">
            <a:avLst/>
          </a:prstGeom>
          <a:noFill/>
          <a:ln>
            <a:noFill/>
          </a:ln>
        </p:spPr>
      </p:pic>
      <p:pic>
        <p:nvPicPr>
          <p:cNvPr id="272" name="Google Shape;272;p35"/>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36"/>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sp>
        <p:nvSpPr>
          <p:cNvPr id="278" name="Google Shape;278;p36"/>
          <p:cNvSpPr txBox="1"/>
          <p:nvPr/>
        </p:nvSpPr>
        <p:spPr>
          <a:xfrm>
            <a:off x="643801" y="311600"/>
            <a:ext cx="7856400" cy="697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2000"/>
              </a:spcBef>
              <a:spcAft>
                <a:spcPts val="600"/>
              </a:spcAft>
              <a:buClr>
                <a:schemeClr val="dk1"/>
              </a:buClr>
              <a:buSzPts val="1100"/>
              <a:buFont typeface="Arial"/>
              <a:buNone/>
            </a:pPr>
            <a:r>
              <a:rPr b="0" i="1" lang="es" sz="3800" u="none" cap="none" strike="noStrike">
                <a:solidFill>
                  <a:schemeClr val="dk1"/>
                </a:solidFill>
                <a:latin typeface="Anton"/>
                <a:ea typeface="Anton"/>
                <a:cs typeface="Anton"/>
                <a:sym typeface="Anton"/>
              </a:rPr>
              <a:t>LOS ARCHIVOS YA EN GITHUB</a:t>
            </a:r>
            <a:endParaRPr b="0" i="1" sz="3800" u="none" cap="none" strike="noStrike">
              <a:solidFill>
                <a:schemeClr val="dk1"/>
              </a:solidFill>
              <a:latin typeface="Anton"/>
              <a:ea typeface="Anton"/>
              <a:cs typeface="Anton"/>
              <a:sym typeface="Anton"/>
            </a:endParaRPr>
          </a:p>
        </p:txBody>
      </p:sp>
      <p:pic>
        <p:nvPicPr>
          <p:cNvPr id="279" name="Google Shape;279;p36"/>
          <p:cNvPicPr preferRelativeResize="0"/>
          <p:nvPr/>
        </p:nvPicPr>
        <p:blipFill rotWithShape="1">
          <a:blip r:embed="rId4">
            <a:alphaModFix/>
          </a:blip>
          <a:srcRect b="0" l="0" r="0" t="0"/>
          <a:stretch/>
        </p:blipFill>
        <p:spPr>
          <a:xfrm>
            <a:off x="871625" y="1519515"/>
            <a:ext cx="7400749" cy="2987710"/>
          </a:xfrm>
          <a:prstGeom prst="rect">
            <a:avLst/>
          </a:prstGeom>
          <a:noFill/>
          <a:ln>
            <a:noFill/>
          </a:ln>
        </p:spPr>
      </p:pic>
      <p:sp>
        <p:nvSpPr>
          <p:cNvPr id="280" name="Google Shape;280;p36"/>
          <p:cNvSpPr/>
          <p:nvPr/>
        </p:nvSpPr>
        <p:spPr>
          <a:xfrm>
            <a:off x="970475" y="3355050"/>
            <a:ext cx="7029000" cy="5961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36"/>
          <p:cNvSpPr/>
          <p:nvPr/>
        </p:nvSpPr>
        <p:spPr>
          <a:xfrm>
            <a:off x="714375" y="1418550"/>
            <a:ext cx="7470300" cy="2987700"/>
          </a:xfrm>
          <a:prstGeom prst="rect">
            <a:avLst/>
          </a:prstGeom>
          <a:noFill/>
          <a:ln cap="flat" cmpd="sng" w="28575">
            <a:solidFill>
              <a:srgbClr val="E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id="286" name="Google Shape;286;p37"/>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sp>
        <p:nvSpPr>
          <p:cNvPr id="287" name="Google Shape;287;p37"/>
          <p:cNvSpPr txBox="1"/>
          <p:nvPr/>
        </p:nvSpPr>
        <p:spPr>
          <a:xfrm>
            <a:off x="643801" y="388300"/>
            <a:ext cx="7856400" cy="697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0" i="1" lang="es" sz="3800" u="none" cap="none" strike="noStrike">
                <a:solidFill>
                  <a:schemeClr val="dk1"/>
                </a:solidFill>
                <a:latin typeface="Anton"/>
                <a:ea typeface="Anton"/>
                <a:cs typeface="Anton"/>
                <a:sym typeface="Anton"/>
              </a:rPr>
              <a:t>MÁS PROPIEDADES DE GITHUB</a:t>
            </a:r>
            <a:endParaRPr b="0" i="1" sz="3800" u="none" cap="none" strike="noStrike">
              <a:solidFill>
                <a:schemeClr val="dk1"/>
              </a:solidFill>
              <a:latin typeface="Anton"/>
              <a:ea typeface="Anton"/>
              <a:cs typeface="Anton"/>
              <a:sym typeface="Anton"/>
            </a:endParaRPr>
          </a:p>
          <a:p>
            <a:pPr indent="0" lvl="0" marL="0" marR="0" rtl="0" algn="l">
              <a:lnSpc>
                <a:spcPct val="115000"/>
              </a:lnSpc>
              <a:spcBef>
                <a:spcPts val="2000"/>
              </a:spcBef>
              <a:spcAft>
                <a:spcPts val="1200"/>
              </a:spcAft>
              <a:buClr>
                <a:schemeClr val="dk1"/>
              </a:buClr>
              <a:buSzPts val="1100"/>
              <a:buFont typeface="Arial"/>
              <a:buNone/>
            </a:pPr>
            <a:r>
              <a:t/>
            </a:r>
            <a:endParaRPr b="0" i="1" sz="3800" u="none" cap="none" strike="noStrike">
              <a:solidFill>
                <a:schemeClr val="dk1"/>
              </a:solidFill>
              <a:latin typeface="Anton"/>
              <a:ea typeface="Anton"/>
              <a:cs typeface="Anton"/>
              <a:sym typeface="Anton"/>
            </a:endParaRPr>
          </a:p>
        </p:txBody>
      </p:sp>
      <p:sp>
        <p:nvSpPr>
          <p:cNvPr id="288" name="Google Shape;288;p37"/>
          <p:cNvSpPr txBox="1"/>
          <p:nvPr/>
        </p:nvSpPr>
        <p:spPr>
          <a:xfrm>
            <a:off x="929250" y="1245051"/>
            <a:ext cx="7285500" cy="3127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0" lang="es" sz="1800" u="none" cap="none" strike="noStrike">
                <a:solidFill>
                  <a:schemeClr val="dk1"/>
                </a:solidFill>
                <a:latin typeface="Helvetica Neue Light"/>
                <a:ea typeface="Helvetica Neue Light"/>
                <a:cs typeface="Helvetica Neue Light"/>
                <a:sym typeface="Helvetica Neue Light"/>
              </a:rPr>
              <a:t>Como plataforma colaborativa, GitHub </a:t>
            </a:r>
            <a:r>
              <a:rPr b="1" i="0" lang="es" sz="1800" u="none" cap="none" strike="noStrike">
                <a:solidFill>
                  <a:schemeClr val="dk1"/>
                </a:solidFill>
                <a:latin typeface="Helvetica Neue"/>
                <a:ea typeface="Helvetica Neue"/>
                <a:cs typeface="Helvetica Neue"/>
                <a:sym typeface="Helvetica Neue"/>
              </a:rPr>
              <a:t>ofrece a sus usuarios una gran cantidad de funcionalidades para la gestión de proyectos</a:t>
            </a:r>
            <a:r>
              <a:rPr b="0" i="0" lang="es" sz="1800" u="none" cap="none" strike="noStrike">
                <a:solidFill>
                  <a:schemeClr val="dk1"/>
                </a:solidFill>
                <a:latin typeface="Helvetica Neue Light"/>
                <a:ea typeface="Helvetica Neue Light"/>
                <a:cs typeface="Helvetica Neue Light"/>
                <a:sym typeface="Helvetica Neue Light"/>
              </a:rPr>
              <a:t>, todas apoyadas por la comunidad. Por esta razón, a lo mejor dentro de un año tenga agregadas nuevas características que le permitan a los usuarios un mejor desenvolvimiento en el desarrollo de código.</a:t>
            </a:r>
            <a:endParaRPr b="0" i="0" sz="1800" u="none" cap="none" strike="noStrike">
              <a:solidFill>
                <a:schemeClr val="dk1"/>
              </a:solidFill>
              <a:latin typeface="Helvetica Neue Light"/>
              <a:ea typeface="Helvetica Neue Light"/>
              <a:cs typeface="Helvetica Neue Light"/>
              <a:sym typeface="Helvetica Neue Light"/>
            </a:endParaRPr>
          </a:p>
        </p:txBody>
      </p:sp>
      <p:pic>
        <p:nvPicPr>
          <p:cNvPr id="289" name="Google Shape;289;p37"/>
          <p:cNvPicPr preferRelativeResize="0"/>
          <p:nvPr/>
        </p:nvPicPr>
        <p:blipFill rotWithShape="1">
          <a:blip r:embed="rId4">
            <a:alphaModFix/>
          </a:blip>
          <a:srcRect b="0" l="0" r="0" t="0"/>
          <a:stretch/>
        </p:blipFill>
        <p:spPr>
          <a:xfrm>
            <a:off x="820775" y="3510225"/>
            <a:ext cx="7502450" cy="785141"/>
          </a:xfrm>
          <a:prstGeom prst="rect">
            <a:avLst/>
          </a:prstGeom>
          <a:noFill/>
          <a:ln>
            <a:noFill/>
          </a:ln>
        </p:spPr>
      </p:pic>
      <p:sp>
        <p:nvSpPr>
          <p:cNvPr id="290" name="Google Shape;290;p37"/>
          <p:cNvSpPr/>
          <p:nvPr/>
        </p:nvSpPr>
        <p:spPr>
          <a:xfrm>
            <a:off x="820800" y="3510250"/>
            <a:ext cx="7502400" cy="785100"/>
          </a:xfrm>
          <a:prstGeom prst="rect">
            <a:avLst/>
          </a:prstGeom>
          <a:noFill/>
          <a:ln cap="flat" cmpd="sng" w="28575">
            <a:solidFill>
              <a:srgbClr val="E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id="295" name="Google Shape;295;p38"/>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sp>
        <p:nvSpPr>
          <p:cNvPr id="296" name="Google Shape;296;p38"/>
          <p:cNvSpPr txBox="1"/>
          <p:nvPr/>
        </p:nvSpPr>
        <p:spPr>
          <a:xfrm>
            <a:off x="643801" y="216750"/>
            <a:ext cx="7856400" cy="697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2000"/>
              </a:spcBef>
              <a:spcAft>
                <a:spcPts val="0"/>
              </a:spcAft>
              <a:buClr>
                <a:schemeClr val="dk1"/>
              </a:buClr>
              <a:buSzPts val="1100"/>
              <a:buFont typeface="Arial"/>
              <a:buNone/>
            </a:pPr>
            <a:r>
              <a:rPr b="0" i="1" lang="es" sz="3800" u="none" cap="none" strike="noStrike">
                <a:solidFill>
                  <a:schemeClr val="dk1"/>
                </a:solidFill>
                <a:latin typeface="Anton"/>
                <a:ea typeface="Anton"/>
                <a:cs typeface="Anton"/>
                <a:sym typeface="Anton"/>
              </a:rPr>
              <a:t>GITHUB PAGES</a:t>
            </a:r>
            <a:endParaRPr b="0" i="1" sz="3800" u="none" cap="none" strike="noStrike">
              <a:solidFill>
                <a:schemeClr val="dk1"/>
              </a:solidFill>
              <a:latin typeface="Anton"/>
              <a:ea typeface="Anton"/>
              <a:cs typeface="Anton"/>
              <a:sym typeface="Anton"/>
            </a:endParaRPr>
          </a:p>
          <a:p>
            <a:pPr indent="0" lvl="0" marL="0" marR="0" rtl="0" algn="l">
              <a:lnSpc>
                <a:spcPct val="115000"/>
              </a:lnSpc>
              <a:spcBef>
                <a:spcPts val="2000"/>
              </a:spcBef>
              <a:spcAft>
                <a:spcPts val="1200"/>
              </a:spcAft>
              <a:buClr>
                <a:schemeClr val="dk1"/>
              </a:buClr>
              <a:buSzPts val="1100"/>
              <a:buFont typeface="Arial"/>
              <a:buNone/>
            </a:pPr>
            <a:r>
              <a:t/>
            </a:r>
            <a:endParaRPr b="0" i="1" sz="3600" u="none" cap="none" strike="noStrike">
              <a:solidFill>
                <a:schemeClr val="dk1"/>
              </a:solidFill>
              <a:latin typeface="Anton"/>
              <a:ea typeface="Anton"/>
              <a:cs typeface="Anton"/>
              <a:sym typeface="Anton"/>
            </a:endParaRPr>
          </a:p>
        </p:txBody>
      </p:sp>
      <p:cxnSp>
        <p:nvCxnSpPr>
          <p:cNvPr id="297" name="Google Shape;297;p38"/>
          <p:cNvCxnSpPr/>
          <p:nvPr/>
        </p:nvCxnSpPr>
        <p:spPr>
          <a:xfrm>
            <a:off x="1215382" y="2170470"/>
            <a:ext cx="7080300" cy="34800"/>
          </a:xfrm>
          <a:prstGeom prst="straightConnector1">
            <a:avLst/>
          </a:prstGeom>
          <a:noFill/>
          <a:ln cap="flat" cmpd="sng" w="28575">
            <a:solidFill>
              <a:srgbClr val="EF89D2"/>
            </a:solidFill>
            <a:prstDash val="solid"/>
            <a:round/>
            <a:headEnd len="sm" w="sm" type="none"/>
            <a:tailEnd len="sm" w="sm" type="none"/>
          </a:ln>
        </p:spPr>
      </p:cxnSp>
      <p:sp>
        <p:nvSpPr>
          <p:cNvPr id="298" name="Google Shape;298;p38"/>
          <p:cNvSpPr/>
          <p:nvPr/>
        </p:nvSpPr>
        <p:spPr>
          <a:xfrm>
            <a:off x="3276118" y="1855925"/>
            <a:ext cx="614100" cy="614100"/>
          </a:xfrm>
          <a:prstGeom prst="ellipse">
            <a:avLst/>
          </a:prstGeom>
          <a:solidFill>
            <a:srgbClr val="EF89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E0FF00"/>
              </a:solidFill>
              <a:latin typeface="Arial"/>
              <a:ea typeface="Arial"/>
              <a:cs typeface="Arial"/>
              <a:sym typeface="Arial"/>
            </a:endParaRPr>
          </a:p>
        </p:txBody>
      </p:sp>
      <p:sp>
        <p:nvSpPr>
          <p:cNvPr id="299" name="Google Shape;299;p38"/>
          <p:cNvSpPr/>
          <p:nvPr/>
        </p:nvSpPr>
        <p:spPr>
          <a:xfrm>
            <a:off x="5813684" y="1855925"/>
            <a:ext cx="614100" cy="614100"/>
          </a:xfrm>
          <a:prstGeom prst="ellipse">
            <a:avLst/>
          </a:prstGeom>
          <a:solidFill>
            <a:srgbClr val="EF89D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E0FF00"/>
              </a:solidFill>
              <a:latin typeface="Arial"/>
              <a:ea typeface="Arial"/>
              <a:cs typeface="Arial"/>
              <a:sym typeface="Arial"/>
            </a:endParaRPr>
          </a:p>
        </p:txBody>
      </p:sp>
      <p:sp>
        <p:nvSpPr>
          <p:cNvPr id="300" name="Google Shape;300;p38"/>
          <p:cNvSpPr txBox="1"/>
          <p:nvPr/>
        </p:nvSpPr>
        <p:spPr>
          <a:xfrm>
            <a:off x="242375" y="2653400"/>
            <a:ext cx="1606500" cy="10089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1" i="0" lang="es" sz="1800" u="none" cap="none" strike="noStrike">
                <a:solidFill>
                  <a:srgbClr val="000000"/>
                </a:solidFill>
                <a:highlight>
                  <a:srgbClr val="FFFFFF"/>
                </a:highlight>
                <a:latin typeface="Helvetica Neue"/>
                <a:ea typeface="Helvetica Neue"/>
                <a:cs typeface="Helvetica Neue"/>
                <a:sym typeface="Helvetica Neue"/>
              </a:rPr>
              <a:t>Ve</a:t>
            </a:r>
            <a:r>
              <a:rPr b="0" i="0" lang="es" sz="1800" u="none" cap="none" strike="noStrike">
                <a:solidFill>
                  <a:srgbClr val="000000"/>
                </a:solidFill>
                <a:highlight>
                  <a:srgbClr val="FFFFFF"/>
                </a:highlight>
                <a:latin typeface="Helvetica Neue Light"/>
                <a:ea typeface="Helvetica Neue Light"/>
                <a:cs typeface="Helvetica Neue Light"/>
                <a:sym typeface="Helvetica Neue Light"/>
              </a:rPr>
              <a:t> a los “Settings” de nuestro repositorio.</a:t>
            </a:r>
            <a:endParaRPr b="0" i="0" sz="1800" u="none" cap="none" strike="noStrike">
              <a:solidFill>
                <a:srgbClr val="000000"/>
              </a:solidFill>
              <a:highlight>
                <a:srgbClr val="FFFFFF"/>
              </a:highlight>
              <a:latin typeface="Helvetica Neue Light"/>
              <a:ea typeface="Helvetica Neue Light"/>
              <a:cs typeface="Helvetica Neue Light"/>
              <a:sym typeface="Helvetica Neue Light"/>
            </a:endParaRPr>
          </a:p>
        </p:txBody>
      </p:sp>
      <p:sp>
        <p:nvSpPr>
          <p:cNvPr id="301" name="Google Shape;301;p38"/>
          <p:cNvSpPr txBox="1"/>
          <p:nvPr/>
        </p:nvSpPr>
        <p:spPr>
          <a:xfrm>
            <a:off x="3448025" y="1890727"/>
            <a:ext cx="270300" cy="469500"/>
          </a:xfrm>
          <a:prstGeom prst="rect">
            <a:avLst/>
          </a:prstGeom>
          <a:noFill/>
          <a:ln cap="flat" cmpd="sng" w="9525">
            <a:solidFill>
              <a:srgbClr val="EF89D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000000"/>
                </a:solidFill>
                <a:latin typeface="Helvetica Neue Light"/>
                <a:ea typeface="Helvetica Neue Light"/>
                <a:cs typeface="Helvetica Neue Light"/>
                <a:sym typeface="Helvetica Neue Light"/>
              </a:rPr>
              <a:t>2</a:t>
            </a:r>
            <a:endParaRPr b="0" i="0" sz="2400" u="none" cap="none" strike="noStrike">
              <a:solidFill>
                <a:srgbClr val="000000"/>
              </a:solidFill>
              <a:latin typeface="Helvetica Neue Light"/>
              <a:ea typeface="Helvetica Neue Light"/>
              <a:cs typeface="Helvetica Neue Light"/>
              <a:sym typeface="Helvetica Neue Light"/>
            </a:endParaRPr>
          </a:p>
        </p:txBody>
      </p:sp>
      <p:sp>
        <p:nvSpPr>
          <p:cNvPr id="302" name="Google Shape;302;p38"/>
          <p:cNvSpPr txBox="1"/>
          <p:nvPr/>
        </p:nvSpPr>
        <p:spPr>
          <a:xfrm>
            <a:off x="5946400" y="1890725"/>
            <a:ext cx="270300" cy="614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rgbClr val="000000"/>
                </a:solidFill>
                <a:latin typeface="Helvetica Neue Light"/>
                <a:ea typeface="Helvetica Neue Light"/>
                <a:cs typeface="Helvetica Neue Light"/>
                <a:sym typeface="Helvetica Neue Light"/>
              </a:rPr>
              <a:t>3</a:t>
            </a:r>
            <a:endParaRPr b="0" i="0" sz="2400" u="none" cap="none" strike="noStrike">
              <a:solidFill>
                <a:srgbClr val="000000"/>
              </a:solidFill>
              <a:latin typeface="Helvetica Neue Light"/>
              <a:ea typeface="Helvetica Neue Light"/>
              <a:cs typeface="Helvetica Neue Light"/>
              <a:sym typeface="Helvetica Neue Light"/>
            </a:endParaRPr>
          </a:p>
        </p:txBody>
      </p:sp>
      <p:sp>
        <p:nvSpPr>
          <p:cNvPr id="303" name="Google Shape;303;p38"/>
          <p:cNvSpPr/>
          <p:nvPr/>
        </p:nvSpPr>
        <p:spPr>
          <a:xfrm>
            <a:off x="738580" y="1880825"/>
            <a:ext cx="614100" cy="614100"/>
          </a:xfrm>
          <a:prstGeom prst="ellipse">
            <a:avLst/>
          </a:prstGeom>
          <a:solidFill>
            <a:srgbClr val="EF89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E0FF00"/>
              </a:solidFill>
              <a:latin typeface="Arial"/>
              <a:ea typeface="Arial"/>
              <a:cs typeface="Arial"/>
              <a:sym typeface="Arial"/>
            </a:endParaRPr>
          </a:p>
        </p:txBody>
      </p:sp>
      <p:sp>
        <p:nvSpPr>
          <p:cNvPr id="304" name="Google Shape;304;p38"/>
          <p:cNvSpPr txBox="1"/>
          <p:nvPr/>
        </p:nvSpPr>
        <p:spPr>
          <a:xfrm>
            <a:off x="899200" y="1880823"/>
            <a:ext cx="270300" cy="31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000000"/>
                </a:solidFill>
                <a:latin typeface="Helvetica Neue Light"/>
                <a:ea typeface="Helvetica Neue Light"/>
                <a:cs typeface="Helvetica Neue Light"/>
                <a:sym typeface="Helvetica Neue Light"/>
              </a:rPr>
              <a:t>1</a:t>
            </a:r>
            <a:endParaRPr b="0" i="0" sz="2400" u="none" cap="none" strike="noStrike">
              <a:solidFill>
                <a:srgbClr val="000000"/>
              </a:solidFill>
              <a:latin typeface="Helvetica Neue Light"/>
              <a:ea typeface="Helvetica Neue Light"/>
              <a:cs typeface="Helvetica Neue Light"/>
              <a:sym typeface="Helvetica Neue Light"/>
            </a:endParaRPr>
          </a:p>
        </p:txBody>
      </p:sp>
      <p:sp>
        <p:nvSpPr>
          <p:cNvPr id="305" name="Google Shape;305;p38"/>
          <p:cNvSpPr/>
          <p:nvPr/>
        </p:nvSpPr>
        <p:spPr>
          <a:xfrm>
            <a:off x="7988634" y="1911425"/>
            <a:ext cx="614100" cy="614100"/>
          </a:xfrm>
          <a:prstGeom prst="ellipse">
            <a:avLst/>
          </a:prstGeom>
          <a:solidFill>
            <a:srgbClr val="EF89D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E0FF00"/>
              </a:solidFill>
              <a:latin typeface="Arial"/>
              <a:ea typeface="Arial"/>
              <a:cs typeface="Arial"/>
              <a:sym typeface="Arial"/>
            </a:endParaRPr>
          </a:p>
        </p:txBody>
      </p:sp>
      <p:sp>
        <p:nvSpPr>
          <p:cNvPr id="306" name="Google Shape;306;p38"/>
          <p:cNvSpPr txBox="1"/>
          <p:nvPr/>
        </p:nvSpPr>
        <p:spPr>
          <a:xfrm>
            <a:off x="8116425" y="1911425"/>
            <a:ext cx="358500" cy="614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rgbClr val="000000"/>
                </a:solidFill>
                <a:latin typeface="Helvetica Neue Light"/>
                <a:ea typeface="Helvetica Neue Light"/>
                <a:cs typeface="Helvetica Neue Light"/>
                <a:sym typeface="Helvetica Neue Light"/>
              </a:rPr>
              <a:t>4</a:t>
            </a:r>
            <a:endParaRPr b="0" i="0" sz="2400" u="none" cap="none" strike="noStrike">
              <a:solidFill>
                <a:srgbClr val="000000"/>
              </a:solidFill>
              <a:latin typeface="Helvetica Neue Light"/>
              <a:ea typeface="Helvetica Neue Light"/>
              <a:cs typeface="Helvetica Neue Light"/>
              <a:sym typeface="Helvetica Neue Light"/>
            </a:endParaRPr>
          </a:p>
        </p:txBody>
      </p:sp>
      <p:sp>
        <p:nvSpPr>
          <p:cNvPr id="307" name="Google Shape;307;p38"/>
          <p:cNvSpPr txBox="1"/>
          <p:nvPr/>
        </p:nvSpPr>
        <p:spPr>
          <a:xfrm>
            <a:off x="2754700" y="2340350"/>
            <a:ext cx="1606500" cy="10656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1" i="0" lang="es" sz="1800" u="none" cap="none" strike="noStrike">
                <a:solidFill>
                  <a:srgbClr val="000000"/>
                </a:solidFill>
                <a:highlight>
                  <a:srgbClr val="FFFFFF"/>
                </a:highlight>
                <a:latin typeface="Helvetica Neue"/>
                <a:ea typeface="Helvetica Neue"/>
                <a:cs typeface="Helvetica Neue"/>
                <a:sym typeface="Helvetica Neue"/>
              </a:rPr>
              <a:t>Activa</a:t>
            </a:r>
            <a:r>
              <a:rPr b="0" i="0" lang="es" sz="1800" u="none" cap="none" strike="noStrike">
                <a:solidFill>
                  <a:srgbClr val="000000"/>
                </a:solidFill>
                <a:highlight>
                  <a:srgbClr val="FFFFFF"/>
                </a:highlight>
                <a:latin typeface="Helvetica Neue Light"/>
                <a:ea typeface="Helvetica Neue Light"/>
                <a:cs typeface="Helvetica Neue Light"/>
                <a:sym typeface="Helvetica Neue Light"/>
              </a:rPr>
              <a:t> tu GitHub page.</a:t>
            </a:r>
            <a:endParaRPr b="0" i="0" sz="1800" u="none" cap="none" strike="noStrike">
              <a:solidFill>
                <a:srgbClr val="000000"/>
              </a:solidFill>
              <a:latin typeface="Helvetica Neue Light"/>
              <a:ea typeface="Helvetica Neue Light"/>
              <a:cs typeface="Helvetica Neue Light"/>
              <a:sym typeface="Helvetica Neue Light"/>
            </a:endParaRPr>
          </a:p>
        </p:txBody>
      </p:sp>
      <p:sp>
        <p:nvSpPr>
          <p:cNvPr id="308" name="Google Shape;308;p38"/>
          <p:cNvSpPr txBox="1"/>
          <p:nvPr/>
        </p:nvSpPr>
        <p:spPr>
          <a:xfrm>
            <a:off x="5317475" y="2525525"/>
            <a:ext cx="1606500" cy="10656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i="0" lang="es" sz="1800" u="none" cap="none" strike="noStrike">
                <a:solidFill>
                  <a:schemeClr val="dk1"/>
                </a:solidFill>
                <a:latin typeface="Helvetica Neue"/>
                <a:ea typeface="Helvetica Neue"/>
                <a:cs typeface="Helvetica Neue"/>
                <a:sym typeface="Helvetica Neue"/>
              </a:rPr>
              <a:t>Selecciona </a:t>
            </a:r>
            <a:r>
              <a:rPr i="0" lang="es" sz="1800" u="none" cap="none" strike="noStrike">
                <a:solidFill>
                  <a:schemeClr val="dk1"/>
                </a:solidFill>
                <a:latin typeface="Helvetica Neue Light"/>
                <a:ea typeface="Helvetica Neue Light"/>
                <a:cs typeface="Helvetica Neue Light"/>
                <a:sym typeface="Helvetica Neue Light"/>
              </a:rPr>
              <a:t>qué rama quieres usar.</a:t>
            </a:r>
            <a:endParaRPr i="0" sz="1800" u="none" cap="none" strike="noStrike">
              <a:solidFill>
                <a:srgbClr val="000000"/>
              </a:solidFill>
              <a:latin typeface="Helvetica Neue Light"/>
              <a:ea typeface="Helvetica Neue Light"/>
              <a:cs typeface="Helvetica Neue Light"/>
              <a:sym typeface="Helvetica Neue Light"/>
            </a:endParaRPr>
          </a:p>
        </p:txBody>
      </p:sp>
      <p:sp>
        <p:nvSpPr>
          <p:cNvPr id="309" name="Google Shape;309;p38"/>
          <p:cNvSpPr txBox="1"/>
          <p:nvPr/>
        </p:nvSpPr>
        <p:spPr>
          <a:xfrm>
            <a:off x="7160987" y="3000725"/>
            <a:ext cx="2000400" cy="10656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1" i="0" lang="es" sz="1800" u="none" cap="none" strike="noStrike">
                <a:solidFill>
                  <a:srgbClr val="000000"/>
                </a:solidFill>
                <a:highlight>
                  <a:srgbClr val="FFFFFF"/>
                </a:highlight>
                <a:latin typeface="Helvetica Neue"/>
                <a:ea typeface="Helvetica Neue"/>
                <a:cs typeface="Helvetica Neue"/>
                <a:sym typeface="Helvetica Neue"/>
              </a:rPr>
              <a:t>Guarda</a:t>
            </a:r>
            <a:r>
              <a:rPr b="0" i="0" lang="es" sz="1800" u="none" cap="none" strike="noStrike">
                <a:solidFill>
                  <a:srgbClr val="000000"/>
                </a:solidFill>
                <a:highlight>
                  <a:srgbClr val="FFFFFF"/>
                </a:highlight>
                <a:latin typeface="Helvetica Neue Light"/>
                <a:ea typeface="Helvetica Neue Light"/>
                <a:cs typeface="Helvetica Neue Light"/>
                <a:sym typeface="Helvetica Neue Light"/>
              </a:rPr>
              <a:t> los cambios y GitHub cumplirá la función básica de cualquier otro Hosting.</a:t>
            </a:r>
            <a:endParaRPr b="0" i="0" sz="1800" u="none" cap="none" strike="noStrike">
              <a:solidFill>
                <a:srgbClr val="000000"/>
              </a:solidFill>
              <a:latin typeface="Helvetica Neue Light"/>
              <a:ea typeface="Helvetica Neue Light"/>
              <a:cs typeface="Helvetica Neue Light"/>
              <a:sym typeface="Helvetica Neue Light"/>
            </a:endParaRPr>
          </a:p>
        </p:txBody>
      </p:sp>
      <p:sp>
        <p:nvSpPr>
          <p:cNvPr id="310" name="Google Shape;310;p38"/>
          <p:cNvSpPr txBox="1"/>
          <p:nvPr/>
        </p:nvSpPr>
        <p:spPr>
          <a:xfrm>
            <a:off x="97100" y="4197825"/>
            <a:ext cx="7357800" cy="30000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700"/>
              <a:buFont typeface="Arial"/>
              <a:buNone/>
            </a:pPr>
            <a:r>
              <a:rPr b="1" i="0" lang="es" sz="1600" u="none" cap="none" strike="noStrike">
                <a:solidFill>
                  <a:schemeClr val="dk1"/>
                </a:solidFill>
                <a:highlight>
                  <a:srgbClr val="E0FF00"/>
                </a:highlight>
                <a:latin typeface="Helvetica Neue"/>
                <a:ea typeface="Helvetica Neue"/>
                <a:cs typeface="Helvetica Neue"/>
                <a:sym typeface="Helvetica Neue"/>
              </a:rPr>
              <a:t>Importante: </a:t>
            </a:r>
            <a:r>
              <a:rPr b="0" i="0" lang="es" sz="1600" u="none" cap="none" strike="noStrike">
                <a:solidFill>
                  <a:schemeClr val="dk1"/>
                </a:solidFill>
                <a:highlight>
                  <a:srgbClr val="E0FF00"/>
                </a:highlight>
                <a:latin typeface="Helvetica Neue Light"/>
                <a:ea typeface="Helvetica Neue Light"/>
                <a:cs typeface="Helvetica Neue Light"/>
                <a:sym typeface="Helvetica Neue Light"/>
              </a:rPr>
              <a:t>el proyecto sólo debe ser de archivos estáticos, ningún archivo que requiera de BackEnd especial.</a:t>
            </a:r>
            <a:endParaRPr b="0" i="0" sz="1200" u="none" cap="none" strike="noStrike">
              <a:solidFill>
                <a:srgbClr val="000000"/>
              </a:solidFill>
              <a:highlight>
                <a:srgbClr val="E0FF00"/>
              </a:highlight>
              <a:latin typeface="Helvetica Neue Light"/>
              <a:ea typeface="Helvetica Neue Light"/>
              <a:cs typeface="Helvetica Neue Light"/>
              <a:sym typeface="Helvetica Neue Light"/>
            </a:endParaRPr>
          </a:p>
        </p:txBody>
      </p:sp>
      <p:sp>
        <p:nvSpPr>
          <p:cNvPr id="311" name="Google Shape;311;p38"/>
          <p:cNvSpPr txBox="1"/>
          <p:nvPr/>
        </p:nvSpPr>
        <p:spPr>
          <a:xfrm>
            <a:off x="643800" y="914550"/>
            <a:ext cx="7856400" cy="562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0" lang="es" sz="1800" u="none" cap="none" strike="noStrike">
                <a:solidFill>
                  <a:schemeClr val="dk1"/>
                </a:solidFill>
                <a:latin typeface="Helvetica Neue Light"/>
                <a:ea typeface="Helvetica Neue Light"/>
                <a:cs typeface="Helvetica Neue Light"/>
                <a:sym typeface="Helvetica Neue Light"/>
              </a:rPr>
              <a:t>GitHub te permite </a:t>
            </a:r>
            <a:r>
              <a:rPr b="1" i="0" lang="es" sz="1800" u="none" cap="none" strike="noStrike">
                <a:solidFill>
                  <a:schemeClr val="dk1"/>
                </a:solidFill>
                <a:latin typeface="Helvetica Neue"/>
                <a:ea typeface="Helvetica Neue"/>
                <a:cs typeface="Helvetica Neue"/>
                <a:sym typeface="Helvetica Neue"/>
              </a:rPr>
              <a:t>publicar tus proyectos online</a:t>
            </a:r>
            <a:r>
              <a:rPr b="0" i="0" lang="es" sz="1800" u="none" cap="none" strike="noStrike">
                <a:solidFill>
                  <a:schemeClr val="dk1"/>
                </a:solidFill>
                <a:latin typeface="Helvetica Neue Light"/>
                <a:ea typeface="Helvetica Neue Light"/>
                <a:cs typeface="Helvetica Neue Light"/>
                <a:sym typeface="Helvetica Neue Light"/>
              </a:rPr>
              <a:t>. Para generar una GitHub page debes: </a:t>
            </a:r>
            <a:endParaRPr b="0" i="0" sz="1400" u="none" cap="none" strike="noStrik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id="316" name="Google Shape;316;p39"/>
          <p:cNvPicPr preferRelativeResize="0"/>
          <p:nvPr/>
        </p:nvPicPr>
        <p:blipFill rotWithShape="1">
          <a:blip r:embed="rId3">
            <a:alphaModFix/>
          </a:blip>
          <a:srcRect b="0" l="0" r="0" t="0"/>
          <a:stretch/>
        </p:blipFill>
        <p:spPr>
          <a:xfrm>
            <a:off x="326275" y="0"/>
            <a:ext cx="8428177" cy="5143499"/>
          </a:xfrm>
          <a:prstGeom prst="rect">
            <a:avLst/>
          </a:prstGeom>
          <a:noFill/>
          <a:ln>
            <a:noFill/>
          </a:ln>
        </p:spPr>
      </p:pic>
      <p:pic>
        <p:nvPicPr>
          <p:cNvPr id="317" name="Google Shape;317;p39"/>
          <p:cNvPicPr preferRelativeResize="0"/>
          <p:nvPr/>
        </p:nvPicPr>
        <p:blipFill rotWithShape="1">
          <a:blip r:embed="rId4">
            <a:alphaModFix/>
          </a:blip>
          <a:srcRect b="0" l="0" r="0" t="0"/>
          <a:stretch/>
        </p:blipFill>
        <p:spPr>
          <a:xfrm>
            <a:off x="7567925" y="4659625"/>
            <a:ext cx="1186526" cy="3306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id="322" name="Google Shape;322;p40"/>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sp>
        <p:nvSpPr>
          <p:cNvPr id="323" name="Google Shape;323;p40"/>
          <p:cNvSpPr txBox="1"/>
          <p:nvPr/>
        </p:nvSpPr>
        <p:spPr>
          <a:xfrm>
            <a:off x="643801" y="184150"/>
            <a:ext cx="7856400" cy="697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2000"/>
              </a:spcBef>
              <a:spcAft>
                <a:spcPts val="0"/>
              </a:spcAft>
              <a:buClr>
                <a:schemeClr val="dk1"/>
              </a:buClr>
              <a:buSzPts val="1100"/>
              <a:buFont typeface="Arial"/>
              <a:buNone/>
            </a:pPr>
            <a:r>
              <a:rPr b="0" i="1" lang="es" sz="3800" u="none" cap="none" strike="noStrike">
                <a:solidFill>
                  <a:schemeClr val="dk1"/>
                </a:solidFill>
                <a:latin typeface="Anton"/>
                <a:ea typeface="Anton"/>
                <a:cs typeface="Anton"/>
                <a:sym typeface="Anton"/>
              </a:rPr>
              <a:t>GITHUB PAGES</a:t>
            </a:r>
            <a:endParaRPr b="0" i="1" sz="3800" u="none" cap="none" strike="noStrike">
              <a:solidFill>
                <a:schemeClr val="dk1"/>
              </a:solidFill>
              <a:latin typeface="Anton"/>
              <a:ea typeface="Anton"/>
              <a:cs typeface="Anton"/>
              <a:sym typeface="Anton"/>
            </a:endParaRPr>
          </a:p>
          <a:p>
            <a:pPr indent="0" lvl="0" marL="0" marR="0" rtl="0" algn="ctr">
              <a:lnSpc>
                <a:spcPct val="115000"/>
              </a:lnSpc>
              <a:spcBef>
                <a:spcPts val="2000"/>
              </a:spcBef>
              <a:spcAft>
                <a:spcPts val="1200"/>
              </a:spcAft>
              <a:buClr>
                <a:schemeClr val="dk1"/>
              </a:buClr>
              <a:buSzPts val="1100"/>
              <a:buFont typeface="Arial"/>
              <a:buNone/>
            </a:pPr>
            <a:r>
              <a:t/>
            </a:r>
            <a:endParaRPr b="0" i="1" sz="3800" u="none" cap="none" strike="noStrike">
              <a:solidFill>
                <a:schemeClr val="dk1"/>
              </a:solidFill>
              <a:latin typeface="Anton"/>
              <a:ea typeface="Anton"/>
              <a:cs typeface="Anton"/>
              <a:sym typeface="Anton"/>
            </a:endParaRPr>
          </a:p>
        </p:txBody>
      </p:sp>
      <p:sp>
        <p:nvSpPr>
          <p:cNvPr id="324" name="Google Shape;324;p40"/>
          <p:cNvSpPr txBox="1"/>
          <p:nvPr/>
        </p:nvSpPr>
        <p:spPr>
          <a:xfrm>
            <a:off x="6205825" y="1367125"/>
            <a:ext cx="2548500" cy="3661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s" sz="1600" u="none" cap="none" strike="noStrike">
                <a:solidFill>
                  <a:srgbClr val="000000"/>
                </a:solidFill>
                <a:latin typeface="Helvetica Neue Light"/>
                <a:ea typeface="Helvetica Neue Light"/>
                <a:cs typeface="Helvetica Neue Light"/>
                <a:sym typeface="Helvetica Neue Light"/>
              </a:rPr>
              <a:t>Se auto recarga la página, y a continuación haz scroll nuevamente hasta “GitHub Pages”.</a:t>
            </a:r>
            <a:endParaRPr b="0" i="0" sz="1600" u="none" cap="none" strike="noStrike">
              <a:solidFill>
                <a:srgbClr val="000000"/>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rgbClr val="000000"/>
              </a:buClr>
              <a:buSzPts val="1800"/>
              <a:buFont typeface="Arial"/>
              <a:buNone/>
            </a:pPr>
            <a:r>
              <a:t/>
            </a:r>
            <a:endParaRPr b="0" i="0" sz="1600" u="none" cap="none" strike="noStrike">
              <a:solidFill>
                <a:srgbClr val="000000"/>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rgbClr val="000000"/>
              </a:buClr>
              <a:buSzPts val="1800"/>
              <a:buFont typeface="Arial"/>
              <a:buNone/>
            </a:pPr>
            <a:r>
              <a:rPr b="1" i="0" lang="es" sz="1600" u="none" cap="none" strike="noStrike">
                <a:solidFill>
                  <a:srgbClr val="000000"/>
                </a:solidFill>
                <a:latin typeface="Helvetica Neue"/>
                <a:ea typeface="Helvetica Neue"/>
                <a:cs typeface="Helvetica Neue"/>
                <a:sym typeface="Helvetica Neue"/>
              </a:rPr>
              <a:t>¡Encontrarás la dirección web para poder acceder a tu sitio!</a:t>
            </a:r>
            <a:endParaRPr b="1" i="0" sz="1600" u="none" cap="none" strike="noStrike">
              <a:solidFill>
                <a:srgbClr val="000000"/>
              </a:solidFill>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000000"/>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000000"/>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000000"/>
              </a:solidFill>
              <a:latin typeface="Didact Gothic"/>
              <a:ea typeface="Didact Gothic"/>
              <a:cs typeface="Didact Gothic"/>
              <a:sym typeface="Didact Gothic"/>
            </a:endParaRPr>
          </a:p>
        </p:txBody>
      </p:sp>
      <p:pic>
        <p:nvPicPr>
          <p:cNvPr id="325" name="Google Shape;325;p40"/>
          <p:cNvPicPr preferRelativeResize="0"/>
          <p:nvPr/>
        </p:nvPicPr>
        <p:blipFill rotWithShape="1">
          <a:blip r:embed="rId4">
            <a:alphaModFix/>
          </a:blip>
          <a:srcRect b="0" l="0" r="0" t="0"/>
          <a:stretch/>
        </p:blipFill>
        <p:spPr>
          <a:xfrm>
            <a:off x="221725" y="1367115"/>
            <a:ext cx="5984100" cy="2968491"/>
          </a:xfrm>
          <a:prstGeom prst="rect">
            <a:avLst/>
          </a:prstGeom>
          <a:noFill/>
          <a:ln>
            <a:noFill/>
          </a:ln>
        </p:spPr>
      </p:pic>
      <p:sp>
        <p:nvSpPr>
          <p:cNvPr id="326" name="Google Shape;326;p40"/>
          <p:cNvSpPr/>
          <p:nvPr/>
        </p:nvSpPr>
        <p:spPr>
          <a:xfrm>
            <a:off x="2218225" y="2051850"/>
            <a:ext cx="2135100" cy="4299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40"/>
          <p:cNvSpPr/>
          <p:nvPr/>
        </p:nvSpPr>
        <p:spPr>
          <a:xfrm>
            <a:off x="285750" y="1234850"/>
            <a:ext cx="5786400" cy="3171300"/>
          </a:xfrm>
          <a:prstGeom prst="rect">
            <a:avLst/>
          </a:prstGeom>
          <a:noFill/>
          <a:ln cap="flat" cmpd="sng" w="28575">
            <a:solidFill>
              <a:srgbClr val="E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F89D2"/>
            </a:gs>
            <a:gs pos="100000">
              <a:srgbClr val="E0FF00"/>
            </a:gs>
          </a:gsLst>
          <a:lin ang="10800025" scaled="0"/>
        </a:gradFill>
      </p:bgPr>
    </p:bg>
    <p:spTree>
      <p:nvGrpSpPr>
        <p:cNvPr id="331" name="Shape 331"/>
        <p:cNvGrpSpPr/>
        <p:nvPr/>
      </p:nvGrpSpPr>
      <p:grpSpPr>
        <a:xfrm>
          <a:off x="0" y="0"/>
          <a:ext cx="0" cy="0"/>
          <a:chOff x="0" y="0"/>
          <a:chExt cx="0" cy="0"/>
        </a:xfrm>
      </p:grpSpPr>
      <p:sp>
        <p:nvSpPr>
          <p:cNvPr id="332" name="Google Shape;332;p41"/>
          <p:cNvSpPr txBox="1"/>
          <p:nvPr/>
        </p:nvSpPr>
        <p:spPr>
          <a:xfrm>
            <a:off x="1398000" y="2077200"/>
            <a:ext cx="6348000" cy="989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0" i="1" lang="es" sz="3600" u="none" cap="none" strike="noStrike">
                <a:solidFill>
                  <a:srgbClr val="121212"/>
                </a:solidFill>
                <a:latin typeface="Anton"/>
                <a:ea typeface="Anton"/>
                <a:cs typeface="Anton"/>
                <a:sym typeface="Anton"/>
              </a:rPr>
              <a:t>¡VAMOS A PRACTICAR LO VISTO EN LOS BREAKOUT ROOMS!</a:t>
            </a:r>
            <a:endParaRPr b="0" i="1" sz="3600" u="none" cap="none" strike="noStrike">
              <a:solidFill>
                <a:srgbClr val="121212"/>
              </a:solidFill>
              <a:latin typeface="Anton"/>
              <a:ea typeface="Anton"/>
              <a:cs typeface="Anton"/>
              <a:sym typeface="Anton"/>
            </a:endParaRPr>
          </a:p>
        </p:txBody>
      </p:sp>
      <p:pic>
        <p:nvPicPr>
          <p:cNvPr id="333" name="Google Shape;333;p41"/>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pic>
        <p:nvPicPr>
          <p:cNvPr id="334" name="Google Shape;334;p41"/>
          <p:cNvPicPr preferRelativeResize="0"/>
          <p:nvPr/>
        </p:nvPicPr>
        <p:blipFill rotWithShape="1">
          <a:blip r:embed="rId4">
            <a:alphaModFix/>
          </a:blip>
          <a:srcRect b="0" l="0" r="0" t="0"/>
          <a:stretch/>
        </p:blipFill>
        <p:spPr>
          <a:xfrm>
            <a:off x="7120275" y="228143"/>
            <a:ext cx="1634174" cy="6398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2"/>
          <p:cNvSpPr txBox="1"/>
          <p:nvPr/>
        </p:nvSpPr>
        <p:spPr>
          <a:xfrm>
            <a:off x="1443000" y="2520825"/>
            <a:ext cx="6258000" cy="989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1" lang="es" sz="4000" u="none" cap="none" strike="noStrike">
                <a:solidFill>
                  <a:srgbClr val="000000"/>
                </a:solidFill>
                <a:latin typeface="Anton"/>
                <a:ea typeface="Anton"/>
                <a:cs typeface="Anton"/>
                <a:sym typeface="Anton"/>
              </a:rPr>
              <a:t>CREAR REPOSITORIO EN GITHUB</a:t>
            </a:r>
            <a:endParaRPr b="0" i="1" sz="4000" u="none" cap="none" strike="noStrike">
              <a:solidFill>
                <a:srgbClr val="000000"/>
              </a:solidFill>
              <a:latin typeface="Anton"/>
              <a:ea typeface="Anton"/>
              <a:cs typeface="Anton"/>
              <a:sym typeface="Anton"/>
            </a:endParaRPr>
          </a:p>
        </p:txBody>
      </p:sp>
      <p:sp>
        <p:nvSpPr>
          <p:cNvPr id="340" name="Google Shape;340;p42"/>
          <p:cNvSpPr txBox="1"/>
          <p:nvPr/>
        </p:nvSpPr>
        <p:spPr>
          <a:xfrm>
            <a:off x="938100" y="3509925"/>
            <a:ext cx="7267800" cy="8847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0" i="0" lang="es" sz="2000" u="none" cap="none" strike="noStrike">
                <a:solidFill>
                  <a:schemeClr val="dk1"/>
                </a:solidFill>
                <a:highlight>
                  <a:schemeClr val="lt1"/>
                </a:highlight>
                <a:latin typeface="Helvetica Neue Light"/>
                <a:ea typeface="Helvetica Neue Light"/>
                <a:cs typeface="Helvetica Neue Light"/>
                <a:sym typeface="Helvetica Neue Light"/>
              </a:rPr>
              <a:t>Crea un repositorio en GitHub.</a:t>
            </a:r>
            <a:endParaRPr b="0" i="0" sz="1400" u="none" cap="none" strike="noStrike">
              <a:solidFill>
                <a:schemeClr val="dk1"/>
              </a:solidFill>
              <a:latin typeface="Helvetica Neue Light"/>
              <a:ea typeface="Helvetica Neue Light"/>
              <a:cs typeface="Helvetica Neue Light"/>
              <a:sym typeface="Helvetica Neue Light"/>
            </a:endParaRPr>
          </a:p>
          <a:p>
            <a:pPr indent="0" lvl="0" marL="0" marR="0" rtl="0" algn="ctr">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highlight>
                <a:schemeClr val="lt1"/>
              </a:highlight>
              <a:latin typeface="Helvetica Neue Light"/>
              <a:ea typeface="Helvetica Neue Light"/>
              <a:cs typeface="Helvetica Neue Light"/>
              <a:sym typeface="Helvetica Neue Light"/>
            </a:endParaRPr>
          </a:p>
        </p:txBody>
      </p:sp>
      <p:pic>
        <p:nvPicPr>
          <p:cNvPr id="341" name="Google Shape;341;p42"/>
          <p:cNvPicPr preferRelativeResize="0"/>
          <p:nvPr/>
        </p:nvPicPr>
        <p:blipFill rotWithShape="1">
          <a:blip r:embed="rId3">
            <a:alphaModFix/>
          </a:blip>
          <a:srcRect b="0" l="0" r="0" t="0"/>
          <a:stretch/>
        </p:blipFill>
        <p:spPr>
          <a:xfrm>
            <a:off x="7567925" y="4659625"/>
            <a:ext cx="1186526" cy="330675"/>
          </a:xfrm>
          <a:prstGeom prst="rect">
            <a:avLst/>
          </a:prstGeom>
          <a:noFill/>
          <a:ln>
            <a:noFill/>
          </a:ln>
        </p:spPr>
      </p:pic>
      <p:pic>
        <p:nvPicPr>
          <p:cNvPr id="342" name="Google Shape;342;p42"/>
          <p:cNvPicPr preferRelativeResize="0"/>
          <p:nvPr/>
        </p:nvPicPr>
        <p:blipFill rotWithShape="1">
          <a:blip r:embed="rId4">
            <a:alphaModFix/>
          </a:blip>
          <a:srcRect b="0" l="0" r="0" t="0"/>
          <a:stretch/>
        </p:blipFill>
        <p:spPr>
          <a:xfrm>
            <a:off x="3882275" y="886224"/>
            <a:ext cx="1379450" cy="1379450"/>
          </a:xfrm>
          <a:prstGeom prst="rect">
            <a:avLst/>
          </a:prstGeom>
          <a:noFill/>
          <a:ln>
            <a:noFill/>
          </a:ln>
        </p:spPr>
      </p:pic>
      <p:sp>
        <p:nvSpPr>
          <p:cNvPr id="343" name="Google Shape;343;p42"/>
          <p:cNvSpPr/>
          <p:nvPr/>
        </p:nvSpPr>
        <p:spPr>
          <a:xfrm>
            <a:off x="4879825" y="877350"/>
            <a:ext cx="479400" cy="479400"/>
          </a:xfrm>
          <a:prstGeom prst="ellipse">
            <a:avLst/>
          </a:prstGeom>
          <a:solidFill>
            <a:srgbClr val="22222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s" sz="1000">
                <a:solidFill>
                  <a:srgbClr val="FFFFFF"/>
                </a:solidFill>
                <a:latin typeface="Helvetica Neue"/>
                <a:ea typeface="Helvetica Neue"/>
                <a:cs typeface="Helvetica Neue"/>
                <a:sym typeface="Helvetica Neue"/>
              </a:rPr>
              <a:t>4</a:t>
            </a:r>
            <a:endParaRPr b="1" i="0" sz="10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graphicFrame>
        <p:nvGraphicFramePr>
          <p:cNvPr id="348" name="Google Shape;348;p43"/>
          <p:cNvGraphicFramePr/>
          <p:nvPr/>
        </p:nvGraphicFramePr>
        <p:xfrm>
          <a:off x="153251" y="180800"/>
          <a:ext cx="3000000" cy="3000000"/>
        </p:xfrm>
        <a:graphic>
          <a:graphicData uri="http://schemas.openxmlformats.org/drawingml/2006/table">
            <a:tbl>
              <a:tblPr>
                <a:noFill/>
                <a:tableStyleId>{AD082025-4441-454E-ACCF-624210E57E0B}</a:tableStyleId>
              </a:tblPr>
              <a:tblGrid>
                <a:gridCol w="2945825"/>
                <a:gridCol w="3822275"/>
                <a:gridCol w="2069375"/>
              </a:tblGrid>
              <a:tr h="734725">
                <a:tc gridSpan="3">
                  <a:txBody>
                    <a:bodyPr/>
                    <a:lstStyle/>
                    <a:p>
                      <a:pPr indent="0" lvl="0" marL="0" marR="0" rtl="0" algn="l">
                        <a:lnSpc>
                          <a:spcPct val="100000"/>
                        </a:lnSpc>
                        <a:spcBef>
                          <a:spcPts val="0"/>
                        </a:spcBef>
                        <a:spcAft>
                          <a:spcPts val="0"/>
                        </a:spcAft>
                        <a:buClr>
                          <a:srgbClr val="000000"/>
                        </a:buClr>
                        <a:buSzPts val="2400"/>
                        <a:buFont typeface="Arial"/>
                        <a:buNone/>
                      </a:pPr>
                      <a:r>
                        <a:rPr i="1" lang="es" sz="2400" u="none" cap="none" strike="noStrike">
                          <a:solidFill>
                            <a:schemeClr val="dk1"/>
                          </a:solidFill>
                          <a:latin typeface="Anton"/>
                          <a:ea typeface="Anton"/>
                          <a:cs typeface="Anton"/>
                          <a:sym typeface="Anton"/>
                        </a:rPr>
                        <a:t>CREAR REPOSITORIO EN GITHUB</a:t>
                      </a:r>
                      <a:endParaRPr sz="2400" u="none" cap="none" strike="noStrike"/>
                    </a:p>
                  </a:txBody>
                  <a:tcPr marT="162000"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3DFFBC"/>
                    </a:solidFill>
                  </a:tcPr>
                </a:tc>
                <a:tc hMerge="1"/>
                <a:tc hMerge="1"/>
              </a:tr>
              <a:tr h="825350">
                <a:tc gridSpan="2">
                  <a:txBody>
                    <a:bodyPr/>
                    <a:lstStyle/>
                    <a:p>
                      <a:pPr indent="0" lvl="0" marL="0" marR="0" rtl="0" algn="l">
                        <a:lnSpc>
                          <a:spcPct val="100000"/>
                        </a:lnSpc>
                        <a:spcBef>
                          <a:spcPts val="0"/>
                        </a:spcBef>
                        <a:spcAft>
                          <a:spcPts val="0"/>
                        </a:spcAft>
                        <a:buClr>
                          <a:srgbClr val="000000"/>
                        </a:buClr>
                        <a:buSzPts val="1600"/>
                        <a:buFont typeface="Arial"/>
                        <a:buNone/>
                      </a:pPr>
                      <a:r>
                        <a:rPr b="1" lang="es" sz="1600" u="none" cap="none" strike="noStrike">
                          <a:latin typeface="Helvetica Neue"/>
                          <a:ea typeface="Helvetica Neue"/>
                          <a:cs typeface="Helvetica Neue"/>
                          <a:sym typeface="Helvetica Neue"/>
                        </a:rPr>
                        <a:t>Formato: </a:t>
                      </a:r>
                      <a:r>
                        <a:rPr lang="es" sz="1600" u="none" cap="none" strike="noStrike">
                          <a:latin typeface="Helvetica Neue"/>
                          <a:ea typeface="Helvetica Neue"/>
                          <a:cs typeface="Helvetica Neue"/>
                          <a:sym typeface="Helvetica Neue"/>
                        </a:rPr>
                        <a:t>l</a:t>
                      </a:r>
                      <a:r>
                        <a:rPr lang="es" sz="1600" u="none" cap="none" strike="noStrike">
                          <a:solidFill>
                            <a:schemeClr val="dk1"/>
                          </a:solidFill>
                          <a:latin typeface="Helvetica Neue Light"/>
                          <a:ea typeface="Helvetica Neue Light"/>
                          <a:cs typeface="Helvetica Neue Light"/>
                          <a:sym typeface="Helvetica Neue Light"/>
                        </a:rPr>
                        <a:t>ink al repositorio de GitHub. Debe tener el nombre </a:t>
                      </a:r>
                      <a:r>
                        <a:rPr lang="es" sz="1600" u="none" cap="none" strike="noStrike">
                          <a:solidFill>
                            <a:schemeClr val="dk1"/>
                          </a:solidFill>
                          <a:highlight>
                            <a:srgbClr val="A6FFCA"/>
                          </a:highlight>
                          <a:latin typeface="Helvetica Neue Light"/>
                          <a:ea typeface="Helvetica Neue Light"/>
                          <a:cs typeface="Helvetica Neue Light"/>
                          <a:sym typeface="Helvetica Neue Light"/>
                        </a:rPr>
                        <a:t>“Idea+Apellido”</a:t>
                      </a:r>
                      <a:r>
                        <a:rPr lang="es" sz="1600" u="none" cap="none" strike="noStrike">
                          <a:solidFill>
                            <a:schemeClr val="dk1"/>
                          </a:solidFill>
                          <a:latin typeface="Helvetica Neue Light"/>
                          <a:ea typeface="Helvetica Neue Light"/>
                          <a:cs typeface="Helvetica Neue Light"/>
                          <a:sym typeface="Helvetica Neue Light"/>
                        </a:rPr>
                        <a:t>. </a:t>
                      </a:r>
                      <a:endParaRPr sz="1600" u="none" cap="none" strike="noStrike">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600"/>
                        <a:buFont typeface="Arial"/>
                        <a:buNone/>
                      </a:pPr>
                      <a:r>
                        <a:rPr b="1" lang="es" sz="1600" u="none" cap="none" strike="noStrike">
                          <a:latin typeface="Helvetica Neue"/>
                          <a:ea typeface="Helvetica Neue"/>
                          <a:cs typeface="Helvetica Neue"/>
                          <a:sym typeface="Helvetica Neue"/>
                        </a:rPr>
                        <a:t>Sugerencia: </a:t>
                      </a:r>
                      <a:r>
                        <a:rPr lang="es" sz="1600" u="none" cap="none" strike="noStrike">
                          <a:latin typeface="Helvetica Neue Light"/>
                          <a:ea typeface="Helvetica Neue Light"/>
                          <a:cs typeface="Helvetica Neue Light"/>
                          <a:sym typeface="Helvetica Neue Light"/>
                        </a:rPr>
                        <a:t>utilizar la consola para subir tu repositorio.i</a:t>
                      </a:r>
                      <a:endParaRPr sz="1600" u="none" cap="none" strike="noStrike">
                        <a:latin typeface="Helvetica Neue Light"/>
                        <a:ea typeface="Helvetica Neue Light"/>
                        <a:cs typeface="Helvetica Neue Light"/>
                        <a:sym typeface="Helvetica Neue Light"/>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rgbClr val="000000"/>
                        </a:buClr>
                        <a:buSzPts val="1500"/>
                        <a:buFont typeface="Arial"/>
                        <a:buNone/>
                      </a:pPr>
                      <a:r>
                        <a:t/>
                      </a:r>
                      <a:endParaRPr sz="1500" u="none" cap="none" strike="noStrike">
                        <a:latin typeface="Helvetica Neue"/>
                        <a:ea typeface="Helvetica Neue"/>
                        <a:cs typeface="Helvetica Neue"/>
                        <a:sym typeface="Helvetica Neue"/>
                      </a:endParaRPr>
                    </a:p>
                  </a:txBody>
                  <a:tcPr marT="91425" marB="91425" marR="91425" marL="91425">
                    <a:lnL cap="flat" cmpd="sng" w="9525">
                      <a:solidFill>
                        <a:srgbClr val="000000"/>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r>
              <a:tr h="2411750">
                <a:tc gridSpan="3">
                  <a:txBody>
                    <a:bodyPr/>
                    <a:lstStyle/>
                    <a:p>
                      <a:pPr indent="0" lvl="0" marL="0" marR="0" rtl="0" algn="l">
                        <a:lnSpc>
                          <a:spcPct val="100000"/>
                        </a:lnSpc>
                        <a:spcBef>
                          <a:spcPts val="0"/>
                        </a:spcBef>
                        <a:spcAft>
                          <a:spcPts val="0"/>
                        </a:spcAft>
                        <a:buClr>
                          <a:srgbClr val="000000"/>
                        </a:buClr>
                        <a:buSzPts val="200"/>
                        <a:buFont typeface="Arial"/>
                        <a:buNone/>
                      </a:pPr>
                      <a:br>
                        <a:rPr b="1" lang="es" sz="200" u="none" cap="none" strike="noStrike">
                          <a:solidFill>
                            <a:srgbClr val="4D5156"/>
                          </a:solidFill>
                        </a:rPr>
                      </a:br>
                      <a:r>
                        <a:rPr b="1" lang="es" sz="1700" u="none" cap="none" strike="noStrike"/>
                        <a:t>&gt;&gt;</a:t>
                      </a:r>
                      <a:r>
                        <a:rPr b="1" lang="es" sz="1700" u="none" cap="none" strike="noStrike">
                          <a:solidFill>
                            <a:srgbClr val="4D5156"/>
                          </a:solidFill>
                        </a:rPr>
                        <a:t> </a:t>
                      </a:r>
                      <a:r>
                        <a:rPr b="1" lang="es" sz="1700" u="none" cap="none" strike="noStrike">
                          <a:latin typeface="Helvetica Neue"/>
                          <a:ea typeface="Helvetica Neue"/>
                          <a:cs typeface="Helvetica Neue"/>
                          <a:sym typeface="Helvetica Neue"/>
                        </a:rPr>
                        <a:t>Consigna:</a:t>
                      </a:r>
                      <a:r>
                        <a:rPr lang="es" sz="1700" u="none" cap="none" strike="noStrike">
                          <a:latin typeface="Helvetica Neue Light"/>
                          <a:ea typeface="Helvetica Neue Light"/>
                          <a:cs typeface="Helvetica Neue Light"/>
                          <a:sym typeface="Helvetica Neue Light"/>
                        </a:rPr>
                        <a:t> </a:t>
                      </a:r>
                      <a:r>
                        <a:rPr lang="es" sz="1700">
                          <a:solidFill>
                            <a:schemeClr val="dk1"/>
                          </a:solidFill>
                          <a:latin typeface="Helvetica Neue Light"/>
                          <a:ea typeface="Helvetica Neue Light"/>
                          <a:cs typeface="Helvetica Neue Light"/>
                          <a:sym typeface="Helvetica Neue Light"/>
                        </a:rPr>
                        <a:t>Agregar git a nuestro proyecto. Crear una rama y agregar animaciones, transformaciones y/o gradientes a nuestro proyecto. Mergear este agregado. Luego cargar todo a nuestro repo en github.</a:t>
                      </a:r>
                      <a:endParaRPr sz="1700" u="none" cap="none" strike="noStrike">
                        <a:solidFill>
                          <a:schemeClr val="dk1"/>
                        </a:solidFill>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600"/>
                        <a:buFont typeface="Arial"/>
                        <a:buNone/>
                      </a:pPr>
                      <a:r>
                        <a:t/>
                      </a:r>
                      <a:endParaRPr b="1" sz="16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700"/>
                        <a:buFont typeface="Arial"/>
                        <a:buNone/>
                      </a:pPr>
                      <a:r>
                        <a:rPr b="1" lang="es" sz="1700" u="none" cap="none" strike="noStrike"/>
                        <a:t>&gt;&gt;</a:t>
                      </a:r>
                      <a:r>
                        <a:rPr b="1" lang="es" sz="1600" u="none" cap="none" strike="noStrike">
                          <a:solidFill>
                            <a:schemeClr val="dk1"/>
                          </a:solidFill>
                          <a:latin typeface="Helvetica Neue"/>
                          <a:ea typeface="Helvetica Neue"/>
                          <a:cs typeface="Helvetica Neue"/>
                          <a:sym typeface="Helvetica Neue"/>
                        </a:rPr>
                        <a:t>Aspectos a incluir en el entregable:</a:t>
                      </a:r>
                      <a:endParaRPr b="1" sz="1600" u="none" cap="none" strike="noStrike">
                        <a:solidFill>
                          <a:schemeClr val="dk1"/>
                        </a:solidFill>
                        <a:latin typeface="Helvetica Neue"/>
                        <a:ea typeface="Helvetica Neue"/>
                        <a:cs typeface="Helvetica Neue"/>
                        <a:sym typeface="Helvetica Neue"/>
                      </a:endParaRPr>
                    </a:p>
                    <a:p>
                      <a:pPr indent="-330200" lvl="0" marL="457200" marR="0" rtl="0" algn="l">
                        <a:lnSpc>
                          <a:spcPct val="100000"/>
                        </a:lnSpc>
                        <a:spcBef>
                          <a:spcPts val="0"/>
                        </a:spcBef>
                        <a:spcAft>
                          <a:spcPts val="0"/>
                        </a:spcAft>
                        <a:buClr>
                          <a:schemeClr val="dk1"/>
                        </a:buClr>
                        <a:buSzPts val="1600"/>
                        <a:buFont typeface="Helvetica Neue Light"/>
                        <a:buChar char="-"/>
                      </a:pPr>
                      <a:r>
                        <a:rPr lang="es" sz="1600">
                          <a:solidFill>
                            <a:schemeClr val="dk1"/>
                          </a:solidFill>
                          <a:latin typeface="Helvetica Neue Light"/>
                          <a:ea typeface="Helvetica Neue Light"/>
                          <a:cs typeface="Helvetica Neue Light"/>
                          <a:sym typeface="Helvetica Neue Light"/>
                        </a:rPr>
                        <a:t>Agregar a tu proyecto animaciones, transiciones y/o transformaciones en una rama creada a partir del master.</a:t>
                      </a:r>
                      <a:endParaRPr sz="1600">
                        <a:solidFill>
                          <a:schemeClr val="dk1"/>
                        </a:solidFill>
                        <a:latin typeface="Helvetica Neue Light"/>
                        <a:ea typeface="Helvetica Neue Light"/>
                        <a:cs typeface="Helvetica Neue Light"/>
                        <a:sym typeface="Helvetica Neue Light"/>
                      </a:endParaRPr>
                    </a:p>
                    <a:p>
                      <a:pPr indent="-330200" lvl="0" marL="457200" marR="0" rtl="0" algn="l">
                        <a:lnSpc>
                          <a:spcPct val="100000"/>
                        </a:lnSpc>
                        <a:spcBef>
                          <a:spcPts val="0"/>
                        </a:spcBef>
                        <a:spcAft>
                          <a:spcPts val="0"/>
                        </a:spcAft>
                        <a:buClr>
                          <a:schemeClr val="dk1"/>
                        </a:buClr>
                        <a:buSzPts val="1600"/>
                        <a:buFont typeface="Helvetica Neue Light"/>
                        <a:buChar char="-"/>
                      </a:pPr>
                      <a:r>
                        <a:rPr lang="es" sz="1600">
                          <a:solidFill>
                            <a:schemeClr val="dk1"/>
                          </a:solidFill>
                          <a:latin typeface="Helvetica Neue Light"/>
                          <a:ea typeface="Helvetica Neue Light"/>
                          <a:cs typeface="Helvetica Neue Light"/>
                          <a:sym typeface="Helvetica Neue Light"/>
                        </a:rPr>
                        <a:t>Mergear esta rama al master y luego, subir todo a github.</a:t>
                      </a:r>
                      <a:endParaRPr sz="1600">
                        <a:solidFill>
                          <a:schemeClr val="dk1"/>
                        </a:solidFill>
                        <a:latin typeface="Helvetica Neue Light"/>
                        <a:ea typeface="Helvetica Neue Light"/>
                        <a:cs typeface="Helvetica Neue Light"/>
                        <a:sym typeface="Helvetica Neue Light"/>
                      </a:endParaRPr>
                    </a:p>
                    <a:p>
                      <a:pPr indent="-330200" lvl="0" marL="457200" marR="0" rtl="0" algn="l">
                        <a:lnSpc>
                          <a:spcPct val="100000"/>
                        </a:lnSpc>
                        <a:spcBef>
                          <a:spcPts val="0"/>
                        </a:spcBef>
                        <a:spcAft>
                          <a:spcPts val="0"/>
                        </a:spcAft>
                        <a:buClr>
                          <a:schemeClr val="dk1"/>
                        </a:buClr>
                        <a:buSzPts val="1600"/>
                        <a:buFont typeface="Helvetica Neue Light"/>
                        <a:buChar char="-"/>
                      </a:pPr>
                      <a:r>
                        <a:rPr lang="es" sz="1600" u="none" cap="none" strike="noStrike">
                          <a:solidFill>
                            <a:schemeClr val="dk1"/>
                          </a:solidFill>
                          <a:latin typeface="Helvetica Neue Light"/>
                          <a:ea typeface="Helvetica Neue Light"/>
                          <a:cs typeface="Helvetica Neue Light"/>
                          <a:sym typeface="Helvetica Neue Light"/>
                        </a:rPr>
                        <a:t>De ahora en más, continuarás el trabajo en el repositorio del proyecto directamente en GitHub, y utilizarás el Public URL para la presentación del mismo.</a:t>
                      </a:r>
                      <a:endParaRPr sz="1600" u="none" cap="none" strike="noStrike">
                        <a:solidFill>
                          <a:schemeClr val="dk1"/>
                        </a:solidFill>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chemeClr val="dk1"/>
                        </a:buClr>
                        <a:buSzPts val="1100"/>
                        <a:buFont typeface="Arial"/>
                        <a:buNone/>
                      </a:pPr>
                      <a:r>
                        <a:rPr b="1" lang="es" sz="1700" u="none" cap="none" strike="noStrike"/>
                        <a:t>&gt;&gt;Ejemplo:</a:t>
                      </a:r>
                      <a:endParaRPr b="1" sz="1700" u="none" cap="none" strike="noStrike"/>
                    </a:p>
                    <a:p>
                      <a:pPr indent="0" lvl="0" marL="0" marR="0" rtl="0" algn="l">
                        <a:lnSpc>
                          <a:spcPct val="100000"/>
                        </a:lnSpc>
                        <a:spcBef>
                          <a:spcPts val="0"/>
                        </a:spcBef>
                        <a:spcAft>
                          <a:spcPts val="0"/>
                        </a:spcAft>
                        <a:buClr>
                          <a:schemeClr val="dk1"/>
                        </a:buClr>
                        <a:buSzPts val="1100"/>
                        <a:buFont typeface="Arial"/>
                        <a:buNone/>
                      </a:pPr>
                      <a:r>
                        <a:rPr lang="es" sz="1600" u="sng" cap="none" strike="noStrike">
                          <a:solidFill>
                            <a:srgbClr val="1155CC"/>
                          </a:solidFill>
                          <a:latin typeface="Helvetica Neue Light"/>
                          <a:ea typeface="Helvetica Neue Light"/>
                          <a:cs typeface="Helvetica Neue Light"/>
                          <a:sym typeface="Helvetica Neue Light"/>
                          <a:hlinkClick r:id="rId3">
                            <a:extLst>
                              <a:ext uri="{A12FA001-AC4F-418D-AE19-62706E023703}">
                                <ahyp:hlinkClr val="tx"/>
                              </a:ext>
                            </a:extLst>
                          </a:hlinkClick>
                        </a:rPr>
                        <a:t>Link al repositorio</a:t>
                      </a:r>
                      <a:endParaRPr b="1" sz="16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r>
            </a:tbl>
          </a:graphicData>
        </a:graphic>
      </p:graphicFrame>
      <p:pic>
        <p:nvPicPr>
          <p:cNvPr id="349" name="Google Shape;349;p43"/>
          <p:cNvPicPr preferRelativeResize="0"/>
          <p:nvPr/>
        </p:nvPicPr>
        <p:blipFill rotWithShape="1">
          <a:blip r:embed="rId4">
            <a:alphaModFix/>
          </a:blip>
          <a:srcRect b="0" l="0" r="0" t="0"/>
          <a:stretch/>
        </p:blipFill>
        <p:spPr>
          <a:xfrm>
            <a:off x="7567925" y="4659625"/>
            <a:ext cx="1186526" cy="330675"/>
          </a:xfrm>
          <a:prstGeom prst="rect">
            <a:avLst/>
          </a:prstGeom>
          <a:noFill/>
          <a:ln>
            <a:noFill/>
          </a:ln>
        </p:spPr>
      </p:pic>
      <p:pic>
        <p:nvPicPr>
          <p:cNvPr id="350" name="Google Shape;350;p43"/>
          <p:cNvPicPr preferRelativeResize="0"/>
          <p:nvPr/>
        </p:nvPicPr>
        <p:blipFill rotWithShape="1">
          <a:blip r:embed="rId5">
            <a:alphaModFix/>
          </a:blip>
          <a:srcRect b="0" l="0" r="0" t="0"/>
          <a:stretch/>
        </p:blipFill>
        <p:spPr>
          <a:xfrm>
            <a:off x="7082025" y="1023950"/>
            <a:ext cx="1672425" cy="65146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0FF00"/>
            </a:gs>
            <a:gs pos="100000">
              <a:srgbClr val="3CEFAB"/>
            </a:gs>
          </a:gsLst>
          <a:lin ang="10800025" scaled="0"/>
        </a:gradFill>
      </p:bgPr>
    </p:bg>
    <p:spTree>
      <p:nvGrpSpPr>
        <p:cNvPr id="354" name="Shape 354"/>
        <p:cNvGrpSpPr/>
        <p:nvPr/>
      </p:nvGrpSpPr>
      <p:grpSpPr>
        <a:xfrm>
          <a:off x="0" y="0"/>
          <a:ext cx="0" cy="0"/>
          <a:chOff x="0" y="0"/>
          <a:chExt cx="0" cy="0"/>
        </a:xfrm>
      </p:grpSpPr>
      <p:sp>
        <p:nvSpPr>
          <p:cNvPr id="355" name="Google Shape;355;p44"/>
          <p:cNvSpPr txBox="1"/>
          <p:nvPr/>
        </p:nvSpPr>
        <p:spPr>
          <a:xfrm>
            <a:off x="959875" y="2610600"/>
            <a:ext cx="7224300" cy="989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0" i="1" lang="es" sz="3600" u="none" cap="none" strike="noStrike">
                <a:solidFill>
                  <a:srgbClr val="000000"/>
                </a:solidFill>
                <a:latin typeface="Anton"/>
                <a:ea typeface="Anton"/>
                <a:cs typeface="Anton"/>
                <a:sym typeface="Anton"/>
              </a:rPr>
              <a:t>¿QUIERES SABER MÁS? TE DEJAMOS MATERIAL AMPLIADO DE LA CLASE</a:t>
            </a:r>
            <a:endParaRPr b="0" i="1" sz="3600" u="none" cap="none" strike="noStrike">
              <a:solidFill>
                <a:srgbClr val="000000"/>
              </a:solidFill>
              <a:latin typeface="Anton"/>
              <a:ea typeface="Anton"/>
              <a:cs typeface="Anton"/>
              <a:sym typeface="Anton"/>
            </a:endParaRPr>
          </a:p>
        </p:txBody>
      </p:sp>
      <p:pic>
        <p:nvPicPr>
          <p:cNvPr id="356" name="Google Shape;356;p44"/>
          <p:cNvPicPr preferRelativeResize="0"/>
          <p:nvPr/>
        </p:nvPicPr>
        <p:blipFill rotWithShape="1">
          <a:blip r:embed="rId3">
            <a:alphaModFix/>
          </a:blip>
          <a:srcRect b="0" l="0" r="0" t="0"/>
          <a:stretch/>
        </p:blipFill>
        <p:spPr>
          <a:xfrm>
            <a:off x="3978713" y="1025775"/>
            <a:ext cx="1186525" cy="1186525"/>
          </a:xfrm>
          <a:prstGeom prst="rect">
            <a:avLst/>
          </a:prstGeom>
          <a:noFill/>
          <a:ln>
            <a:noFill/>
          </a:ln>
        </p:spPr>
      </p:pic>
      <p:pic>
        <p:nvPicPr>
          <p:cNvPr id="357" name="Google Shape;357;p44"/>
          <p:cNvPicPr preferRelativeResize="0"/>
          <p:nvPr/>
        </p:nvPicPr>
        <p:blipFill rotWithShape="1">
          <a:blip r:embed="rId4">
            <a:alphaModFix/>
          </a:blip>
          <a:srcRect b="0" l="0" r="0" t="0"/>
          <a:stretch/>
        </p:blipFill>
        <p:spPr>
          <a:xfrm>
            <a:off x="7567925" y="4659625"/>
            <a:ext cx="1186526" cy="3306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5"/>
          <p:cNvSpPr txBox="1"/>
          <p:nvPr/>
        </p:nvSpPr>
        <p:spPr>
          <a:xfrm>
            <a:off x="2854525" y="1734438"/>
            <a:ext cx="5711400" cy="1674600"/>
          </a:xfrm>
          <a:prstGeom prst="rect">
            <a:avLst/>
          </a:prstGeom>
          <a:noFill/>
          <a:ln>
            <a:noFill/>
          </a:ln>
        </p:spPr>
        <p:txBody>
          <a:bodyPr anchorCtr="0" anchor="ctr" bIns="91425" lIns="91425" spcFirstLastPara="1" rIns="91425" wrap="square" tIns="91425">
            <a:noAutofit/>
          </a:bodyPr>
          <a:lstStyle/>
          <a:p>
            <a:pPr indent="-342900" lvl="0" marL="457200" marR="0" rtl="0" algn="l">
              <a:lnSpc>
                <a:spcPct val="115000"/>
              </a:lnSpc>
              <a:spcBef>
                <a:spcPts val="0"/>
              </a:spcBef>
              <a:spcAft>
                <a:spcPts val="0"/>
              </a:spcAft>
              <a:buClr>
                <a:srgbClr val="3CEFAB"/>
              </a:buClr>
              <a:buSzPts val="1800"/>
              <a:buFont typeface="Arial"/>
              <a:buChar char="●"/>
            </a:pPr>
            <a:r>
              <a:rPr b="0" i="0" lang="es" sz="1800" u="sng" cap="none" strike="noStrike">
                <a:solidFill>
                  <a:schemeClr val="accent1"/>
                </a:solidFill>
                <a:latin typeface="Helvetica Neue Light"/>
                <a:ea typeface="Helvetica Neue Light"/>
                <a:cs typeface="Helvetica Neue Light"/>
                <a:sym typeface="Helvetica Neue Light"/>
                <a:hlinkClick r:id="rId3">
                  <a:extLst>
                    <a:ext uri="{A12FA001-AC4F-418D-AE19-62706E023703}">
                      <ahyp:hlinkClr val="tx"/>
                    </a:ext>
                  </a:extLst>
                </a:hlinkClick>
              </a:rPr>
              <a:t>Git &amp; Github</a:t>
            </a:r>
            <a:r>
              <a:rPr b="0" i="0" lang="es" sz="1800" u="none" cap="none" strike="noStrike">
                <a:solidFill>
                  <a:schemeClr val="dk1"/>
                </a:solidFill>
                <a:latin typeface="Helvetica Neue Light"/>
                <a:ea typeface="Helvetica Neue Light"/>
                <a:cs typeface="Helvetica Neue Light"/>
                <a:sym typeface="Helvetica Neue Light"/>
              </a:rPr>
              <a:t> | </a:t>
            </a:r>
            <a:r>
              <a:rPr b="1" i="1" lang="es" sz="1800" u="none" cap="none" strike="noStrike">
                <a:solidFill>
                  <a:schemeClr val="dk1"/>
                </a:solidFill>
                <a:latin typeface="Helvetica Neue"/>
                <a:ea typeface="Helvetica Neue"/>
                <a:cs typeface="Helvetica Neue"/>
                <a:sym typeface="Helvetica Neue"/>
              </a:rPr>
              <a:t>TE LO EXPLICO CON GATITOS</a:t>
            </a:r>
            <a:endParaRPr b="0" i="0" sz="1800" u="none" cap="none" strike="noStrike">
              <a:solidFill>
                <a:schemeClr val="dk1"/>
              </a:solidFill>
              <a:latin typeface="Helvetica Neue Light"/>
              <a:ea typeface="Helvetica Neue Light"/>
              <a:cs typeface="Helvetica Neue Light"/>
              <a:sym typeface="Helvetica Neue Light"/>
            </a:endParaRPr>
          </a:p>
          <a:p>
            <a:pPr indent="-342900" lvl="0" marL="457200" marR="0" rtl="0" algn="l">
              <a:lnSpc>
                <a:spcPct val="115000"/>
              </a:lnSpc>
              <a:spcBef>
                <a:spcPts val="1000"/>
              </a:spcBef>
              <a:spcAft>
                <a:spcPts val="0"/>
              </a:spcAft>
              <a:buClr>
                <a:srgbClr val="3CEFAB"/>
              </a:buClr>
              <a:buSzPts val="1800"/>
              <a:buFont typeface="Arial"/>
              <a:buChar char="●"/>
            </a:pPr>
            <a:r>
              <a:rPr b="0" i="0" lang="es" sz="1800" u="sng" cap="none" strike="noStrike">
                <a:solidFill>
                  <a:schemeClr val="accent1"/>
                </a:solidFill>
                <a:latin typeface="Helvetica Neue Light"/>
                <a:ea typeface="Helvetica Neue Light"/>
                <a:cs typeface="Helvetica Neue Light"/>
                <a:sym typeface="Helvetica Neue Light"/>
                <a:hlinkClick r:id="rId4">
                  <a:extLst>
                    <a:ext uri="{A12FA001-AC4F-418D-AE19-62706E023703}">
                      <ahyp:hlinkClr val="tx"/>
                    </a:ext>
                  </a:extLst>
                </a:hlinkClick>
              </a:rPr>
              <a:t>Páginas de Github</a:t>
            </a:r>
            <a:r>
              <a:rPr b="0" i="0" lang="es" sz="1800" u="none" cap="none" strike="noStrike">
                <a:solidFill>
                  <a:schemeClr val="dk1"/>
                </a:solidFill>
                <a:latin typeface="Helvetica Neue Light"/>
                <a:ea typeface="Helvetica Neue Light"/>
                <a:cs typeface="Helvetica Neue Light"/>
                <a:sym typeface="Helvetica Neue Light"/>
              </a:rPr>
              <a:t> | </a:t>
            </a:r>
            <a:r>
              <a:rPr b="1" i="1" lang="es" sz="1800" u="none" cap="none" strike="noStrike">
                <a:solidFill>
                  <a:schemeClr val="dk1"/>
                </a:solidFill>
                <a:latin typeface="Helvetica Neue"/>
                <a:ea typeface="Helvetica Neue"/>
                <a:cs typeface="Helvetica Neue"/>
                <a:sym typeface="Helvetica Neue"/>
              </a:rPr>
              <a:t>GitHub Pages</a:t>
            </a:r>
            <a:endParaRPr b="0" i="0" sz="1800" u="none" cap="none" strike="noStrike">
              <a:solidFill>
                <a:schemeClr val="dk1"/>
              </a:solidFill>
              <a:latin typeface="Helvetica Neue Light"/>
              <a:ea typeface="Helvetica Neue Light"/>
              <a:cs typeface="Helvetica Neue Light"/>
              <a:sym typeface="Helvetica Neue Light"/>
            </a:endParaRPr>
          </a:p>
          <a:p>
            <a:pPr indent="0" lvl="0" marL="0" marR="0" rtl="0" algn="l">
              <a:lnSpc>
                <a:spcPct val="115000"/>
              </a:lnSpc>
              <a:spcBef>
                <a:spcPts val="1000"/>
              </a:spcBef>
              <a:spcAft>
                <a:spcPts val="0"/>
              </a:spcAft>
              <a:buClr>
                <a:srgbClr val="000000"/>
              </a:buClr>
              <a:buSzPts val="1100"/>
              <a:buFont typeface="Arial"/>
              <a:buNone/>
            </a:pPr>
            <a:r>
              <a:t/>
            </a:r>
            <a:endParaRPr b="0" i="0" sz="1800" u="none" cap="none" strike="noStrike">
              <a:solidFill>
                <a:schemeClr val="dk1"/>
              </a:solidFill>
              <a:latin typeface="Helvetica Neue Light"/>
              <a:ea typeface="Helvetica Neue Light"/>
              <a:cs typeface="Helvetica Neue Light"/>
              <a:sym typeface="Helvetica Neue Light"/>
            </a:endParaRPr>
          </a:p>
        </p:txBody>
      </p:sp>
      <p:pic>
        <p:nvPicPr>
          <p:cNvPr id="363" name="Google Shape;363;p45"/>
          <p:cNvPicPr preferRelativeResize="0"/>
          <p:nvPr/>
        </p:nvPicPr>
        <p:blipFill rotWithShape="1">
          <a:blip r:embed="rId5">
            <a:alphaModFix/>
          </a:blip>
          <a:srcRect b="0" l="0" r="0" t="0"/>
          <a:stretch/>
        </p:blipFill>
        <p:spPr>
          <a:xfrm>
            <a:off x="7567925" y="4659625"/>
            <a:ext cx="1186526" cy="330675"/>
          </a:xfrm>
          <a:prstGeom prst="rect">
            <a:avLst/>
          </a:prstGeom>
          <a:noFill/>
          <a:ln>
            <a:noFill/>
          </a:ln>
        </p:spPr>
      </p:pic>
      <p:pic>
        <p:nvPicPr>
          <p:cNvPr id="364" name="Google Shape;364;p45"/>
          <p:cNvPicPr preferRelativeResize="0"/>
          <p:nvPr/>
        </p:nvPicPr>
        <p:blipFill rotWithShape="1">
          <a:blip r:embed="rId6">
            <a:alphaModFix/>
          </a:blip>
          <a:srcRect b="0" l="0" r="0" t="0"/>
          <a:stretch/>
        </p:blipFill>
        <p:spPr>
          <a:xfrm>
            <a:off x="7411525" y="127700"/>
            <a:ext cx="1634174" cy="639850"/>
          </a:xfrm>
          <a:prstGeom prst="rect">
            <a:avLst/>
          </a:prstGeom>
          <a:noFill/>
          <a:ln>
            <a:noFill/>
          </a:ln>
        </p:spPr>
      </p:pic>
      <p:sp>
        <p:nvSpPr>
          <p:cNvPr id="365" name="Google Shape;365;p45"/>
          <p:cNvSpPr/>
          <p:nvPr/>
        </p:nvSpPr>
        <p:spPr>
          <a:xfrm>
            <a:off x="1568825" y="1734450"/>
            <a:ext cx="1070700" cy="1070700"/>
          </a:xfrm>
          <a:prstGeom prst="ellipse">
            <a:avLst/>
          </a:prstGeom>
          <a:solidFill>
            <a:srgbClr val="3CEF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6" name="Google Shape;366;p45"/>
          <p:cNvPicPr preferRelativeResize="0"/>
          <p:nvPr/>
        </p:nvPicPr>
        <p:blipFill rotWithShape="1">
          <a:blip r:embed="rId7">
            <a:alphaModFix/>
          </a:blip>
          <a:srcRect b="0" l="0" r="0" t="0"/>
          <a:stretch/>
        </p:blipFill>
        <p:spPr>
          <a:xfrm>
            <a:off x="1831534" y="1997140"/>
            <a:ext cx="545131" cy="54513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0" name="Shape 370"/>
        <p:cNvGrpSpPr/>
        <p:nvPr/>
      </p:nvGrpSpPr>
      <p:grpSpPr>
        <a:xfrm>
          <a:off x="0" y="0"/>
          <a:ext cx="0" cy="0"/>
          <a:chOff x="0" y="0"/>
          <a:chExt cx="0" cy="0"/>
        </a:xfrm>
      </p:grpSpPr>
      <p:sp>
        <p:nvSpPr>
          <p:cNvPr id="371" name="Google Shape;371;p46"/>
          <p:cNvSpPr txBox="1"/>
          <p:nvPr/>
        </p:nvSpPr>
        <p:spPr>
          <a:xfrm>
            <a:off x="2776738" y="1880500"/>
            <a:ext cx="2804700" cy="112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1" lang="es" sz="4000" u="none" cap="none" strike="noStrike">
                <a:solidFill>
                  <a:srgbClr val="E0FF00"/>
                </a:solidFill>
                <a:latin typeface="Anton"/>
                <a:ea typeface="Anton"/>
                <a:cs typeface="Anton"/>
                <a:sym typeface="Anton"/>
              </a:rPr>
              <a:t>¿PREGUNTAS?</a:t>
            </a:r>
            <a:endParaRPr b="0" i="1" sz="4000" u="none" cap="none" strike="noStrike">
              <a:solidFill>
                <a:srgbClr val="E0FF00"/>
              </a:solidFill>
              <a:latin typeface="Anton"/>
              <a:ea typeface="Anton"/>
              <a:cs typeface="Anton"/>
              <a:sym typeface="Anton"/>
            </a:endParaRPr>
          </a:p>
        </p:txBody>
      </p:sp>
      <p:pic>
        <p:nvPicPr>
          <p:cNvPr descr="Tiger Face on Apple iOS 12.2" id="372" name="Google Shape;372;p46"/>
          <p:cNvPicPr preferRelativeResize="0"/>
          <p:nvPr/>
        </p:nvPicPr>
        <p:blipFill rotWithShape="1">
          <a:blip r:embed="rId4">
            <a:alphaModFix/>
          </a:blip>
          <a:srcRect b="0" l="0" r="0" t="0"/>
          <a:stretch/>
        </p:blipFill>
        <p:spPr>
          <a:xfrm>
            <a:off x="5655188" y="2089063"/>
            <a:ext cx="712075" cy="7120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6" name="Shape 376"/>
        <p:cNvGrpSpPr/>
        <p:nvPr/>
      </p:nvGrpSpPr>
      <p:grpSpPr>
        <a:xfrm>
          <a:off x="0" y="0"/>
          <a:ext cx="0" cy="0"/>
          <a:chOff x="0" y="0"/>
          <a:chExt cx="0" cy="0"/>
        </a:xfrm>
      </p:grpSpPr>
      <p:sp>
        <p:nvSpPr>
          <p:cNvPr id="377" name="Google Shape;377;p47"/>
          <p:cNvSpPr txBox="1"/>
          <p:nvPr/>
        </p:nvSpPr>
        <p:spPr>
          <a:xfrm>
            <a:off x="1956450" y="973825"/>
            <a:ext cx="5231100" cy="989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1" lang="es" sz="4800" u="none" cap="none" strike="noStrike">
                <a:solidFill>
                  <a:srgbClr val="E0FF00"/>
                </a:solidFill>
                <a:latin typeface="Anton"/>
                <a:ea typeface="Anton"/>
                <a:cs typeface="Anton"/>
                <a:sym typeface="Anton"/>
              </a:rPr>
              <a:t>¡MUCHAS GRACIAS!</a:t>
            </a:r>
            <a:endParaRPr b="0" i="1" sz="4800" u="none" cap="none" strike="noStrike">
              <a:solidFill>
                <a:srgbClr val="E0FF00"/>
              </a:solidFill>
              <a:latin typeface="Anton"/>
              <a:ea typeface="Anton"/>
              <a:cs typeface="Anton"/>
              <a:sym typeface="Anton"/>
            </a:endParaRPr>
          </a:p>
        </p:txBody>
      </p:sp>
      <p:sp>
        <p:nvSpPr>
          <p:cNvPr id="378" name="Google Shape;378;p47"/>
          <p:cNvSpPr txBox="1"/>
          <p:nvPr/>
        </p:nvSpPr>
        <p:spPr>
          <a:xfrm>
            <a:off x="1885350" y="1962925"/>
            <a:ext cx="5373300" cy="4080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200"/>
              <a:buFont typeface="Arial"/>
              <a:buNone/>
            </a:pPr>
            <a:r>
              <a:rPr b="0" i="0" lang="es" sz="2200" u="none" cap="none" strike="noStrike">
                <a:solidFill>
                  <a:srgbClr val="E0FF00"/>
                </a:solidFill>
                <a:latin typeface="Helvetica Neue Light"/>
                <a:ea typeface="Helvetica Neue Light"/>
                <a:cs typeface="Helvetica Neue Light"/>
                <a:sym typeface="Helvetica Neue Light"/>
              </a:rPr>
              <a:t>Resumen de lo visto en clase hoy: </a:t>
            </a:r>
            <a:endParaRPr b="0" i="0" sz="2200" u="none" cap="none" strike="noStrike">
              <a:solidFill>
                <a:srgbClr val="E0FF00"/>
              </a:solidFill>
              <a:latin typeface="Helvetica Neue Light"/>
              <a:ea typeface="Helvetica Neue Light"/>
              <a:cs typeface="Helvetica Neue Light"/>
              <a:sym typeface="Helvetica Neue Light"/>
            </a:endParaRPr>
          </a:p>
          <a:p>
            <a:pPr indent="-368300" lvl="0" marL="457200" marR="0" rtl="0" algn="ctr">
              <a:lnSpc>
                <a:spcPct val="115000"/>
              </a:lnSpc>
              <a:spcBef>
                <a:spcPts val="0"/>
              </a:spcBef>
              <a:spcAft>
                <a:spcPts val="0"/>
              </a:spcAft>
              <a:buClr>
                <a:srgbClr val="E0FF00"/>
              </a:buClr>
              <a:buSzPts val="2200"/>
              <a:buFont typeface="Helvetica Neue Light"/>
              <a:buChar char="-"/>
            </a:pPr>
            <a:r>
              <a:rPr b="0" i="0" lang="es" sz="2200" u="none" cap="none" strike="noStrike">
                <a:solidFill>
                  <a:srgbClr val="E0FF00"/>
                </a:solidFill>
                <a:latin typeface="Helvetica Neue Light"/>
                <a:ea typeface="Helvetica Neue Light"/>
                <a:cs typeface="Helvetica Neue Light"/>
                <a:sym typeface="Helvetica Neue Light"/>
              </a:rPr>
              <a:t>Repositorio en Github . </a:t>
            </a:r>
            <a:endParaRPr b="0" i="0" sz="2200" u="none" cap="none" strike="noStrike">
              <a:solidFill>
                <a:srgbClr val="E0FF00"/>
              </a:solidFill>
              <a:latin typeface="Helvetica Neue Light"/>
              <a:ea typeface="Helvetica Neue Light"/>
              <a:cs typeface="Helvetica Neue Light"/>
              <a:sym typeface="Helvetica Neue Light"/>
            </a:endParaRPr>
          </a:p>
          <a:p>
            <a:pPr indent="-368300" lvl="0" marL="457200" marR="0" rtl="0" algn="ctr">
              <a:lnSpc>
                <a:spcPct val="115000"/>
              </a:lnSpc>
              <a:spcBef>
                <a:spcPts val="0"/>
              </a:spcBef>
              <a:spcAft>
                <a:spcPts val="0"/>
              </a:spcAft>
              <a:buClr>
                <a:srgbClr val="E0FF00"/>
              </a:buClr>
              <a:buSzPts val="2200"/>
              <a:buFont typeface="Helvetica Neue Light"/>
              <a:buChar char="-"/>
            </a:pPr>
            <a:r>
              <a:rPr b="0" i="0" lang="es" sz="2200" u="none" cap="none" strike="noStrike">
                <a:solidFill>
                  <a:srgbClr val="E0FF00"/>
                </a:solidFill>
                <a:latin typeface="Helvetica Neue Light"/>
                <a:ea typeface="Helvetica Neue Light"/>
                <a:cs typeface="Helvetica Neue Light"/>
                <a:sym typeface="Helvetica Neue Light"/>
              </a:rPr>
              <a:t>Creación de un repositorio para el proyecto.</a:t>
            </a:r>
            <a:endParaRPr b="0" i="0" sz="2200" u="none" cap="none" strike="noStrike">
              <a:solidFill>
                <a:srgbClr val="E0FF00"/>
              </a:solidFill>
              <a:latin typeface="Helvetica Neue Light"/>
              <a:ea typeface="Helvetica Neue Light"/>
              <a:cs typeface="Helvetica Neue Light"/>
              <a:sym typeface="Helvetica Neue Light"/>
            </a:endParaRPr>
          </a:p>
          <a:p>
            <a:pPr indent="-368300" lvl="0" marL="457200" marR="0" rtl="0" algn="ctr">
              <a:lnSpc>
                <a:spcPct val="115000"/>
              </a:lnSpc>
              <a:spcBef>
                <a:spcPts val="0"/>
              </a:spcBef>
              <a:spcAft>
                <a:spcPts val="0"/>
              </a:spcAft>
              <a:buClr>
                <a:srgbClr val="E0FF00"/>
              </a:buClr>
              <a:buSzPts val="2200"/>
              <a:buFont typeface="Helvetica Neue Light"/>
              <a:buChar char="-"/>
            </a:pPr>
            <a:r>
              <a:rPr b="0" i="0" lang="es" sz="2200" u="none" cap="none" strike="noStrike">
                <a:solidFill>
                  <a:srgbClr val="E0FF00"/>
                </a:solidFill>
                <a:latin typeface="Helvetica Neue Light"/>
                <a:ea typeface="Helvetica Neue Light"/>
                <a:cs typeface="Helvetica Neue Light"/>
                <a:sym typeface="Helvetica Neue Light"/>
              </a:rPr>
              <a:t>Cómo subir el proyecto al repositorio usando los comandos de Git.</a:t>
            </a:r>
            <a:endParaRPr b="0" i="0" sz="2200" u="none" cap="none" strike="noStrike">
              <a:solidFill>
                <a:srgbClr val="E0FF00"/>
              </a:solidFill>
              <a:latin typeface="Helvetica Neue Light"/>
              <a:ea typeface="Helvetica Neue Light"/>
              <a:cs typeface="Helvetica Neue Light"/>
              <a:sym typeface="Helvetica Neue 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2" name="Shape 382"/>
        <p:cNvGrpSpPr/>
        <p:nvPr/>
      </p:nvGrpSpPr>
      <p:grpSpPr>
        <a:xfrm>
          <a:off x="0" y="0"/>
          <a:ext cx="0" cy="0"/>
          <a:chOff x="0" y="0"/>
          <a:chExt cx="0" cy="0"/>
        </a:xfrm>
      </p:grpSpPr>
      <p:sp>
        <p:nvSpPr>
          <p:cNvPr id="383" name="Google Shape;383;p48"/>
          <p:cNvSpPr txBox="1"/>
          <p:nvPr/>
        </p:nvSpPr>
        <p:spPr>
          <a:xfrm>
            <a:off x="2110051" y="2409500"/>
            <a:ext cx="4923900" cy="1129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0" i="1" lang="es" sz="3600" u="none" cap="none" strike="noStrike">
                <a:solidFill>
                  <a:srgbClr val="E0FF00"/>
                </a:solidFill>
                <a:latin typeface="Anton"/>
                <a:ea typeface="Anton"/>
                <a:cs typeface="Anton"/>
                <a:sym typeface="Anton"/>
              </a:rPr>
              <a:t>OPINA Y VALORA ESTA CLASE</a:t>
            </a:r>
            <a:endParaRPr b="0" i="1" sz="3600" u="none" cap="none" strike="noStrike">
              <a:solidFill>
                <a:srgbClr val="E0FF00"/>
              </a:solidFill>
              <a:latin typeface="Anton"/>
              <a:ea typeface="Anton"/>
              <a:cs typeface="Anton"/>
              <a:sym typeface="Anton"/>
            </a:endParaRPr>
          </a:p>
        </p:txBody>
      </p:sp>
      <p:pic>
        <p:nvPicPr>
          <p:cNvPr descr="Dizzy on Apple iOS 12.2" id="384" name="Google Shape;384;p48"/>
          <p:cNvPicPr preferRelativeResize="0"/>
          <p:nvPr/>
        </p:nvPicPr>
        <p:blipFill rotWithShape="1">
          <a:blip r:embed="rId4">
            <a:alphaModFix/>
          </a:blip>
          <a:srcRect b="0" l="0" r="0" t="0"/>
          <a:stretch/>
        </p:blipFill>
        <p:spPr>
          <a:xfrm>
            <a:off x="4168425" y="1602350"/>
            <a:ext cx="807150" cy="807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